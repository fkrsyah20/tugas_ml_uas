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Visualisasi Hasil Cluster (ilustrasi)</a:t>
            </a:r>
          </a:p>
        </c:rich>
      </c:tx>
      <c:layout/>
      <c:overlay val="0"/>
    </c:title>
    <c:autoTitleDeleted val="0"/>
    <c:plotArea>
      <c:layout/>
      <c:scatterChart>
        <c:scatterStyle val="lineMarker"/>
        <c:varyColors val="0"/>
        <c:ser>
          <c:idx val="0"/>
          <c:order val="0"/>
          <c:tx>
            <c:strRef>
              <c:f>Sheet1!$B$1</c:f>
              <c:strCache>
                <c:ptCount val="1"/>
                <c:pt idx="0">
                  <c:v>Cluster 2</c:v>
                </c:pt>
              </c:strCache>
            </c:strRef>
          </c:tx>
          <c:spPr>
            <a:solidFill>
              <a:srgbClr val="2E6FCC"/>
            </a:solidFill>
            <a:ln w="25400" cap="flat">
              <a:solidFill>
                <a:srgbClr val="2E6FCC"/>
              </a:solidFill>
              <a:prstDash val="solid"/>
              <a:round/>
            </a:ln>
            <a:effectLst/>
          </c:spPr>
          <c:marker>
            <c:symbol val="circle"/>
            <c:size val="6"/>
            <c:spPr>
              <a:solidFill>
                <a:srgbClr val="2E6FCC"/>
              </a:solidFill>
              <a:ln w="9525" cap="flat">
                <a:solidFill>
                  <a:srgbClr val="2E6FCC"/>
                </a:solidFill>
                <a:prstDash val="solid"/>
                <a:round/>
              </a:ln>
              <a:effectLst/>
            </c:spPr>
          </c:marker>
          <c:xVal>
            <c:numRef>
              <c:f>Sheet1!$A$2:$A$11</c:f>
              <c:numCache>
                <c:formatCode>General</c:formatCode>
                <c:ptCount val="10"/>
                <c:pt idx="0">
                  <c:v>5.1</c:v>
                </c:pt>
                <c:pt idx="1">
                  <c:v>4.9</c:v>
                </c:pt>
                <c:pt idx="2">
                  <c:v>4.7</c:v>
                </c:pt>
                <c:pt idx="3">
                  <c:v>4.6</c:v>
                </c:pt>
                <c:pt idx="4">
                  <c:v>5</c:v>
                </c:pt>
                <c:pt idx="5">
                  <c:v>5.4</c:v>
                </c:pt>
                <c:pt idx="6">
                  <c:v>4.6</c:v>
                </c:pt>
                <c:pt idx="7">
                  <c:v>5</c:v>
                </c:pt>
                <c:pt idx="8">
                  <c:v>4.4</c:v>
                </c:pt>
                <c:pt idx="9">
                  <c:v>4.9</c:v>
                </c:pt>
              </c:numCache>
            </c:numRef>
          </c:xVal>
          <c:yVal>
            <c:numRef>
              <c:f>Sheet1!$B$2:$B$11</c:f>
              <c:numCache>
                <c:formatCode>General</c:formatCode>
                <c:ptCount val="10"/>
                <c:pt idx="0">
                  <c:v>7</c:v>
                </c:pt>
                <c:pt idx="1">
                  <c:v>6.4</c:v>
                </c:pt>
                <c:pt idx="2">
                  <c:v>6.9</c:v>
                </c:pt>
                <c:pt idx="3">
                  <c:v>5.5</c:v>
                </c:pt>
                <c:pt idx="4">
                  <c:v>6.5</c:v>
                </c:pt>
                <c:pt idx="5">
                  <c:v>5.7</c:v>
                </c:pt>
                <c:pt idx="6">
                  <c:v>6.3</c:v>
                </c:pt>
                <c:pt idx="7">
                  <c:v>4.9</c:v>
                </c:pt>
                <c:pt idx="8">
                  <c:v>6.6</c:v>
                </c:pt>
                <c:pt idx="9">
                  <c:v>5.2</c:v>
                </c:pt>
              </c:numCache>
            </c:numRef>
          </c:yVal>
          <c:smooth val="0"/>
        </c:ser>
        <c:ser>
          <c:idx val="1"/>
          <c:order val="1"/>
          <c:tx>
            <c:strRef>
              <c:f>Sheet1!$C$1</c:f>
              <c:strCache>
                <c:ptCount val="1"/>
                <c:pt idx="0">
                  <c:v>Cluster 3</c:v>
                </c:pt>
              </c:strCache>
            </c:strRef>
          </c:tx>
          <c:spPr>
            <a:solidFill>
              <a:srgbClr val="5EA0E8"/>
            </a:solidFill>
            <a:ln w="25400" cap="flat">
              <a:solidFill>
                <a:srgbClr val="5EA0E8"/>
              </a:solidFill>
              <a:prstDash val="solid"/>
              <a:round/>
            </a:ln>
            <a:effectLst/>
          </c:spPr>
          <c:marker>
            <c:symbol val="circle"/>
            <c:size val="6"/>
            <c:spPr>
              <a:solidFill>
                <a:srgbClr val="5EA0E8"/>
              </a:solidFill>
              <a:ln w="9525" cap="flat">
                <a:solidFill>
                  <a:srgbClr val="5EA0E8"/>
                </a:solidFill>
                <a:prstDash val="solid"/>
                <a:round/>
              </a:ln>
              <a:effectLst/>
            </c:spPr>
          </c:marker>
          <c:xVal>
            <c:numRef>
              <c:f>Sheet1!$A$2:$A$11</c:f>
              <c:numCache>
                <c:formatCode>General</c:formatCode>
                <c:ptCount val="10"/>
                <c:pt idx="0">
                  <c:v>5.1</c:v>
                </c:pt>
                <c:pt idx="1">
                  <c:v>4.9</c:v>
                </c:pt>
                <c:pt idx="2">
                  <c:v>4.7</c:v>
                </c:pt>
                <c:pt idx="3">
                  <c:v>4.6</c:v>
                </c:pt>
                <c:pt idx="4">
                  <c:v>5</c:v>
                </c:pt>
                <c:pt idx="5">
                  <c:v>5.4</c:v>
                </c:pt>
                <c:pt idx="6">
                  <c:v>4.6</c:v>
                </c:pt>
                <c:pt idx="7">
                  <c:v>5</c:v>
                </c:pt>
                <c:pt idx="8">
                  <c:v>4.4</c:v>
                </c:pt>
                <c:pt idx="9">
                  <c:v>4.9</c:v>
                </c:pt>
              </c:numCache>
            </c:numRef>
          </c:xVal>
          <c:yVal>
            <c:numRef>
              <c:f>Sheet1!$C$2:$C$11</c:f>
              <c:numCache>
                <c:formatCode>General</c:formatCode>
                <c:ptCount val="10"/>
                <c:pt idx="0">
                  <c:v>6.3</c:v>
                </c:pt>
                <c:pt idx="1">
                  <c:v>5.8</c:v>
                </c:pt>
                <c:pt idx="2">
                  <c:v>7.1</c:v>
                </c:pt>
                <c:pt idx="3">
                  <c:v>6.3</c:v>
                </c:pt>
                <c:pt idx="4">
                  <c:v>6.5</c:v>
                </c:pt>
                <c:pt idx="5">
                  <c:v>7.6</c:v>
                </c:pt>
                <c:pt idx="6">
                  <c:v>4.9</c:v>
                </c:pt>
                <c:pt idx="7">
                  <c:v>7.3</c:v>
                </c:pt>
                <c:pt idx="8">
                  <c:v>6.7</c:v>
                </c:pt>
                <c:pt idx="9">
                  <c:v>7.2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B7D"/>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B7D"/>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Perkenalkan nama saya Muhamad Fikriansyah, NIM 24260028, dari Program Studi Teknik Informatika, Universitas Nahdlatul Ulama Indonesia. Pada kesempatan ini saya akan mempresentasikan materi mengenai Hierarchical Clustering, salah satu metode clustering bertingkat yang banyak digunakan dalam analisis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adalah teknik unsupervised learning yang mengelompokkan data berdasarkan kemiripan tanpa memerlukan label. Hierarchical Clustering secara khusus membentuk struktur hierarki atau bertingkat antar cluster yang bisa digambarkan sebagai pohon (dendrogram). Tujuannya adalah mengelompokkan data secara objektif dan menampilkan hubungan antar cluster tanpa perlu menentukan jumlah cluster sejak awal, berbeda dengan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Clustering bekerja dengan menggabungkan atau memecah data secara bertahap berdasarkan tingkat kemiripan atau jarak. Ada dua pendekatan utama: Agglomerative yang bersifat bottom-up, dimulai dari setiap data sebagai cluster tersendiri lalu digabung bertahap; dan Divisive yang bersifat top-down, dimulai dari satu cluster besar lalu dipecah bertahap. Pendekatan Agglomerative lebih umum digunakan karena lebih sederhana dan tersedia luas di berbagai pustaka pemrograman seperti Scikit-learn dan SciPy.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Secara umum, algoritma Hierarchical Clustering (Agglomerative) berjalan sebagai berikut: dimulai dengan menganggap setiap data sebagai cluster sendiri, kemudian menghitung jarak antar seluruh pasangan data, menggabungkan dua cluster dengan jarak terdekat, memperbarui matriks jarak, dan mengulangi proses tersebut hingga seluruh data menjadi satu cluster besar. Seluruh proses penggabungan ini kemudian direpresentasikan dalam bentuk dendrogram. Perhitungan jarak antar data biasanya menggunakan Euclidean Distance sebagai dasar pembentukan linkage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menghitung kemiripan atau perbedaan antar data, digunakan metode pengukuran jarak. Euclidean Distance mengukur jarak garis lurus antar dua titik dan merupakan metode paling umum digunakan. Manhattan Distance mengukur jarak berdasarkan selisih absolut tiap dimensi, seperti menyusuri blok jalan di kota. Cosine Similarity mengukur kemiripan arah antar dua vektor, cocok untuk data teks atau data berdimensi tinggi. Pemilihan metode jarak yang tepat memengaruhi hasil dendrogram yang terbentuk.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Dalam proses penggabungan cluster, dibutuhkan metode linkage untuk menentukan jarak antar cluster. Single Linkage menggunakan jarak minimum antar anggota, cepat namun rentan menghasilkan chaining effect. Complete Linkage menggunakan jarak maksimum, menghasilkan cluster lebih kompak tapi sensitif terhadap outlier. Average Linkage menggunakan rata-rata jarak seluruh pasangan, lebih seimbang. Ward Linkage meminimalkan peningkatan variansi dalam cluster, menghasilkan cluster yang seimbang dan kompak, sehingga banyak dipilih sebagai metode utama pada data numerik multidimensi seperti wine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Dendrogram adalah diagram berbentuk pohon yang menggambarkan urutan dan tingkat kemiripan penggabungan cluster pada Hierarchical Clustering. Sumbu vertikal merepresentasikan jarak saat dua cluster digabungkan, sedangkan sumbu horizontal merepresentasikan objek data atau cluster. Dengan memotong dendrogram pada ketinggian tertentu, kita bisa menentukan jumlah cluster yang diinginkan — semakin rendah garis potong, semakin banyak cluster yang dihasilkan.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presentasi ini, implementasi Hierarchical Clustering didemonstrasikan menggunakan Iris Dataset, salah satu dataset klasik dalam machine learning. Dataset ini terdiri dari 150 sampel bunga Iris dengan 4 atribut numerik, yaitu panjang dan lebar sepal, serta panjang dan lebar petal. Dataset ini dipilih karena sederhana, mudah dipahami, dan sering dijadikan benchmark untuk menguji algoritma clustering maupun klasifikasi.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contoh implementasi Hierarchical Clustering menggunakan Python. Tahapannya meliputi: mengimpor library seperti Pandas, Scikit-learn, dan SciPy; membaca dataset Iris; melakukan standardisasi data menggunakan Z-score agar semua atribut memiliki skala yang setara; membentuk linkage matrix menggunakan metode Ward; menampilkan dendrogram untuk melihat struktur hierarki; dan terakhir memotong dendrogram untuk mendapatkan hasil cluster akhir menggunakan fungsi fcluster.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proses clustering, hasil dapat divisualisasikan misalnya menggunakan scatter plot. Pada ilustrasi ini, data dikelompokkan menjadi 3 cluster, sesuai dengan jumlah cluster optimal yang ditentukan melalui evaluasi Silhouette Score. Setiap cluster merepresentasikan kelompok data dengan karakteristik atribut yang saling mirip. Pemisahan cluster yang jelas menandakan pengelompokan yang baik, meskipun sedikit tumpang tindih antar cluster adalah hal yang wajar terjadi pada data di dunia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Seperti metode lainnya, Hierarchical Clustering memiliki kelebihan dan kekurangan. Kelebihannya antara lain tidak perlu menentukan jumlah cluster di awal, menghasilkan dendrogram yang mudah diinterpretasi, fleksibel terhadap berbagai metode jarak dan linkage, cocok untuk dataset kecil-menengah, serta mampu menampilkan struktur hubungan antar data secara detail. Sementara kekurangannya meliputi komputasi yang berat untuk dataset besar, sensitivitas terhadap outlier, keputusan penggabungan yang bersifat permanen, pemilihan titik potong dendrogram yang subjektif, dan efisiensi yang lebih rendah dibanding metode partisi seperti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Clustering diterapkan pada berbagai bidang. Di bidang kesehatan, digunakan untuk mengelompokkan pasien berdasarkan gejala atau rekam medis. Di pendidikan, untuk mengelompokkan siswa berdasarkan pola nilai atau gaya belajar. Di bisnis, untuk segmentasi produk maupun efisiensi rantai pasok. Untuk market segmentation, metode ini membantu mengelompokkan pasar berdasarkan karakteristik produk dan perilaku konsumen. Dan dalam analisis pelanggan, digunakan untuk mengelompokkan pelanggan berdasarkan preferensi dan kebiasaan transaksi mereka.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kesimpulan, Hierarchical Clustering merupakan metode yang mengelompokkan data secara bertingkat tanpa perlu menentukan jumlah cluster di awal, dan hasilnya dapat direpresentasikan secara transparan melalui dendrogram. Metode ini bermanfaat untuk memahami struktur dan pola tersembunyi dalam data secara objektif. Disarankan untuk digunakan pada dataset berukuran kecil hingga menengah, dengan melakukan standardisasi data terlebih dahulu, serta memilih metode linkage yang sesuai dengan karakteristik data yang dianalisis.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yang digunakan dalam penyusunan materi ini berasal dari jurnal-jurnal ilmiah terbaru terkait Hierarchical Clustering, buku Machine Learning, serta dokumentasi resmi Scikit-learn dan SciPy sebagai rujukan teknis implementasi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Demikian presentasi mengenai Hierarchical Clustering yang dapat saya sampaikan. Terima kasih atas perhatiannya, dan saya terbuka untuk pertanyaan maupun diskusi lebih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5C"/>
        </a:solidFill>
      </p:bgPr>
    </p:bg>
    <p:spTree>
      <p:nvGrpSpPr>
        <p:cNvPr id="1" name=""/>
        <p:cNvGrpSpPr/>
        <p:nvPr/>
      </p:nvGrpSpPr>
      <p:grpSpPr>
        <a:xfrm>
          <a:off x="0" y="0"/>
          <a:ext cx="0" cy="0"/>
          <a:chOff x="0" y="0"/>
          <a:chExt cx="0" cy="0"/>
        </a:xfrm>
      </p:grpSpPr>
      <p:sp>
        <p:nvSpPr>
          <p:cNvPr id="2" name="Shape 0"/>
          <p:cNvSpPr/>
          <p:nvPr/>
        </p:nvSpPr>
        <p:spPr>
          <a:xfrm>
            <a:off x="9262872" y="-1280160"/>
            <a:ext cx="4206240" cy="4206240"/>
          </a:xfrm>
          <a:prstGeom prst="ellipse">
            <a:avLst/>
          </a:prstGeom>
          <a:solidFill>
            <a:srgbClr val="2E6FCC">
              <a:alpha val="22000"/>
            </a:srgbClr>
          </a:solidFill>
          <a:ln/>
        </p:spPr>
      </p:sp>
      <p:sp>
        <p:nvSpPr>
          <p:cNvPr id="3" name="Shape 1"/>
          <p:cNvSpPr/>
          <p:nvPr/>
        </p:nvSpPr>
        <p:spPr>
          <a:xfrm>
            <a:off x="-1463040" y="4480560"/>
            <a:ext cx="3657600" cy="3657600"/>
          </a:xfrm>
          <a:prstGeom prst="ellipse">
            <a:avLst/>
          </a:prstGeom>
          <a:solidFill>
            <a:srgbClr val="2E6FCC">
              <a:alpha val="18000"/>
            </a:srgbClr>
          </a:solidFill>
          <a:ln/>
        </p:spPr>
      </p:sp>
      <p:sp>
        <p:nvSpPr>
          <p:cNvPr id="4" name="Shape 2"/>
          <p:cNvSpPr/>
          <p:nvPr/>
        </p:nvSpPr>
        <p:spPr>
          <a:xfrm>
            <a:off x="822960" y="822960"/>
            <a:ext cx="868680" cy="868680"/>
          </a:xfrm>
          <a:prstGeom prst="ellipse">
            <a:avLst/>
          </a:prstGeom>
          <a:solidFill>
            <a:srgbClr val="1F4585"/>
          </a:solidFill>
          <a:ln/>
        </p:spPr>
      </p:sp>
      <p:pic>
        <p:nvPicPr>
          <p:cNvPr id="5" name="Image 0" descr="preencoded.png">    </p:cNvPr>
          <p:cNvPicPr>
            <a:picLocks noChangeAspect="1"/>
          </p:cNvPicPr>
          <p:nvPr/>
        </p:nvPicPr>
        <p:blipFill>
          <a:blip r:embed="rId1"/>
          <a:stretch>
            <a:fillRect/>
          </a:stretch>
        </p:blipFill>
        <p:spPr>
          <a:xfrm>
            <a:off x="935888" y="935888"/>
            <a:ext cx="642823" cy="642823"/>
          </a:xfrm>
          <a:prstGeom prst="rect">
            <a:avLst/>
          </a:prstGeom>
        </p:spPr>
      </p:pic>
      <p:sp>
        <p:nvSpPr>
          <p:cNvPr id="6" name="Text 3"/>
          <p:cNvSpPr/>
          <p:nvPr/>
        </p:nvSpPr>
        <p:spPr>
          <a:xfrm>
            <a:off x="822960" y="2286000"/>
            <a:ext cx="10515600" cy="914400"/>
          </a:xfrm>
          <a:prstGeom prst="rect">
            <a:avLst/>
          </a:prstGeom>
          <a:noFill/>
          <a:ln/>
        </p:spPr>
        <p:txBody>
          <a:bodyPr wrap="square" rtlCol="0" anchor="ctr"/>
          <a:lstStyle/>
          <a:p>
            <a:pPr indent="0" marL="0">
              <a:buNone/>
            </a:pPr>
            <a:r>
              <a:rPr lang="en-US" sz="4000" b="1" spc="100" kern="0" dirty="0">
                <a:solidFill>
                  <a:srgbClr val="FFFFFF"/>
                </a:solidFill>
                <a:latin typeface="Calibri" pitchFamily="34" charset="0"/>
                <a:ea typeface="Calibri" pitchFamily="34" charset="-122"/>
                <a:cs typeface="Calibri" pitchFamily="34" charset="-120"/>
              </a:rPr>
              <a:t>HIERARCHICAL CLUSTERING</a:t>
            </a:r>
            <a:endParaRPr lang="en-US" sz="4000" dirty="0"/>
          </a:p>
        </p:txBody>
      </p:sp>
      <p:sp>
        <p:nvSpPr>
          <p:cNvPr id="7" name="Text 4"/>
          <p:cNvSpPr/>
          <p:nvPr/>
        </p:nvSpPr>
        <p:spPr>
          <a:xfrm>
            <a:off x="822960" y="3063240"/>
            <a:ext cx="10058400" cy="548640"/>
          </a:xfrm>
          <a:prstGeom prst="rect">
            <a:avLst/>
          </a:prstGeom>
          <a:noFill/>
          <a:ln/>
        </p:spPr>
        <p:txBody>
          <a:bodyPr wrap="square" rtlCol="0" anchor="ctr"/>
          <a:lstStyle/>
          <a:p>
            <a:pPr indent="0" marL="0">
              <a:buNone/>
            </a:pPr>
            <a:r>
              <a:rPr lang="en-US" sz="2200" i="1" dirty="0">
                <a:solidFill>
                  <a:srgbClr val="BFD3F2"/>
                </a:solidFill>
                <a:latin typeface="Calibri" pitchFamily="34" charset="0"/>
                <a:ea typeface="Calibri" pitchFamily="34" charset="-122"/>
                <a:cs typeface="Calibri" pitchFamily="34" charset="-120"/>
              </a:rPr>
              <a:t>Metode Clustering Bertingkat</a:t>
            </a:r>
            <a:endParaRPr lang="en-US" sz="2200" dirty="0"/>
          </a:p>
        </p:txBody>
      </p:sp>
      <p:sp>
        <p:nvSpPr>
          <p:cNvPr id="8" name="Shape 5"/>
          <p:cNvSpPr/>
          <p:nvPr/>
        </p:nvSpPr>
        <p:spPr>
          <a:xfrm>
            <a:off x="822960" y="3886200"/>
            <a:ext cx="2926080" cy="18288"/>
          </a:xfrm>
          <a:prstGeom prst="rect">
            <a:avLst/>
          </a:prstGeom>
          <a:solidFill>
            <a:srgbClr val="3E6BB0"/>
          </a:solidFill>
          <a:ln/>
        </p:spPr>
      </p:sp>
      <p:sp>
        <p:nvSpPr>
          <p:cNvPr id="9" name="Text 6"/>
          <p:cNvSpPr/>
          <p:nvPr/>
        </p:nvSpPr>
        <p:spPr>
          <a:xfrm>
            <a:off x="822960" y="4160520"/>
            <a:ext cx="7315200" cy="173736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Muhamad Fikriansyah</a:t>
            </a:r>
            <a:endParaRPr lang="en-US" sz="1800" dirty="0"/>
          </a:p>
          <a:p>
            <a:pPr indent="0" marL="0">
              <a:buNone/>
            </a:pPr>
            <a:r>
              <a:rPr lang="en-US" sz="1400" dirty="0">
                <a:solidFill>
                  <a:srgbClr val="C7D6EE"/>
                </a:solidFill>
                <a:latin typeface="Calibri" pitchFamily="34" charset="0"/>
                <a:ea typeface="Calibri" pitchFamily="34" charset="-122"/>
                <a:cs typeface="Calibri" pitchFamily="34" charset="-120"/>
              </a:rPr>
              <a:t>NIM: 24260028</a:t>
            </a:r>
            <a:endParaRPr lang="en-US" sz="1800" dirty="0"/>
          </a:p>
          <a:p>
            <a:pPr indent="0" marL="0">
              <a:buNone/>
            </a:pPr>
            <a:r>
              <a:rPr lang="en-US" sz="1400" dirty="0">
                <a:solidFill>
                  <a:srgbClr val="C7D6EE"/>
                </a:solidFill>
                <a:latin typeface="Calibri" pitchFamily="34" charset="0"/>
                <a:ea typeface="Calibri" pitchFamily="34" charset="-122"/>
                <a:cs typeface="Calibri" pitchFamily="34" charset="-120"/>
              </a:rPr>
              <a:t>Program Studi Teknik Informatika</a:t>
            </a:r>
            <a:endParaRPr lang="en-US" sz="1800" dirty="0"/>
          </a:p>
          <a:p>
            <a:pPr indent="0" marL="0">
              <a:buNone/>
            </a:pPr>
            <a:r>
              <a:rPr lang="en-US" sz="1400" dirty="0">
                <a:solidFill>
                  <a:srgbClr val="C7D6EE"/>
                </a:solidFill>
                <a:latin typeface="Calibri" pitchFamily="34" charset="0"/>
                <a:ea typeface="Calibri" pitchFamily="34" charset="-122"/>
                <a:cs typeface="Calibri" pitchFamily="34" charset="-120"/>
              </a:rPr>
              <a:t>Universitas Nahdlatul Ulama Indonesia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Pendahuluan</a:t>
            </a:r>
            <a:endParaRPr lang="en-US" sz="3200" dirty="0"/>
          </a:p>
        </p:txBody>
      </p:sp>
      <p:sp>
        <p:nvSpPr>
          <p:cNvPr id="3" name="Shape 1"/>
          <p:cNvSpPr/>
          <p:nvPr/>
        </p:nvSpPr>
        <p:spPr>
          <a:xfrm>
            <a:off x="548640" y="1600200"/>
            <a:ext cx="11091672" cy="1417320"/>
          </a:xfrm>
          <a:prstGeom prst="roundRect">
            <a:avLst>
              <a:gd name="adj" fmla="val 5161"/>
            </a:avLst>
          </a:prstGeom>
          <a:solidFill>
            <a:srgbClr val="F4F6F9"/>
          </a:solidFill>
          <a:ln/>
          <a:effectLst>
            <a:outerShdw sx="100000" sy="100000" kx="0" ky="0" algn="bl" rotWithShape="0" blurRad="76200" dist="25400" dir="5400000">
              <a:srgbClr val="000000">
                <a:alpha val="8000"/>
              </a:srgbClr>
            </a:outerShdw>
          </a:effectLst>
        </p:spPr>
      </p:sp>
      <p:sp>
        <p:nvSpPr>
          <p:cNvPr id="4" name="Shape 2"/>
          <p:cNvSpPr/>
          <p:nvPr/>
        </p:nvSpPr>
        <p:spPr>
          <a:xfrm>
            <a:off x="822960" y="1856232"/>
            <a:ext cx="914400" cy="914400"/>
          </a:xfrm>
          <a:prstGeom prst="ellipse">
            <a:avLst/>
          </a:prstGeom>
          <a:solidFill>
            <a:srgbClr val="EAF1FB"/>
          </a:solidFill>
          <a:ln/>
        </p:spPr>
      </p:sp>
      <p:pic>
        <p:nvPicPr>
          <p:cNvPr id="5" name="Image 0" descr="preencoded.png">    </p:cNvPr>
          <p:cNvPicPr>
            <a:picLocks noChangeAspect="1"/>
          </p:cNvPicPr>
          <p:nvPr/>
        </p:nvPicPr>
        <p:blipFill>
          <a:blip r:embed="rId1"/>
          <a:stretch>
            <a:fillRect/>
          </a:stretch>
        </p:blipFill>
        <p:spPr>
          <a:xfrm>
            <a:off x="941832" y="1975104"/>
            <a:ext cx="676656" cy="676656"/>
          </a:xfrm>
          <a:prstGeom prst="rect">
            <a:avLst/>
          </a:prstGeom>
        </p:spPr>
      </p:pic>
      <p:sp>
        <p:nvSpPr>
          <p:cNvPr id="6" name="Text 3"/>
          <p:cNvSpPr/>
          <p:nvPr/>
        </p:nvSpPr>
        <p:spPr>
          <a:xfrm>
            <a:off x="1965960" y="1783080"/>
            <a:ext cx="8778240" cy="411480"/>
          </a:xfrm>
          <a:prstGeom prst="rect">
            <a:avLst/>
          </a:prstGeom>
          <a:noFill/>
          <a:ln/>
        </p:spPr>
        <p:txBody>
          <a:bodyPr wrap="square"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Apa itu Clustering?</a:t>
            </a:r>
            <a:endParaRPr lang="en-US" sz="1800" dirty="0"/>
          </a:p>
        </p:txBody>
      </p:sp>
      <p:sp>
        <p:nvSpPr>
          <p:cNvPr id="7" name="Text 4"/>
          <p:cNvSpPr/>
          <p:nvPr/>
        </p:nvSpPr>
        <p:spPr>
          <a:xfrm>
            <a:off x="1965960" y="2194560"/>
            <a:ext cx="8778240" cy="685800"/>
          </a:xfrm>
          <a:prstGeom prst="rect">
            <a:avLst/>
          </a:prstGeom>
          <a:noFill/>
          <a:ln/>
        </p:spPr>
        <p:txBody>
          <a:bodyPr wrap="square" rtlCol="0" anchor="ctr"/>
          <a:lstStyle/>
          <a:p>
            <a:pPr indent="0" marL="0">
              <a:buNone/>
            </a:pPr>
            <a:r>
              <a:rPr lang="en-US" sz="1400" dirty="0">
                <a:solidFill>
                  <a:srgbClr val="22324A"/>
                </a:solidFill>
                <a:latin typeface="Calibri" pitchFamily="34" charset="0"/>
                <a:ea typeface="Calibri" pitchFamily="34" charset="-122"/>
                <a:cs typeface="Calibri" pitchFamily="34" charset="-120"/>
              </a:rPr>
              <a:t>Teknik unsupervised learning untuk mengelompokkan data berdasarkan kemiripan, tanpa label kelas.</a:t>
            </a:r>
            <a:endParaRPr lang="en-US" sz="1400" dirty="0"/>
          </a:p>
        </p:txBody>
      </p:sp>
      <p:sp>
        <p:nvSpPr>
          <p:cNvPr id="8" name="Shape 5"/>
          <p:cNvSpPr/>
          <p:nvPr/>
        </p:nvSpPr>
        <p:spPr>
          <a:xfrm>
            <a:off x="548640" y="3200400"/>
            <a:ext cx="11091672" cy="1417320"/>
          </a:xfrm>
          <a:prstGeom prst="roundRect">
            <a:avLst>
              <a:gd name="adj" fmla="val 5161"/>
            </a:avLst>
          </a:prstGeom>
          <a:solidFill>
            <a:srgbClr val="F4F6F9"/>
          </a:solidFill>
          <a:ln/>
          <a:effectLst>
            <a:outerShdw sx="100000" sy="100000" kx="0" ky="0" algn="bl" rotWithShape="0" blurRad="76200" dist="25400" dir="5400000">
              <a:srgbClr val="000000">
                <a:alpha val="8000"/>
              </a:srgbClr>
            </a:outerShdw>
          </a:effectLst>
        </p:spPr>
      </p:sp>
      <p:sp>
        <p:nvSpPr>
          <p:cNvPr id="9" name="Shape 6"/>
          <p:cNvSpPr/>
          <p:nvPr/>
        </p:nvSpPr>
        <p:spPr>
          <a:xfrm>
            <a:off x="822960" y="3456432"/>
            <a:ext cx="914400" cy="914400"/>
          </a:xfrm>
          <a:prstGeom prst="ellipse">
            <a:avLst/>
          </a:prstGeom>
          <a:solidFill>
            <a:srgbClr val="EAF1FB"/>
          </a:solidFill>
          <a:ln/>
        </p:spPr>
      </p:sp>
      <p:pic>
        <p:nvPicPr>
          <p:cNvPr id="10" name="Image 1" descr="preencoded.png">    </p:cNvPr>
          <p:cNvPicPr>
            <a:picLocks noChangeAspect="1"/>
          </p:cNvPicPr>
          <p:nvPr/>
        </p:nvPicPr>
        <p:blipFill>
          <a:blip r:embed="rId2"/>
          <a:stretch>
            <a:fillRect/>
          </a:stretch>
        </p:blipFill>
        <p:spPr>
          <a:xfrm>
            <a:off x="941832" y="3575304"/>
            <a:ext cx="676656" cy="676656"/>
          </a:xfrm>
          <a:prstGeom prst="rect">
            <a:avLst/>
          </a:prstGeom>
        </p:spPr>
      </p:pic>
      <p:sp>
        <p:nvSpPr>
          <p:cNvPr id="11" name="Text 7"/>
          <p:cNvSpPr/>
          <p:nvPr/>
        </p:nvSpPr>
        <p:spPr>
          <a:xfrm>
            <a:off x="1965960" y="3383280"/>
            <a:ext cx="8778240" cy="411480"/>
          </a:xfrm>
          <a:prstGeom prst="rect">
            <a:avLst/>
          </a:prstGeom>
          <a:noFill/>
          <a:ln/>
        </p:spPr>
        <p:txBody>
          <a:bodyPr wrap="square"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Apa itu Hierarchical Clustering?</a:t>
            </a:r>
            <a:endParaRPr lang="en-US" sz="1800" dirty="0"/>
          </a:p>
        </p:txBody>
      </p:sp>
      <p:sp>
        <p:nvSpPr>
          <p:cNvPr id="12" name="Text 8"/>
          <p:cNvSpPr/>
          <p:nvPr/>
        </p:nvSpPr>
        <p:spPr>
          <a:xfrm>
            <a:off x="1965960" y="3794760"/>
            <a:ext cx="8778240" cy="685800"/>
          </a:xfrm>
          <a:prstGeom prst="rect">
            <a:avLst/>
          </a:prstGeom>
          <a:noFill/>
          <a:ln/>
        </p:spPr>
        <p:txBody>
          <a:bodyPr wrap="square" rtlCol="0" anchor="ctr"/>
          <a:lstStyle/>
          <a:p>
            <a:pPr indent="0" marL="0">
              <a:buNone/>
            </a:pPr>
            <a:r>
              <a:rPr lang="en-US" sz="1400" dirty="0">
                <a:solidFill>
                  <a:srgbClr val="22324A"/>
                </a:solidFill>
                <a:latin typeface="Calibri" pitchFamily="34" charset="0"/>
                <a:ea typeface="Calibri" pitchFamily="34" charset="-122"/>
                <a:cs typeface="Calibri" pitchFamily="34" charset="-120"/>
              </a:rPr>
              <a:t>Metode clustering yang membentuk struktur bertingkat (hierarki) antar cluster, digambarkan dalam dendrogram.</a:t>
            </a:r>
            <a:endParaRPr lang="en-US" sz="1400" dirty="0"/>
          </a:p>
        </p:txBody>
      </p:sp>
      <p:sp>
        <p:nvSpPr>
          <p:cNvPr id="13" name="Shape 9"/>
          <p:cNvSpPr/>
          <p:nvPr/>
        </p:nvSpPr>
        <p:spPr>
          <a:xfrm>
            <a:off x="548640" y="4800600"/>
            <a:ext cx="11091672" cy="1417320"/>
          </a:xfrm>
          <a:prstGeom prst="roundRect">
            <a:avLst>
              <a:gd name="adj" fmla="val 5161"/>
            </a:avLst>
          </a:prstGeom>
          <a:solidFill>
            <a:srgbClr val="F4F6F9"/>
          </a:solidFill>
          <a:ln/>
          <a:effectLst>
            <a:outerShdw sx="100000" sy="100000" kx="0" ky="0" algn="bl" rotWithShape="0" blurRad="76200" dist="25400" dir="5400000">
              <a:srgbClr val="000000">
                <a:alpha val="8000"/>
              </a:srgbClr>
            </a:outerShdw>
          </a:effectLst>
        </p:spPr>
      </p:sp>
      <p:sp>
        <p:nvSpPr>
          <p:cNvPr id="14" name="Shape 10"/>
          <p:cNvSpPr/>
          <p:nvPr/>
        </p:nvSpPr>
        <p:spPr>
          <a:xfrm>
            <a:off x="822960" y="5056632"/>
            <a:ext cx="914400" cy="914400"/>
          </a:xfrm>
          <a:prstGeom prst="ellipse">
            <a:avLst/>
          </a:prstGeom>
          <a:solidFill>
            <a:srgbClr val="EAF1FB"/>
          </a:solidFill>
          <a:ln/>
        </p:spPr>
      </p:sp>
      <p:pic>
        <p:nvPicPr>
          <p:cNvPr id="15" name="Image 2" descr="preencoded.png">    </p:cNvPr>
          <p:cNvPicPr>
            <a:picLocks noChangeAspect="1"/>
          </p:cNvPicPr>
          <p:nvPr/>
        </p:nvPicPr>
        <p:blipFill>
          <a:blip r:embed="rId3"/>
          <a:stretch>
            <a:fillRect/>
          </a:stretch>
        </p:blipFill>
        <p:spPr>
          <a:xfrm>
            <a:off x="941832" y="5175504"/>
            <a:ext cx="676656" cy="676656"/>
          </a:xfrm>
          <a:prstGeom prst="rect">
            <a:avLst/>
          </a:prstGeom>
        </p:spPr>
      </p:pic>
      <p:sp>
        <p:nvSpPr>
          <p:cNvPr id="16" name="Text 11"/>
          <p:cNvSpPr/>
          <p:nvPr/>
        </p:nvSpPr>
        <p:spPr>
          <a:xfrm>
            <a:off x="1965960" y="4983480"/>
            <a:ext cx="8778240" cy="411480"/>
          </a:xfrm>
          <a:prstGeom prst="rect">
            <a:avLst/>
          </a:prstGeom>
          <a:noFill/>
          <a:ln/>
        </p:spPr>
        <p:txBody>
          <a:bodyPr wrap="square"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Tujuan Metode</a:t>
            </a:r>
            <a:endParaRPr lang="en-US" sz="1800" dirty="0"/>
          </a:p>
        </p:txBody>
      </p:sp>
      <p:sp>
        <p:nvSpPr>
          <p:cNvPr id="17" name="Text 12"/>
          <p:cNvSpPr/>
          <p:nvPr/>
        </p:nvSpPr>
        <p:spPr>
          <a:xfrm>
            <a:off x="1965960" y="5394960"/>
            <a:ext cx="8778240" cy="685800"/>
          </a:xfrm>
          <a:prstGeom prst="rect">
            <a:avLst/>
          </a:prstGeom>
          <a:noFill/>
          <a:ln/>
        </p:spPr>
        <p:txBody>
          <a:bodyPr wrap="square" rtlCol="0" anchor="ctr"/>
          <a:lstStyle/>
          <a:p>
            <a:pPr indent="0" marL="0">
              <a:buNone/>
            </a:pPr>
            <a:r>
              <a:rPr lang="en-US" sz="1400" dirty="0">
                <a:solidFill>
                  <a:srgbClr val="22324A"/>
                </a:solidFill>
                <a:latin typeface="Calibri" pitchFamily="34" charset="0"/>
                <a:ea typeface="Calibri" pitchFamily="34" charset="-122"/>
                <a:cs typeface="Calibri" pitchFamily="34" charset="-120"/>
              </a:rPr>
              <a:t>Mengelompokkan data secara objektif &amp; menampilkan hubungan antar cluster tanpa menentukan jumlah cluster di awal.</a:t>
            </a:r>
            <a:endParaRPr lang="en-US" sz="1400" dirty="0"/>
          </a:p>
        </p:txBody>
      </p:sp>
      <p:sp>
        <p:nvSpPr>
          <p:cNvPr id="18"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2</a:t>
            </a:r>
            <a:endParaRPr lang="en-US" sz="1000" dirty="0"/>
          </a:p>
        </p:txBody>
      </p:sp>
      <p:sp>
        <p:nvSpPr>
          <p:cNvPr id="19" name="Text 14"/>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Konsep Dasar</a:t>
            </a:r>
            <a:endParaRPr lang="en-US" sz="3200" dirty="0"/>
          </a:p>
        </p:txBody>
      </p:sp>
      <p:sp>
        <p:nvSpPr>
          <p:cNvPr id="3" name="Text 1"/>
          <p:cNvSpPr/>
          <p:nvPr/>
        </p:nvSpPr>
        <p:spPr>
          <a:xfrm>
            <a:off x="548640" y="1005840"/>
            <a:ext cx="11091672" cy="365760"/>
          </a:xfrm>
          <a:prstGeom prst="rect">
            <a:avLst/>
          </a:prstGeom>
          <a:noFill/>
          <a:ln/>
        </p:spPr>
        <p:txBody>
          <a:bodyPr wrap="square" rtlCol="0" anchor="ctr"/>
          <a:lstStyle/>
          <a:p>
            <a:pPr indent="0" marL="0">
              <a:buNone/>
            </a:pPr>
            <a:r>
              <a:rPr lang="en-US" sz="1500" i="1" dirty="0">
                <a:solidFill>
                  <a:srgbClr val="5B6B7D"/>
                </a:solidFill>
                <a:latin typeface="Calibri" pitchFamily="34" charset="0"/>
                <a:ea typeface="Calibri" pitchFamily="34" charset="-122"/>
                <a:cs typeface="Calibri" pitchFamily="34" charset="-120"/>
              </a:rPr>
              <a:t>Cara kerja Hierarchical Clustering</a:t>
            </a:r>
            <a:endParaRPr lang="en-US" sz="1500" dirty="0"/>
          </a:p>
        </p:txBody>
      </p:sp>
      <p:sp>
        <p:nvSpPr>
          <p:cNvPr id="4" name="Text 2"/>
          <p:cNvSpPr/>
          <p:nvPr/>
        </p:nvSpPr>
        <p:spPr>
          <a:xfrm>
            <a:off x="548640" y="1600200"/>
            <a:ext cx="5029200" cy="1005840"/>
          </a:xfrm>
          <a:prstGeom prst="rect">
            <a:avLst/>
          </a:prstGeom>
          <a:noFill/>
          <a:ln/>
        </p:spPr>
        <p:txBody>
          <a:bodyPr wrap="square" rtlCol="0" anchor="ctr"/>
          <a:lstStyle/>
          <a:p>
            <a:pPr indent="0" marL="0">
              <a:buNone/>
            </a:pPr>
            <a:r>
              <a:rPr lang="en-US" sz="1600" b="1" dirty="0">
                <a:solidFill>
                  <a:srgbClr val="16305C"/>
                </a:solidFill>
                <a:latin typeface="Calibri" pitchFamily="34" charset="0"/>
                <a:ea typeface="Calibri" pitchFamily="34" charset="-122"/>
                <a:cs typeface="Calibri" pitchFamily="34" charset="-120"/>
              </a:rPr>
              <a:t>Cara Kerja</a:t>
            </a:r>
            <a:endParaRPr lang="en-US" sz="1600" dirty="0"/>
          </a:p>
          <a:p>
            <a:pPr marL="342900" indent="-342900">
              <a:buSzPct val="100000"/>
              <a:buChar char="•"/>
            </a:pPr>
            <a:r>
              <a:rPr lang="en-US" sz="1300" dirty="0">
                <a:solidFill>
                  <a:srgbClr val="22324A"/>
                </a:solidFill>
                <a:latin typeface="Calibri" pitchFamily="34" charset="0"/>
                <a:ea typeface="Calibri" pitchFamily="34" charset="-122"/>
                <a:cs typeface="Calibri" pitchFamily="34" charset="-120"/>
              </a:rPr>
              <a:t>Menggabungkan atau memecah data secara bertahap berdasarkan tingkat kemiripan/jarak.</a:t>
            </a:r>
            <a:endParaRPr lang="en-US" sz="1600" dirty="0"/>
          </a:p>
        </p:txBody>
      </p:sp>
      <p:sp>
        <p:nvSpPr>
          <p:cNvPr id="5" name="Shape 3"/>
          <p:cNvSpPr/>
          <p:nvPr/>
        </p:nvSpPr>
        <p:spPr>
          <a:xfrm>
            <a:off x="548640" y="2651760"/>
            <a:ext cx="5120640" cy="2651760"/>
          </a:xfrm>
          <a:prstGeom prst="roundRect">
            <a:avLst>
              <a:gd name="adj" fmla="val 2759"/>
            </a:avLst>
          </a:prstGeom>
          <a:solidFill>
            <a:srgbClr val="EAF1FB"/>
          </a:solidFill>
          <a:ln/>
        </p:spPr>
      </p:sp>
      <p:sp>
        <p:nvSpPr>
          <p:cNvPr id="6" name="Shape 4"/>
          <p:cNvSpPr/>
          <p:nvPr/>
        </p:nvSpPr>
        <p:spPr>
          <a:xfrm>
            <a:off x="868680" y="2971800"/>
            <a:ext cx="640080" cy="64008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51890" y="3055010"/>
            <a:ext cx="473659" cy="473659"/>
          </a:xfrm>
          <a:prstGeom prst="rect">
            <a:avLst/>
          </a:prstGeom>
        </p:spPr>
      </p:pic>
      <p:sp>
        <p:nvSpPr>
          <p:cNvPr id="8" name="Text 5"/>
          <p:cNvSpPr/>
          <p:nvPr/>
        </p:nvSpPr>
        <p:spPr>
          <a:xfrm>
            <a:off x="1691640" y="2971800"/>
            <a:ext cx="3749040" cy="54864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Agglomerative (Bottom-Up)</a:t>
            </a:r>
            <a:endParaRPr lang="en-US" sz="1500" dirty="0"/>
          </a:p>
        </p:txBody>
      </p:sp>
      <p:sp>
        <p:nvSpPr>
          <p:cNvPr id="9" name="Text 6"/>
          <p:cNvSpPr/>
          <p:nvPr/>
        </p:nvSpPr>
        <p:spPr>
          <a:xfrm>
            <a:off x="868680" y="3657600"/>
            <a:ext cx="4572000" cy="1463040"/>
          </a:xfrm>
          <a:prstGeom prst="rect">
            <a:avLst/>
          </a:prstGeom>
          <a:noFill/>
          <a:ln/>
        </p:spPr>
        <p:txBody>
          <a:bodyPr wrap="square" rtlCol="0" anchor="ctr"/>
          <a:lstStyle/>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Setiap data mulai sebagai cluster sendiri</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Digabung bertahap hingga jadi satu cluster besar</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Paling umum digunakan</a:t>
            </a:r>
            <a:endParaRPr lang="en-US" sz="1250" dirty="0"/>
          </a:p>
        </p:txBody>
      </p:sp>
      <p:sp>
        <p:nvSpPr>
          <p:cNvPr id="10" name="Shape 7"/>
          <p:cNvSpPr/>
          <p:nvPr/>
        </p:nvSpPr>
        <p:spPr>
          <a:xfrm>
            <a:off x="5943600" y="2651760"/>
            <a:ext cx="5669280" cy="2651760"/>
          </a:xfrm>
          <a:prstGeom prst="roundRect">
            <a:avLst>
              <a:gd name="adj" fmla="val 2759"/>
            </a:avLst>
          </a:prstGeom>
          <a:solidFill>
            <a:srgbClr val="F4F6F9"/>
          </a:solidFill>
          <a:ln/>
        </p:spPr>
      </p:sp>
      <p:sp>
        <p:nvSpPr>
          <p:cNvPr id="11" name="Shape 8"/>
          <p:cNvSpPr/>
          <p:nvPr/>
        </p:nvSpPr>
        <p:spPr>
          <a:xfrm>
            <a:off x="6263640" y="2971800"/>
            <a:ext cx="640080" cy="64008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6346850" y="3055010"/>
            <a:ext cx="473659" cy="473659"/>
          </a:xfrm>
          <a:prstGeom prst="rect">
            <a:avLst/>
          </a:prstGeom>
        </p:spPr>
      </p:pic>
      <p:sp>
        <p:nvSpPr>
          <p:cNvPr id="13" name="Text 9"/>
          <p:cNvSpPr/>
          <p:nvPr/>
        </p:nvSpPr>
        <p:spPr>
          <a:xfrm>
            <a:off x="7086600" y="2971800"/>
            <a:ext cx="4297680" cy="54864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Divisive (Top-Down)</a:t>
            </a:r>
            <a:endParaRPr lang="en-US" sz="1500" dirty="0"/>
          </a:p>
        </p:txBody>
      </p:sp>
      <p:sp>
        <p:nvSpPr>
          <p:cNvPr id="14" name="Text 10"/>
          <p:cNvSpPr/>
          <p:nvPr/>
        </p:nvSpPr>
        <p:spPr>
          <a:xfrm>
            <a:off x="6263640" y="3657600"/>
            <a:ext cx="5120640" cy="1463040"/>
          </a:xfrm>
          <a:prstGeom prst="rect">
            <a:avLst/>
          </a:prstGeom>
          <a:noFill/>
          <a:ln/>
        </p:spPr>
        <p:txBody>
          <a:bodyPr wrap="square" rtlCol="0" anchor="ctr"/>
          <a:lstStyle/>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Mulai dari satu cluster besar berisi semua data</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Dipecah bertahap menjadi cluster lebih kecil</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Jarang digunakan karena lebih kompleks</a:t>
            </a:r>
            <a:endParaRPr lang="en-US" sz="1250" dirty="0"/>
          </a:p>
        </p:txBody>
      </p:sp>
      <p:sp>
        <p:nvSpPr>
          <p:cNvPr id="15" name="Text 11"/>
          <p:cNvSpPr/>
          <p:nvPr/>
        </p:nvSpPr>
        <p:spPr>
          <a:xfrm>
            <a:off x="548640" y="5440680"/>
            <a:ext cx="10972800" cy="320040"/>
          </a:xfrm>
          <a:prstGeom prst="rect">
            <a:avLst/>
          </a:prstGeom>
          <a:noFill/>
          <a:ln/>
        </p:spPr>
        <p:txBody>
          <a:bodyPr wrap="square" rtlCol="0" anchor="ctr"/>
          <a:lstStyle/>
          <a:p>
            <a:pPr indent="0" marL="0">
              <a:buNone/>
            </a:pPr>
            <a:r>
              <a:rPr lang="en-US" sz="1200" i="1" dirty="0">
                <a:solidFill>
                  <a:srgbClr val="5B6B7D"/>
                </a:solidFill>
                <a:latin typeface="Calibri" pitchFamily="34" charset="0"/>
                <a:ea typeface="Calibri" pitchFamily="34" charset="-122"/>
                <a:cs typeface="Calibri" pitchFamily="34" charset="-120"/>
              </a:rPr>
              <a:t>Ilustrasi: 5 titik data  →  bergabung bertahap  →  1 cluster besar</a:t>
            </a:r>
            <a:endParaRPr lang="en-US" sz="1200" dirty="0"/>
          </a:p>
        </p:txBody>
      </p:sp>
      <p:sp>
        <p:nvSpPr>
          <p:cNvPr id="16" name="Text 1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3</a:t>
            </a:r>
            <a:endParaRPr lang="en-US" sz="1000" dirty="0"/>
          </a:p>
        </p:txBody>
      </p:sp>
      <p:sp>
        <p:nvSpPr>
          <p:cNvPr id="17" name="Text 13"/>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Algoritma Hierarchical Clustering</a:t>
            </a:r>
            <a:endParaRPr lang="en-US" sz="3200" dirty="0"/>
          </a:p>
        </p:txBody>
      </p:sp>
      <p:sp>
        <p:nvSpPr>
          <p:cNvPr id="3" name="Shape 1"/>
          <p:cNvSpPr/>
          <p:nvPr/>
        </p:nvSpPr>
        <p:spPr>
          <a:xfrm>
            <a:off x="548640" y="160020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4" name="Shape 2"/>
          <p:cNvSpPr/>
          <p:nvPr/>
        </p:nvSpPr>
        <p:spPr>
          <a:xfrm>
            <a:off x="777240" y="1920240"/>
            <a:ext cx="548640" cy="548640"/>
          </a:xfrm>
          <a:prstGeom prst="ellipse">
            <a:avLst/>
          </a:prstGeom>
          <a:solidFill>
            <a:srgbClr val="2E6FCC"/>
          </a:solidFill>
          <a:ln/>
        </p:spPr>
      </p:sp>
      <p:sp>
        <p:nvSpPr>
          <p:cNvPr id="5" name="Text 3"/>
          <p:cNvSpPr/>
          <p:nvPr/>
        </p:nvSpPr>
        <p:spPr>
          <a:xfrm>
            <a:off x="777240"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508760" y="173736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Anggap setiap data sebagai satu cluster tersendiri</a:t>
            </a:r>
            <a:endParaRPr lang="en-US" sz="1300" dirty="0"/>
          </a:p>
        </p:txBody>
      </p:sp>
      <p:sp>
        <p:nvSpPr>
          <p:cNvPr id="7" name="Shape 5"/>
          <p:cNvSpPr/>
          <p:nvPr/>
        </p:nvSpPr>
        <p:spPr>
          <a:xfrm>
            <a:off x="6277356" y="160020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8" name="Shape 6"/>
          <p:cNvSpPr/>
          <p:nvPr/>
        </p:nvSpPr>
        <p:spPr>
          <a:xfrm>
            <a:off x="6505956" y="1920240"/>
            <a:ext cx="548640" cy="548640"/>
          </a:xfrm>
          <a:prstGeom prst="ellipse">
            <a:avLst/>
          </a:prstGeom>
          <a:solidFill>
            <a:srgbClr val="2E6FCC"/>
          </a:solidFill>
          <a:ln/>
        </p:spPr>
      </p:sp>
      <p:sp>
        <p:nvSpPr>
          <p:cNvPr id="9" name="Text 7"/>
          <p:cNvSpPr/>
          <p:nvPr/>
        </p:nvSpPr>
        <p:spPr>
          <a:xfrm>
            <a:off x="6505956"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7237476" y="173736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Hitung jarak antar seluruh pasangan cluster/data</a:t>
            </a:r>
            <a:endParaRPr lang="en-US" sz="1300" dirty="0"/>
          </a:p>
        </p:txBody>
      </p:sp>
      <p:sp>
        <p:nvSpPr>
          <p:cNvPr id="11" name="Shape 9"/>
          <p:cNvSpPr/>
          <p:nvPr/>
        </p:nvSpPr>
        <p:spPr>
          <a:xfrm>
            <a:off x="548640" y="301752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12" name="Shape 10"/>
          <p:cNvSpPr/>
          <p:nvPr/>
        </p:nvSpPr>
        <p:spPr>
          <a:xfrm>
            <a:off x="777240" y="3337560"/>
            <a:ext cx="548640" cy="548640"/>
          </a:xfrm>
          <a:prstGeom prst="ellipse">
            <a:avLst/>
          </a:prstGeom>
          <a:solidFill>
            <a:srgbClr val="2E6FCC"/>
          </a:solidFill>
          <a:ln/>
        </p:spPr>
      </p:sp>
      <p:sp>
        <p:nvSpPr>
          <p:cNvPr id="13" name="Text 11"/>
          <p:cNvSpPr/>
          <p:nvPr/>
        </p:nvSpPr>
        <p:spPr>
          <a:xfrm>
            <a:off x="777240" y="33375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508760" y="315468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Gabungkan dua cluster dengan jarak terdekat</a:t>
            </a:r>
            <a:endParaRPr lang="en-US" sz="1300" dirty="0"/>
          </a:p>
        </p:txBody>
      </p:sp>
      <p:sp>
        <p:nvSpPr>
          <p:cNvPr id="15" name="Shape 13"/>
          <p:cNvSpPr/>
          <p:nvPr/>
        </p:nvSpPr>
        <p:spPr>
          <a:xfrm>
            <a:off x="6277356" y="301752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16" name="Shape 14"/>
          <p:cNvSpPr/>
          <p:nvPr/>
        </p:nvSpPr>
        <p:spPr>
          <a:xfrm>
            <a:off x="6505956" y="3337560"/>
            <a:ext cx="548640" cy="548640"/>
          </a:xfrm>
          <a:prstGeom prst="ellipse">
            <a:avLst/>
          </a:prstGeom>
          <a:solidFill>
            <a:srgbClr val="2E6FCC"/>
          </a:solidFill>
          <a:ln/>
        </p:spPr>
      </p:sp>
      <p:sp>
        <p:nvSpPr>
          <p:cNvPr id="17" name="Text 15"/>
          <p:cNvSpPr/>
          <p:nvPr/>
        </p:nvSpPr>
        <p:spPr>
          <a:xfrm>
            <a:off x="6505956" y="33375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7237476" y="315468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Perbarui matriks jarak antar cluster</a:t>
            </a:r>
            <a:endParaRPr lang="en-US" sz="1300" dirty="0"/>
          </a:p>
        </p:txBody>
      </p:sp>
      <p:sp>
        <p:nvSpPr>
          <p:cNvPr id="19" name="Shape 17"/>
          <p:cNvSpPr/>
          <p:nvPr/>
        </p:nvSpPr>
        <p:spPr>
          <a:xfrm>
            <a:off x="548640" y="443484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20" name="Shape 18"/>
          <p:cNvSpPr/>
          <p:nvPr/>
        </p:nvSpPr>
        <p:spPr>
          <a:xfrm>
            <a:off x="777240" y="4754880"/>
            <a:ext cx="548640" cy="548640"/>
          </a:xfrm>
          <a:prstGeom prst="ellipse">
            <a:avLst/>
          </a:prstGeom>
          <a:solidFill>
            <a:srgbClr val="2E6FCC"/>
          </a:solidFill>
          <a:ln/>
        </p:spPr>
      </p:sp>
      <p:sp>
        <p:nvSpPr>
          <p:cNvPr id="21" name="Text 19"/>
          <p:cNvSpPr/>
          <p:nvPr/>
        </p:nvSpPr>
        <p:spPr>
          <a:xfrm>
            <a:off x="777240" y="475488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1508760" y="457200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Ulangi langkah 2–4 hingga tersisa satu cluster besar</a:t>
            </a:r>
            <a:endParaRPr lang="en-US" sz="1300" dirty="0"/>
          </a:p>
        </p:txBody>
      </p:sp>
      <p:sp>
        <p:nvSpPr>
          <p:cNvPr id="23" name="Shape 21"/>
          <p:cNvSpPr/>
          <p:nvPr/>
        </p:nvSpPr>
        <p:spPr>
          <a:xfrm>
            <a:off x="6277356" y="443484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24" name="Shape 22"/>
          <p:cNvSpPr/>
          <p:nvPr/>
        </p:nvSpPr>
        <p:spPr>
          <a:xfrm>
            <a:off x="6505956" y="4754880"/>
            <a:ext cx="548640" cy="548640"/>
          </a:xfrm>
          <a:prstGeom prst="ellipse">
            <a:avLst/>
          </a:prstGeom>
          <a:solidFill>
            <a:srgbClr val="2E6FCC"/>
          </a:solidFill>
          <a:ln/>
        </p:spPr>
      </p:sp>
      <p:sp>
        <p:nvSpPr>
          <p:cNvPr id="25" name="Text 23"/>
          <p:cNvSpPr/>
          <p:nvPr/>
        </p:nvSpPr>
        <p:spPr>
          <a:xfrm>
            <a:off x="6505956" y="475488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6" name="Text 24"/>
          <p:cNvSpPr/>
          <p:nvPr/>
        </p:nvSpPr>
        <p:spPr>
          <a:xfrm>
            <a:off x="7237476" y="457200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Bentuk dendrogram dari seluruh proses penggabungan</a:t>
            </a:r>
            <a:endParaRPr lang="en-US" sz="1300" dirty="0"/>
          </a:p>
        </p:txBody>
      </p:sp>
      <p:sp>
        <p:nvSpPr>
          <p:cNvPr id="27"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4</a:t>
            </a:r>
            <a:endParaRPr lang="en-US" sz="1000" dirty="0"/>
          </a:p>
        </p:txBody>
      </p:sp>
      <p:sp>
        <p:nvSpPr>
          <p:cNvPr id="28" name="Text 26"/>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Metode Pengukuran Jarak</a:t>
            </a:r>
            <a:endParaRPr lang="en-US" sz="3200" dirty="0"/>
          </a:p>
        </p:txBody>
      </p:sp>
      <p:sp>
        <p:nvSpPr>
          <p:cNvPr id="3" name="Shape 1"/>
          <p:cNvSpPr/>
          <p:nvPr/>
        </p:nvSpPr>
        <p:spPr>
          <a:xfrm>
            <a:off x="548640" y="1645920"/>
            <a:ext cx="3453384" cy="3566160"/>
          </a:xfrm>
          <a:prstGeom prst="roundRect">
            <a:avLst>
              <a:gd name="adj" fmla="val 2118"/>
            </a:avLst>
          </a:prstGeom>
          <a:solidFill>
            <a:srgbClr val="F4F6F9"/>
          </a:solidFill>
          <a:ln/>
          <a:effectLst>
            <a:outerShdw sx="100000" sy="100000" kx="0" ky="0" algn="bl" rotWithShape="0" blurRad="76200" dist="25400" dir="5400000">
              <a:srgbClr val="000000">
                <a:alpha val="8000"/>
              </a:srgbClr>
            </a:outerShdw>
          </a:effectLst>
        </p:spPr>
      </p:sp>
      <p:sp>
        <p:nvSpPr>
          <p:cNvPr id="4" name="Shape 2"/>
          <p:cNvSpPr/>
          <p:nvPr/>
        </p:nvSpPr>
        <p:spPr>
          <a:xfrm>
            <a:off x="1863852" y="1920240"/>
            <a:ext cx="822960" cy="822960"/>
          </a:xfrm>
          <a:prstGeom prst="ellipse">
            <a:avLst/>
          </a:prstGeom>
          <a:solidFill>
            <a:srgbClr val="EAF1FB"/>
          </a:solidFill>
          <a:ln/>
        </p:spPr>
      </p:sp>
      <p:pic>
        <p:nvPicPr>
          <p:cNvPr id="5" name="Image 0" descr="preencoded.png">    </p:cNvPr>
          <p:cNvPicPr>
            <a:picLocks noChangeAspect="1"/>
          </p:cNvPicPr>
          <p:nvPr/>
        </p:nvPicPr>
        <p:blipFill>
          <a:blip r:embed="rId1"/>
          <a:stretch>
            <a:fillRect/>
          </a:stretch>
        </p:blipFill>
        <p:spPr>
          <a:xfrm>
            <a:off x="1970837" y="2027225"/>
            <a:ext cx="608990" cy="608990"/>
          </a:xfrm>
          <a:prstGeom prst="rect">
            <a:avLst/>
          </a:prstGeom>
        </p:spPr>
      </p:pic>
      <p:sp>
        <p:nvSpPr>
          <p:cNvPr id="6" name="Text 3"/>
          <p:cNvSpPr/>
          <p:nvPr/>
        </p:nvSpPr>
        <p:spPr>
          <a:xfrm>
            <a:off x="731520" y="2926080"/>
            <a:ext cx="3087624" cy="548640"/>
          </a:xfrm>
          <a:prstGeom prst="rect">
            <a:avLst/>
          </a:prstGeom>
          <a:noFill/>
          <a:ln/>
        </p:spPr>
        <p:txBody>
          <a:bodyPr wrap="square" rtlCol="0" anchor="ctr"/>
          <a:lstStyle/>
          <a:p>
            <a:pPr algn="ctr" indent="0" marL="0">
              <a:buNone/>
            </a:pPr>
            <a:r>
              <a:rPr lang="en-US" sz="1500" b="1" dirty="0">
                <a:solidFill>
                  <a:srgbClr val="16305C"/>
                </a:solidFill>
                <a:latin typeface="Calibri" pitchFamily="34" charset="0"/>
                <a:ea typeface="Calibri" pitchFamily="34" charset="-122"/>
                <a:cs typeface="Calibri" pitchFamily="34" charset="-120"/>
              </a:rPr>
              <a:t>Euclidean Distance</a:t>
            </a:r>
            <a:endParaRPr lang="en-US" sz="1500" dirty="0"/>
          </a:p>
        </p:txBody>
      </p:sp>
      <p:sp>
        <p:nvSpPr>
          <p:cNvPr id="7" name="Text 4"/>
          <p:cNvSpPr/>
          <p:nvPr/>
        </p:nvSpPr>
        <p:spPr>
          <a:xfrm>
            <a:off x="777240" y="3520440"/>
            <a:ext cx="2996184" cy="1005840"/>
          </a:xfrm>
          <a:prstGeom prst="rect">
            <a:avLst/>
          </a:prstGeom>
          <a:noFill/>
          <a:ln/>
        </p:spPr>
        <p:txBody>
          <a:bodyPr wrap="square" rtlCol="0" anchor="ctr"/>
          <a:lstStyle/>
          <a:p>
            <a:pPr algn="ctr" indent="0" marL="0">
              <a:buNone/>
            </a:pPr>
            <a:r>
              <a:rPr lang="en-US" sz="1200" dirty="0">
                <a:solidFill>
                  <a:srgbClr val="22324A"/>
                </a:solidFill>
                <a:latin typeface="Calibri" pitchFamily="34" charset="0"/>
                <a:ea typeface="Calibri" pitchFamily="34" charset="-122"/>
                <a:cs typeface="Calibri" pitchFamily="34" charset="-120"/>
              </a:rPr>
              <a:t>Jarak garis lurus antar dua titik data.</a:t>
            </a:r>
            <a:endParaRPr lang="en-US" sz="1200" dirty="0"/>
          </a:p>
        </p:txBody>
      </p:sp>
      <p:sp>
        <p:nvSpPr>
          <p:cNvPr id="8" name="Shape 5"/>
          <p:cNvSpPr/>
          <p:nvPr/>
        </p:nvSpPr>
        <p:spPr>
          <a:xfrm>
            <a:off x="777240" y="4572000"/>
            <a:ext cx="2996184" cy="548640"/>
          </a:xfrm>
          <a:prstGeom prst="rect">
            <a:avLst/>
          </a:prstGeom>
          <a:solidFill>
            <a:srgbClr val="FFFFFF"/>
          </a:solidFill>
          <a:ln w="12700">
            <a:solidFill>
              <a:srgbClr val="D7DEE8"/>
            </a:solidFill>
            <a:prstDash val="solid"/>
          </a:ln>
        </p:spPr>
      </p:sp>
      <p:sp>
        <p:nvSpPr>
          <p:cNvPr id="9" name="Text 6"/>
          <p:cNvSpPr/>
          <p:nvPr/>
        </p:nvSpPr>
        <p:spPr>
          <a:xfrm>
            <a:off x="822960" y="4572000"/>
            <a:ext cx="2904744" cy="548640"/>
          </a:xfrm>
          <a:prstGeom prst="rect">
            <a:avLst/>
          </a:prstGeom>
          <a:noFill/>
          <a:ln/>
        </p:spPr>
        <p:txBody>
          <a:bodyPr wrap="square" rtlCol="0" anchor="ctr"/>
          <a:lstStyle/>
          <a:p>
            <a:pPr algn="ctr" indent="0" marL="0">
              <a:buNone/>
            </a:pPr>
            <a:r>
              <a:rPr lang="en-US" sz="1100" dirty="0">
                <a:solidFill>
                  <a:srgbClr val="2E6FCC"/>
                </a:solidFill>
                <a:latin typeface="Courier New" pitchFamily="34" charset="0"/>
                <a:ea typeface="Courier New" pitchFamily="34" charset="-122"/>
                <a:cs typeface="Courier New" pitchFamily="34" charset="-120"/>
              </a:rPr>
              <a:t>d = √((x1-x2)² + (y1-y2)²)</a:t>
            </a:r>
            <a:endParaRPr lang="en-US" sz="1100" dirty="0"/>
          </a:p>
        </p:txBody>
      </p:sp>
      <p:sp>
        <p:nvSpPr>
          <p:cNvPr id="10" name="Shape 7"/>
          <p:cNvSpPr/>
          <p:nvPr/>
        </p:nvSpPr>
        <p:spPr>
          <a:xfrm>
            <a:off x="4367784" y="1645920"/>
            <a:ext cx="3453384" cy="3566160"/>
          </a:xfrm>
          <a:prstGeom prst="roundRect">
            <a:avLst>
              <a:gd name="adj" fmla="val 2118"/>
            </a:avLst>
          </a:prstGeom>
          <a:solidFill>
            <a:srgbClr val="F4F6F9"/>
          </a:solidFill>
          <a:ln/>
          <a:effectLst>
            <a:outerShdw sx="100000" sy="100000" kx="0" ky="0" algn="bl" rotWithShape="0" blurRad="76200" dist="25400" dir="5400000">
              <a:srgbClr val="000000">
                <a:alpha val="8000"/>
              </a:srgbClr>
            </a:outerShdw>
          </a:effectLst>
        </p:spPr>
      </p:sp>
      <p:sp>
        <p:nvSpPr>
          <p:cNvPr id="11" name="Shape 8"/>
          <p:cNvSpPr/>
          <p:nvPr/>
        </p:nvSpPr>
        <p:spPr>
          <a:xfrm>
            <a:off x="5682996" y="1920240"/>
            <a:ext cx="822960" cy="822960"/>
          </a:xfrm>
          <a:prstGeom prst="ellipse">
            <a:avLst/>
          </a:prstGeom>
          <a:solidFill>
            <a:srgbClr val="EAF1FB"/>
          </a:solidFill>
          <a:ln/>
        </p:spPr>
      </p:sp>
      <p:pic>
        <p:nvPicPr>
          <p:cNvPr id="12" name="Image 1" descr="preencoded.png">    </p:cNvPr>
          <p:cNvPicPr>
            <a:picLocks noChangeAspect="1"/>
          </p:cNvPicPr>
          <p:nvPr/>
        </p:nvPicPr>
        <p:blipFill>
          <a:blip r:embed="rId2"/>
          <a:stretch>
            <a:fillRect/>
          </a:stretch>
        </p:blipFill>
        <p:spPr>
          <a:xfrm>
            <a:off x="5789981" y="2027225"/>
            <a:ext cx="608990" cy="608990"/>
          </a:xfrm>
          <a:prstGeom prst="rect">
            <a:avLst/>
          </a:prstGeom>
        </p:spPr>
      </p:pic>
      <p:sp>
        <p:nvSpPr>
          <p:cNvPr id="13" name="Text 9"/>
          <p:cNvSpPr/>
          <p:nvPr/>
        </p:nvSpPr>
        <p:spPr>
          <a:xfrm>
            <a:off x="4550664" y="2926080"/>
            <a:ext cx="3087624" cy="548640"/>
          </a:xfrm>
          <a:prstGeom prst="rect">
            <a:avLst/>
          </a:prstGeom>
          <a:noFill/>
          <a:ln/>
        </p:spPr>
        <p:txBody>
          <a:bodyPr wrap="square" rtlCol="0" anchor="ctr"/>
          <a:lstStyle/>
          <a:p>
            <a:pPr algn="ctr" indent="0" marL="0">
              <a:buNone/>
            </a:pPr>
            <a:r>
              <a:rPr lang="en-US" sz="1500" b="1" dirty="0">
                <a:solidFill>
                  <a:srgbClr val="16305C"/>
                </a:solidFill>
                <a:latin typeface="Calibri" pitchFamily="34" charset="0"/>
                <a:ea typeface="Calibri" pitchFamily="34" charset="-122"/>
                <a:cs typeface="Calibri" pitchFamily="34" charset="-120"/>
              </a:rPr>
              <a:t>Manhattan Distance</a:t>
            </a:r>
            <a:endParaRPr lang="en-US" sz="1500" dirty="0"/>
          </a:p>
        </p:txBody>
      </p:sp>
      <p:sp>
        <p:nvSpPr>
          <p:cNvPr id="14" name="Text 10"/>
          <p:cNvSpPr/>
          <p:nvPr/>
        </p:nvSpPr>
        <p:spPr>
          <a:xfrm>
            <a:off x="4596384" y="3520440"/>
            <a:ext cx="2996184" cy="1005840"/>
          </a:xfrm>
          <a:prstGeom prst="rect">
            <a:avLst/>
          </a:prstGeom>
          <a:noFill/>
          <a:ln/>
        </p:spPr>
        <p:txBody>
          <a:bodyPr wrap="square" rtlCol="0" anchor="ctr"/>
          <a:lstStyle/>
          <a:p>
            <a:pPr algn="ctr" indent="0" marL="0">
              <a:buNone/>
            </a:pPr>
            <a:r>
              <a:rPr lang="en-US" sz="1200" dirty="0">
                <a:solidFill>
                  <a:srgbClr val="22324A"/>
                </a:solidFill>
                <a:latin typeface="Calibri" pitchFamily="34" charset="0"/>
                <a:ea typeface="Calibri" pitchFamily="34" charset="-122"/>
                <a:cs typeface="Calibri" pitchFamily="34" charset="-120"/>
              </a:rPr>
              <a:t>Jarak berdasarkan selisih absolut tiap dimensi (seperti jalur grid kota).</a:t>
            </a:r>
            <a:endParaRPr lang="en-US" sz="1200" dirty="0"/>
          </a:p>
        </p:txBody>
      </p:sp>
      <p:sp>
        <p:nvSpPr>
          <p:cNvPr id="15" name="Shape 11"/>
          <p:cNvSpPr/>
          <p:nvPr/>
        </p:nvSpPr>
        <p:spPr>
          <a:xfrm>
            <a:off x="4596384" y="4572000"/>
            <a:ext cx="2996184" cy="548640"/>
          </a:xfrm>
          <a:prstGeom prst="rect">
            <a:avLst/>
          </a:prstGeom>
          <a:solidFill>
            <a:srgbClr val="FFFFFF"/>
          </a:solidFill>
          <a:ln w="12700">
            <a:solidFill>
              <a:srgbClr val="D7DEE8"/>
            </a:solidFill>
            <a:prstDash val="solid"/>
          </a:ln>
        </p:spPr>
      </p:sp>
      <p:sp>
        <p:nvSpPr>
          <p:cNvPr id="16" name="Text 12"/>
          <p:cNvSpPr/>
          <p:nvPr/>
        </p:nvSpPr>
        <p:spPr>
          <a:xfrm>
            <a:off x="4642104" y="4572000"/>
            <a:ext cx="2904744" cy="548640"/>
          </a:xfrm>
          <a:prstGeom prst="rect">
            <a:avLst/>
          </a:prstGeom>
          <a:noFill/>
          <a:ln/>
        </p:spPr>
        <p:txBody>
          <a:bodyPr wrap="square" rtlCol="0" anchor="ctr"/>
          <a:lstStyle/>
          <a:p>
            <a:pPr algn="ctr" indent="0" marL="0">
              <a:buNone/>
            </a:pPr>
            <a:r>
              <a:rPr lang="en-US" sz="1100" dirty="0">
                <a:solidFill>
                  <a:srgbClr val="2E6FCC"/>
                </a:solidFill>
                <a:latin typeface="Courier New" pitchFamily="34" charset="0"/>
                <a:ea typeface="Courier New" pitchFamily="34" charset="-122"/>
                <a:cs typeface="Courier New" pitchFamily="34" charset="-120"/>
              </a:rPr>
              <a:t>d = |x1-x2| + |y1-y2|</a:t>
            </a:r>
            <a:endParaRPr lang="en-US" sz="1100" dirty="0"/>
          </a:p>
        </p:txBody>
      </p:sp>
      <p:sp>
        <p:nvSpPr>
          <p:cNvPr id="17" name="Shape 13"/>
          <p:cNvSpPr/>
          <p:nvPr/>
        </p:nvSpPr>
        <p:spPr>
          <a:xfrm>
            <a:off x="8186928" y="1645920"/>
            <a:ext cx="3453384" cy="3566160"/>
          </a:xfrm>
          <a:prstGeom prst="roundRect">
            <a:avLst>
              <a:gd name="adj" fmla="val 2118"/>
            </a:avLst>
          </a:prstGeom>
          <a:solidFill>
            <a:srgbClr val="F4F6F9"/>
          </a:solidFill>
          <a:ln/>
          <a:effectLst>
            <a:outerShdw sx="100000" sy="100000" kx="0" ky="0" algn="bl" rotWithShape="0" blurRad="76200" dist="25400" dir="5400000">
              <a:srgbClr val="000000">
                <a:alpha val="8000"/>
              </a:srgbClr>
            </a:outerShdw>
          </a:effectLst>
        </p:spPr>
      </p:sp>
      <p:sp>
        <p:nvSpPr>
          <p:cNvPr id="18" name="Shape 14"/>
          <p:cNvSpPr/>
          <p:nvPr/>
        </p:nvSpPr>
        <p:spPr>
          <a:xfrm>
            <a:off x="9502140" y="1920240"/>
            <a:ext cx="822960" cy="822960"/>
          </a:xfrm>
          <a:prstGeom prst="ellipse">
            <a:avLst/>
          </a:prstGeom>
          <a:solidFill>
            <a:srgbClr val="EAF1FB"/>
          </a:solidFill>
          <a:ln/>
        </p:spPr>
      </p:sp>
      <p:pic>
        <p:nvPicPr>
          <p:cNvPr id="19" name="Image 2" descr="preencoded.png">    </p:cNvPr>
          <p:cNvPicPr>
            <a:picLocks noChangeAspect="1"/>
          </p:cNvPicPr>
          <p:nvPr/>
        </p:nvPicPr>
        <p:blipFill>
          <a:blip r:embed="rId3"/>
          <a:stretch>
            <a:fillRect/>
          </a:stretch>
        </p:blipFill>
        <p:spPr>
          <a:xfrm>
            <a:off x="9609125" y="2027225"/>
            <a:ext cx="608990" cy="608990"/>
          </a:xfrm>
          <a:prstGeom prst="rect">
            <a:avLst/>
          </a:prstGeom>
        </p:spPr>
      </p:pic>
      <p:sp>
        <p:nvSpPr>
          <p:cNvPr id="20" name="Text 15"/>
          <p:cNvSpPr/>
          <p:nvPr/>
        </p:nvSpPr>
        <p:spPr>
          <a:xfrm>
            <a:off x="8369808" y="2926080"/>
            <a:ext cx="3087624" cy="548640"/>
          </a:xfrm>
          <a:prstGeom prst="rect">
            <a:avLst/>
          </a:prstGeom>
          <a:noFill/>
          <a:ln/>
        </p:spPr>
        <p:txBody>
          <a:bodyPr wrap="square" rtlCol="0" anchor="ctr"/>
          <a:lstStyle/>
          <a:p>
            <a:pPr algn="ctr" indent="0" marL="0">
              <a:buNone/>
            </a:pPr>
            <a:r>
              <a:rPr lang="en-US" sz="1500" b="1" dirty="0">
                <a:solidFill>
                  <a:srgbClr val="16305C"/>
                </a:solidFill>
                <a:latin typeface="Calibri" pitchFamily="34" charset="0"/>
                <a:ea typeface="Calibri" pitchFamily="34" charset="-122"/>
                <a:cs typeface="Calibri" pitchFamily="34" charset="-120"/>
              </a:rPr>
              <a:t>Cosine Similarity</a:t>
            </a:r>
            <a:endParaRPr lang="en-US" sz="1500" dirty="0"/>
          </a:p>
        </p:txBody>
      </p:sp>
      <p:sp>
        <p:nvSpPr>
          <p:cNvPr id="21" name="Text 16"/>
          <p:cNvSpPr/>
          <p:nvPr/>
        </p:nvSpPr>
        <p:spPr>
          <a:xfrm>
            <a:off x="8415528" y="3520440"/>
            <a:ext cx="2996184" cy="1005840"/>
          </a:xfrm>
          <a:prstGeom prst="rect">
            <a:avLst/>
          </a:prstGeom>
          <a:noFill/>
          <a:ln/>
        </p:spPr>
        <p:txBody>
          <a:bodyPr wrap="square" rtlCol="0" anchor="ctr"/>
          <a:lstStyle/>
          <a:p>
            <a:pPr algn="ctr" indent="0" marL="0">
              <a:buNone/>
            </a:pPr>
            <a:r>
              <a:rPr lang="en-US" sz="1200" dirty="0">
                <a:solidFill>
                  <a:srgbClr val="22324A"/>
                </a:solidFill>
                <a:latin typeface="Calibri" pitchFamily="34" charset="0"/>
                <a:ea typeface="Calibri" pitchFamily="34" charset="-122"/>
                <a:cs typeface="Calibri" pitchFamily="34" charset="-120"/>
              </a:rPr>
              <a:t>Mengukur kemiripan arah/sudut antar dua vektor data.</a:t>
            </a:r>
            <a:endParaRPr lang="en-US" sz="1200" dirty="0"/>
          </a:p>
        </p:txBody>
      </p:sp>
      <p:sp>
        <p:nvSpPr>
          <p:cNvPr id="22" name="Shape 17"/>
          <p:cNvSpPr/>
          <p:nvPr/>
        </p:nvSpPr>
        <p:spPr>
          <a:xfrm>
            <a:off x="8415528" y="4572000"/>
            <a:ext cx="2996184" cy="548640"/>
          </a:xfrm>
          <a:prstGeom prst="rect">
            <a:avLst/>
          </a:prstGeom>
          <a:solidFill>
            <a:srgbClr val="FFFFFF"/>
          </a:solidFill>
          <a:ln w="12700">
            <a:solidFill>
              <a:srgbClr val="D7DEE8"/>
            </a:solidFill>
            <a:prstDash val="solid"/>
          </a:ln>
        </p:spPr>
      </p:sp>
      <p:sp>
        <p:nvSpPr>
          <p:cNvPr id="23" name="Text 18"/>
          <p:cNvSpPr/>
          <p:nvPr/>
        </p:nvSpPr>
        <p:spPr>
          <a:xfrm>
            <a:off x="8461248" y="4572000"/>
            <a:ext cx="2904744" cy="548640"/>
          </a:xfrm>
          <a:prstGeom prst="rect">
            <a:avLst/>
          </a:prstGeom>
          <a:noFill/>
          <a:ln/>
        </p:spPr>
        <p:txBody>
          <a:bodyPr wrap="square" rtlCol="0" anchor="ctr"/>
          <a:lstStyle/>
          <a:p>
            <a:pPr algn="ctr" indent="0" marL="0">
              <a:buNone/>
            </a:pPr>
            <a:r>
              <a:rPr lang="en-US" sz="1100" dirty="0">
                <a:solidFill>
                  <a:srgbClr val="2E6FCC"/>
                </a:solidFill>
                <a:latin typeface="Courier New" pitchFamily="34" charset="0"/>
                <a:ea typeface="Courier New" pitchFamily="34" charset="-122"/>
                <a:cs typeface="Courier New" pitchFamily="34" charset="-120"/>
              </a:rPr>
              <a:t>cos θ = (A·B) / (‖A‖‖B‖)</a:t>
            </a:r>
            <a:endParaRPr lang="en-US" sz="1100" dirty="0"/>
          </a:p>
        </p:txBody>
      </p:sp>
      <p:sp>
        <p:nvSpPr>
          <p:cNvPr id="24" name="Text 1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5</a:t>
            </a:r>
            <a:endParaRPr lang="en-US" sz="1000" dirty="0"/>
          </a:p>
        </p:txBody>
      </p:sp>
      <p:sp>
        <p:nvSpPr>
          <p:cNvPr id="25" name="Text 20"/>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Metode Linkage</a:t>
            </a:r>
            <a:endParaRPr lang="en-US" sz="3200" dirty="0"/>
          </a:p>
        </p:txBody>
      </p:sp>
      <p:sp>
        <p:nvSpPr>
          <p:cNvPr id="3" name="Shape 1"/>
          <p:cNvSpPr/>
          <p:nvPr/>
        </p:nvSpPr>
        <p:spPr>
          <a:xfrm>
            <a:off x="548640" y="1600200"/>
            <a:ext cx="11091672" cy="1051560"/>
          </a:xfrm>
          <a:prstGeom prst="roundRect">
            <a:avLst>
              <a:gd name="adj" fmla="val 6087"/>
            </a:avLst>
          </a:prstGeom>
          <a:solidFill>
            <a:srgbClr val="F4F6F9"/>
          </a:solidFill>
          <a:ln/>
        </p:spPr>
      </p:sp>
      <p:sp>
        <p:nvSpPr>
          <p:cNvPr id="4" name="Text 2"/>
          <p:cNvSpPr/>
          <p:nvPr/>
        </p:nvSpPr>
        <p:spPr>
          <a:xfrm>
            <a:off x="777240" y="1691640"/>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Single Linkage</a:t>
            </a:r>
            <a:endParaRPr lang="en-US" sz="1450" dirty="0"/>
          </a:p>
        </p:txBody>
      </p:sp>
      <p:sp>
        <p:nvSpPr>
          <p:cNvPr id="5" name="Text 3"/>
          <p:cNvSpPr/>
          <p:nvPr/>
        </p:nvSpPr>
        <p:spPr>
          <a:xfrm>
            <a:off x="3291840" y="1691640"/>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Jarak minimum antar anggota kedua cluster.</a:t>
            </a:r>
            <a:endParaRPr lang="en-US" sz="1200" dirty="0"/>
          </a:p>
        </p:txBody>
      </p:sp>
      <p:pic>
        <p:nvPicPr>
          <p:cNvPr id="6" name="Image 0" descr="preencoded.png">    </p:cNvPr>
          <p:cNvPicPr>
            <a:picLocks noChangeAspect="1"/>
          </p:cNvPicPr>
          <p:nvPr/>
        </p:nvPicPr>
        <p:blipFill>
          <a:blip r:embed="rId1"/>
          <a:stretch>
            <a:fillRect/>
          </a:stretch>
        </p:blipFill>
        <p:spPr>
          <a:xfrm>
            <a:off x="7635240" y="1911096"/>
            <a:ext cx="292608" cy="292608"/>
          </a:xfrm>
          <a:prstGeom prst="rect">
            <a:avLst/>
          </a:prstGeom>
        </p:spPr>
      </p:pic>
      <p:sp>
        <p:nvSpPr>
          <p:cNvPr id="7" name="Text 4"/>
          <p:cNvSpPr/>
          <p:nvPr/>
        </p:nvSpPr>
        <p:spPr>
          <a:xfrm>
            <a:off x="8001000" y="1691640"/>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Cepat, sederhana</a:t>
            </a:r>
            <a:endParaRPr lang="en-US" sz="1100" dirty="0"/>
          </a:p>
        </p:txBody>
      </p:sp>
      <p:pic>
        <p:nvPicPr>
          <p:cNvPr id="8" name="Image 1" descr="preencoded.png">    </p:cNvPr>
          <p:cNvPicPr>
            <a:picLocks noChangeAspect="1"/>
          </p:cNvPicPr>
          <p:nvPr/>
        </p:nvPicPr>
        <p:blipFill>
          <a:blip r:embed="rId2"/>
          <a:stretch>
            <a:fillRect/>
          </a:stretch>
        </p:blipFill>
        <p:spPr>
          <a:xfrm>
            <a:off x="9829800" y="1911096"/>
            <a:ext cx="292608" cy="292608"/>
          </a:xfrm>
          <a:prstGeom prst="rect">
            <a:avLst/>
          </a:prstGeom>
        </p:spPr>
      </p:pic>
      <p:sp>
        <p:nvSpPr>
          <p:cNvPr id="9" name="Text 5"/>
          <p:cNvSpPr/>
          <p:nvPr/>
        </p:nvSpPr>
        <p:spPr>
          <a:xfrm>
            <a:off x="10195560" y="1691640"/>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Rentan chaining effect</a:t>
            </a:r>
            <a:endParaRPr lang="en-US" sz="1100" dirty="0"/>
          </a:p>
        </p:txBody>
      </p:sp>
      <p:sp>
        <p:nvSpPr>
          <p:cNvPr id="10" name="Shape 6"/>
          <p:cNvSpPr/>
          <p:nvPr/>
        </p:nvSpPr>
        <p:spPr>
          <a:xfrm>
            <a:off x="548640" y="2807208"/>
            <a:ext cx="11091672" cy="1051560"/>
          </a:xfrm>
          <a:prstGeom prst="roundRect">
            <a:avLst>
              <a:gd name="adj" fmla="val 6087"/>
            </a:avLst>
          </a:prstGeom>
          <a:solidFill>
            <a:srgbClr val="F4F6F9"/>
          </a:solidFill>
          <a:ln/>
        </p:spPr>
      </p:sp>
      <p:sp>
        <p:nvSpPr>
          <p:cNvPr id="11" name="Text 7"/>
          <p:cNvSpPr/>
          <p:nvPr/>
        </p:nvSpPr>
        <p:spPr>
          <a:xfrm>
            <a:off x="777240" y="2898648"/>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Complete Linkage</a:t>
            </a:r>
            <a:endParaRPr lang="en-US" sz="1450" dirty="0"/>
          </a:p>
        </p:txBody>
      </p:sp>
      <p:sp>
        <p:nvSpPr>
          <p:cNvPr id="12" name="Text 8"/>
          <p:cNvSpPr/>
          <p:nvPr/>
        </p:nvSpPr>
        <p:spPr>
          <a:xfrm>
            <a:off x="3291840" y="2898648"/>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Jarak maksimum antar anggota kedua cluster.</a:t>
            </a:r>
            <a:endParaRPr lang="en-US" sz="1200" dirty="0"/>
          </a:p>
        </p:txBody>
      </p:sp>
      <p:pic>
        <p:nvPicPr>
          <p:cNvPr id="13" name="Image 2" descr="preencoded.png">    </p:cNvPr>
          <p:cNvPicPr>
            <a:picLocks noChangeAspect="1"/>
          </p:cNvPicPr>
          <p:nvPr/>
        </p:nvPicPr>
        <p:blipFill>
          <a:blip r:embed="rId3"/>
          <a:stretch>
            <a:fillRect/>
          </a:stretch>
        </p:blipFill>
        <p:spPr>
          <a:xfrm>
            <a:off x="7635240" y="3118104"/>
            <a:ext cx="292608" cy="292608"/>
          </a:xfrm>
          <a:prstGeom prst="rect">
            <a:avLst/>
          </a:prstGeom>
        </p:spPr>
      </p:pic>
      <p:sp>
        <p:nvSpPr>
          <p:cNvPr id="14" name="Text 9"/>
          <p:cNvSpPr/>
          <p:nvPr/>
        </p:nvSpPr>
        <p:spPr>
          <a:xfrm>
            <a:off x="8001000" y="2898648"/>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Cluster lebih kompak</a:t>
            </a:r>
            <a:endParaRPr lang="en-US" sz="1100" dirty="0"/>
          </a:p>
        </p:txBody>
      </p:sp>
      <p:pic>
        <p:nvPicPr>
          <p:cNvPr id="15" name="Image 3" descr="preencoded.png">    </p:cNvPr>
          <p:cNvPicPr>
            <a:picLocks noChangeAspect="1"/>
          </p:cNvPicPr>
          <p:nvPr/>
        </p:nvPicPr>
        <p:blipFill>
          <a:blip r:embed="rId4"/>
          <a:stretch>
            <a:fillRect/>
          </a:stretch>
        </p:blipFill>
        <p:spPr>
          <a:xfrm>
            <a:off x="9829800" y="3118104"/>
            <a:ext cx="292608" cy="292608"/>
          </a:xfrm>
          <a:prstGeom prst="rect">
            <a:avLst/>
          </a:prstGeom>
        </p:spPr>
      </p:pic>
      <p:sp>
        <p:nvSpPr>
          <p:cNvPr id="16" name="Text 10"/>
          <p:cNvSpPr/>
          <p:nvPr/>
        </p:nvSpPr>
        <p:spPr>
          <a:xfrm>
            <a:off x="10195560" y="2898648"/>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Sensitif terhadap outlier</a:t>
            </a:r>
            <a:endParaRPr lang="en-US" sz="1100" dirty="0"/>
          </a:p>
        </p:txBody>
      </p:sp>
      <p:sp>
        <p:nvSpPr>
          <p:cNvPr id="17" name="Shape 11"/>
          <p:cNvSpPr/>
          <p:nvPr/>
        </p:nvSpPr>
        <p:spPr>
          <a:xfrm>
            <a:off x="548640" y="4014216"/>
            <a:ext cx="11091672" cy="1051560"/>
          </a:xfrm>
          <a:prstGeom prst="roundRect">
            <a:avLst>
              <a:gd name="adj" fmla="val 6087"/>
            </a:avLst>
          </a:prstGeom>
          <a:solidFill>
            <a:srgbClr val="F4F6F9"/>
          </a:solidFill>
          <a:ln/>
        </p:spPr>
      </p:sp>
      <p:sp>
        <p:nvSpPr>
          <p:cNvPr id="18" name="Text 12"/>
          <p:cNvSpPr/>
          <p:nvPr/>
        </p:nvSpPr>
        <p:spPr>
          <a:xfrm>
            <a:off x="777240" y="4105656"/>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Average Linkage</a:t>
            </a:r>
            <a:endParaRPr lang="en-US" sz="1450" dirty="0"/>
          </a:p>
        </p:txBody>
      </p:sp>
      <p:sp>
        <p:nvSpPr>
          <p:cNvPr id="19" name="Text 13"/>
          <p:cNvSpPr/>
          <p:nvPr/>
        </p:nvSpPr>
        <p:spPr>
          <a:xfrm>
            <a:off x="3291840" y="4105656"/>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Rata-rata jarak seluruh pasangan anggota.</a:t>
            </a:r>
            <a:endParaRPr lang="en-US" sz="1200" dirty="0"/>
          </a:p>
        </p:txBody>
      </p:sp>
      <p:pic>
        <p:nvPicPr>
          <p:cNvPr id="20" name="Image 4" descr="preencoded.png">    </p:cNvPr>
          <p:cNvPicPr>
            <a:picLocks noChangeAspect="1"/>
          </p:cNvPicPr>
          <p:nvPr/>
        </p:nvPicPr>
        <p:blipFill>
          <a:blip r:embed="rId5"/>
          <a:stretch>
            <a:fillRect/>
          </a:stretch>
        </p:blipFill>
        <p:spPr>
          <a:xfrm>
            <a:off x="7635240" y="4325112"/>
            <a:ext cx="292608" cy="292608"/>
          </a:xfrm>
          <a:prstGeom prst="rect">
            <a:avLst/>
          </a:prstGeom>
        </p:spPr>
      </p:pic>
      <p:sp>
        <p:nvSpPr>
          <p:cNvPr id="21" name="Text 14"/>
          <p:cNvSpPr/>
          <p:nvPr/>
        </p:nvSpPr>
        <p:spPr>
          <a:xfrm>
            <a:off x="8001000" y="4105656"/>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Seimbang &amp; stabil</a:t>
            </a:r>
            <a:endParaRPr lang="en-US" sz="1100" dirty="0"/>
          </a:p>
        </p:txBody>
      </p:sp>
      <p:pic>
        <p:nvPicPr>
          <p:cNvPr id="22" name="Image 5" descr="preencoded.png">    </p:cNvPr>
          <p:cNvPicPr>
            <a:picLocks noChangeAspect="1"/>
          </p:cNvPicPr>
          <p:nvPr/>
        </p:nvPicPr>
        <p:blipFill>
          <a:blip r:embed="rId6"/>
          <a:stretch>
            <a:fillRect/>
          </a:stretch>
        </p:blipFill>
        <p:spPr>
          <a:xfrm>
            <a:off x="9829800" y="4325112"/>
            <a:ext cx="292608" cy="292608"/>
          </a:xfrm>
          <a:prstGeom prst="rect">
            <a:avLst/>
          </a:prstGeom>
        </p:spPr>
      </p:pic>
      <p:sp>
        <p:nvSpPr>
          <p:cNvPr id="23" name="Text 15"/>
          <p:cNvSpPr/>
          <p:nvPr/>
        </p:nvSpPr>
        <p:spPr>
          <a:xfrm>
            <a:off x="10195560" y="4105656"/>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Perhitungan lebih berat</a:t>
            </a:r>
            <a:endParaRPr lang="en-US" sz="1100" dirty="0"/>
          </a:p>
        </p:txBody>
      </p:sp>
      <p:sp>
        <p:nvSpPr>
          <p:cNvPr id="24" name="Shape 16"/>
          <p:cNvSpPr/>
          <p:nvPr/>
        </p:nvSpPr>
        <p:spPr>
          <a:xfrm>
            <a:off x="548640" y="5221224"/>
            <a:ext cx="11091672" cy="1051560"/>
          </a:xfrm>
          <a:prstGeom prst="roundRect">
            <a:avLst>
              <a:gd name="adj" fmla="val 6087"/>
            </a:avLst>
          </a:prstGeom>
          <a:solidFill>
            <a:srgbClr val="F4F6F9"/>
          </a:solidFill>
          <a:ln/>
        </p:spPr>
      </p:sp>
      <p:sp>
        <p:nvSpPr>
          <p:cNvPr id="25" name="Text 17"/>
          <p:cNvSpPr/>
          <p:nvPr/>
        </p:nvSpPr>
        <p:spPr>
          <a:xfrm>
            <a:off x="777240" y="5312664"/>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Ward Linkage</a:t>
            </a:r>
            <a:endParaRPr lang="en-US" sz="1450" dirty="0"/>
          </a:p>
        </p:txBody>
      </p:sp>
      <p:sp>
        <p:nvSpPr>
          <p:cNvPr id="26" name="Text 18"/>
          <p:cNvSpPr/>
          <p:nvPr/>
        </p:nvSpPr>
        <p:spPr>
          <a:xfrm>
            <a:off x="3291840" y="5312664"/>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Minimisasi peningkatan variansi dalam cluster.</a:t>
            </a:r>
            <a:endParaRPr lang="en-US" sz="1200" dirty="0"/>
          </a:p>
        </p:txBody>
      </p:sp>
      <p:pic>
        <p:nvPicPr>
          <p:cNvPr id="27" name="Image 6" descr="preencoded.png">    </p:cNvPr>
          <p:cNvPicPr>
            <a:picLocks noChangeAspect="1"/>
          </p:cNvPicPr>
          <p:nvPr/>
        </p:nvPicPr>
        <p:blipFill>
          <a:blip r:embed="rId7"/>
          <a:stretch>
            <a:fillRect/>
          </a:stretch>
        </p:blipFill>
        <p:spPr>
          <a:xfrm>
            <a:off x="7635240" y="5532120"/>
            <a:ext cx="292608" cy="292608"/>
          </a:xfrm>
          <a:prstGeom prst="rect">
            <a:avLst/>
          </a:prstGeom>
        </p:spPr>
      </p:pic>
      <p:sp>
        <p:nvSpPr>
          <p:cNvPr id="28" name="Text 19"/>
          <p:cNvSpPr/>
          <p:nvPr/>
        </p:nvSpPr>
        <p:spPr>
          <a:xfrm>
            <a:off x="8001000" y="5312664"/>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Cluster seimbang &amp; kompak</a:t>
            </a:r>
            <a:endParaRPr lang="en-US" sz="1100" dirty="0"/>
          </a:p>
        </p:txBody>
      </p:sp>
      <p:pic>
        <p:nvPicPr>
          <p:cNvPr id="29" name="Image 7" descr="preencoded.png">    </p:cNvPr>
          <p:cNvPicPr>
            <a:picLocks noChangeAspect="1"/>
          </p:cNvPicPr>
          <p:nvPr/>
        </p:nvPicPr>
        <p:blipFill>
          <a:blip r:embed="rId8"/>
          <a:stretch>
            <a:fillRect/>
          </a:stretch>
        </p:blipFill>
        <p:spPr>
          <a:xfrm>
            <a:off x="9829800" y="5532120"/>
            <a:ext cx="292608" cy="292608"/>
          </a:xfrm>
          <a:prstGeom prst="rect">
            <a:avLst/>
          </a:prstGeom>
        </p:spPr>
      </p:pic>
      <p:sp>
        <p:nvSpPr>
          <p:cNvPr id="30" name="Text 20"/>
          <p:cNvSpPr/>
          <p:nvPr/>
        </p:nvSpPr>
        <p:spPr>
          <a:xfrm>
            <a:off x="10195560" y="5312664"/>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Kurang cocok data non-globular</a:t>
            </a:r>
            <a:endParaRPr lang="en-US" sz="1100" dirty="0"/>
          </a:p>
        </p:txBody>
      </p:sp>
      <p:sp>
        <p:nvSpPr>
          <p:cNvPr id="31" name="Text 2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6</a:t>
            </a:r>
            <a:endParaRPr lang="en-US" sz="1000" dirty="0"/>
          </a:p>
        </p:txBody>
      </p:sp>
      <p:sp>
        <p:nvSpPr>
          <p:cNvPr id="32" name="Text 22"/>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Dendrogram</a:t>
            </a:r>
            <a:endParaRPr lang="en-US" sz="3200" dirty="0"/>
          </a:p>
        </p:txBody>
      </p:sp>
      <p:sp>
        <p:nvSpPr>
          <p:cNvPr id="3" name="Text 1"/>
          <p:cNvSpPr/>
          <p:nvPr/>
        </p:nvSpPr>
        <p:spPr>
          <a:xfrm>
            <a:off x="548640" y="1554480"/>
            <a:ext cx="4846320" cy="438912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Pengertian</a:t>
            </a:r>
            <a:endParaRPr lang="en-US" sz="1500" dirty="0"/>
          </a:p>
          <a:p>
            <a:pPr marL="342900" indent="-342900">
              <a:spcAft>
                <a:spcPts val="600"/>
              </a:spcAft>
              <a:buSzPct val="100000"/>
              <a:buChar char="•"/>
            </a:pPr>
            <a:r>
              <a:rPr lang="en-US" sz="1300" dirty="0">
                <a:solidFill>
                  <a:srgbClr val="22324A"/>
                </a:solidFill>
                <a:latin typeface="Calibri" pitchFamily="34" charset="0"/>
                <a:ea typeface="Calibri" pitchFamily="34" charset="-122"/>
                <a:cs typeface="Calibri" pitchFamily="34" charset="-120"/>
              </a:rPr>
              <a:t>Diagram pohon yang menggambarkan urutan &amp; tingkat kemiripan penggabungan cluster.</a:t>
            </a:r>
            <a:endParaRPr lang="en-US" sz="1500" dirty="0"/>
          </a:p>
          <a:p>
            <a:pPr indent="0" marL="0">
              <a:buNone/>
            </a:pPr>
            <a:r>
              <a:rPr lang="en-US" sz="1500" b="1" dirty="0">
                <a:solidFill>
                  <a:srgbClr val="16305C"/>
                </a:solidFill>
                <a:latin typeface="Calibri" pitchFamily="34" charset="0"/>
                <a:ea typeface="Calibri" pitchFamily="34" charset="-122"/>
                <a:cs typeface="Calibri" pitchFamily="34" charset="-120"/>
              </a:rPr>
              <a:t>Cara Membaca</a:t>
            </a:r>
            <a:endParaRPr lang="en-US" sz="1500" dirty="0"/>
          </a:p>
          <a:p>
            <a:pPr marL="342900" indent="-342900">
              <a:spcAft>
                <a:spcPts val="400"/>
              </a:spcAft>
              <a:buSzPct val="100000"/>
              <a:buChar char="•"/>
            </a:pPr>
            <a:r>
              <a:rPr lang="en-US" sz="1300" dirty="0">
                <a:solidFill>
                  <a:srgbClr val="22324A"/>
                </a:solidFill>
                <a:latin typeface="Calibri" pitchFamily="34" charset="0"/>
                <a:ea typeface="Calibri" pitchFamily="34" charset="-122"/>
                <a:cs typeface="Calibri" pitchFamily="34" charset="-120"/>
              </a:rPr>
              <a:t>Sumbu vertikal = jarak (dissimilarity) saat cluster digabung</a:t>
            </a:r>
            <a:endParaRPr lang="en-US" sz="1500" dirty="0"/>
          </a:p>
          <a:p>
            <a:pPr marL="342900" indent="-342900">
              <a:spcAft>
                <a:spcPts val="400"/>
              </a:spcAft>
              <a:buSzPct val="100000"/>
              <a:buChar char="•"/>
            </a:pPr>
            <a:r>
              <a:rPr lang="en-US" sz="1300" dirty="0">
                <a:solidFill>
                  <a:srgbClr val="22324A"/>
                </a:solidFill>
                <a:latin typeface="Calibri" pitchFamily="34" charset="0"/>
                <a:ea typeface="Calibri" pitchFamily="34" charset="-122"/>
                <a:cs typeface="Calibri" pitchFamily="34" charset="-120"/>
              </a:rPr>
              <a:t>Sumbu horizontal = objek data / cluster</a:t>
            </a:r>
            <a:endParaRPr lang="en-US" sz="1500" dirty="0"/>
          </a:p>
          <a:p>
            <a:pPr marL="342900" indent="-342900">
              <a:buSzPct val="100000"/>
              <a:buChar char="•"/>
            </a:pPr>
            <a:r>
              <a:rPr lang="en-US" sz="1300" dirty="0">
                <a:solidFill>
                  <a:srgbClr val="22324A"/>
                </a:solidFill>
                <a:latin typeface="Calibri" pitchFamily="34" charset="0"/>
                <a:ea typeface="Calibri" pitchFamily="34" charset="-122"/>
                <a:cs typeface="Calibri" pitchFamily="34" charset="-120"/>
              </a:rPr>
              <a:t>Garis potong (cut) pada ketinggian tertentu menentukan jumlah cluster</a:t>
            </a:r>
            <a:endParaRPr lang="en-US" sz="1500" dirty="0"/>
          </a:p>
        </p:txBody>
      </p:sp>
      <p:sp>
        <p:nvSpPr>
          <p:cNvPr id="4" name="Shape 2"/>
          <p:cNvSpPr/>
          <p:nvPr/>
        </p:nvSpPr>
        <p:spPr>
          <a:xfrm>
            <a:off x="5852160" y="1828800"/>
            <a:ext cx="5760720" cy="3931920"/>
          </a:xfrm>
          <a:prstGeom prst="roundRect">
            <a:avLst>
              <a:gd name="adj" fmla="val 1395"/>
            </a:avLst>
          </a:prstGeom>
          <a:solidFill>
            <a:srgbClr val="F4F6F9"/>
          </a:solidFill>
          <a:ln/>
        </p:spPr>
      </p:sp>
      <p:sp>
        <p:nvSpPr>
          <p:cNvPr id="5" name="Shape 3"/>
          <p:cNvSpPr/>
          <p:nvPr/>
        </p:nvSpPr>
        <p:spPr>
          <a:xfrm>
            <a:off x="6400800" y="5303520"/>
            <a:ext cx="0" cy="320040"/>
          </a:xfrm>
          <a:prstGeom prst="line">
            <a:avLst/>
          </a:prstGeom>
          <a:noFill/>
          <a:ln w="25400">
            <a:solidFill>
              <a:srgbClr val="2E6FCC"/>
            </a:solidFill>
            <a:prstDash val="solid"/>
          </a:ln>
        </p:spPr>
      </p:sp>
      <p:sp>
        <p:nvSpPr>
          <p:cNvPr id="6" name="Shape 4"/>
          <p:cNvSpPr/>
          <p:nvPr/>
        </p:nvSpPr>
        <p:spPr>
          <a:xfrm>
            <a:off x="6345936" y="5623560"/>
            <a:ext cx="109728" cy="109728"/>
          </a:xfrm>
          <a:prstGeom prst="ellipse">
            <a:avLst/>
          </a:prstGeom>
          <a:solidFill>
            <a:srgbClr val="16305C"/>
          </a:solidFill>
          <a:ln/>
        </p:spPr>
      </p:sp>
      <p:sp>
        <p:nvSpPr>
          <p:cNvPr id="7" name="Shape 5"/>
          <p:cNvSpPr/>
          <p:nvPr/>
        </p:nvSpPr>
        <p:spPr>
          <a:xfrm>
            <a:off x="7223760" y="5303520"/>
            <a:ext cx="0" cy="320040"/>
          </a:xfrm>
          <a:prstGeom prst="line">
            <a:avLst/>
          </a:prstGeom>
          <a:noFill/>
          <a:ln w="25400">
            <a:solidFill>
              <a:srgbClr val="2E6FCC"/>
            </a:solidFill>
            <a:prstDash val="solid"/>
          </a:ln>
        </p:spPr>
      </p:sp>
      <p:sp>
        <p:nvSpPr>
          <p:cNvPr id="8" name="Shape 6"/>
          <p:cNvSpPr/>
          <p:nvPr/>
        </p:nvSpPr>
        <p:spPr>
          <a:xfrm>
            <a:off x="7168896" y="5623560"/>
            <a:ext cx="109728" cy="109728"/>
          </a:xfrm>
          <a:prstGeom prst="ellipse">
            <a:avLst/>
          </a:prstGeom>
          <a:solidFill>
            <a:srgbClr val="16305C"/>
          </a:solidFill>
          <a:ln/>
        </p:spPr>
      </p:sp>
      <p:sp>
        <p:nvSpPr>
          <p:cNvPr id="9" name="Shape 7"/>
          <p:cNvSpPr/>
          <p:nvPr/>
        </p:nvSpPr>
        <p:spPr>
          <a:xfrm>
            <a:off x="8046720" y="5303520"/>
            <a:ext cx="0" cy="320040"/>
          </a:xfrm>
          <a:prstGeom prst="line">
            <a:avLst/>
          </a:prstGeom>
          <a:noFill/>
          <a:ln w="25400">
            <a:solidFill>
              <a:srgbClr val="2E6FCC"/>
            </a:solidFill>
            <a:prstDash val="solid"/>
          </a:ln>
        </p:spPr>
      </p:sp>
      <p:sp>
        <p:nvSpPr>
          <p:cNvPr id="10" name="Shape 8"/>
          <p:cNvSpPr/>
          <p:nvPr/>
        </p:nvSpPr>
        <p:spPr>
          <a:xfrm>
            <a:off x="7991856" y="5623560"/>
            <a:ext cx="109728" cy="109728"/>
          </a:xfrm>
          <a:prstGeom prst="ellipse">
            <a:avLst/>
          </a:prstGeom>
          <a:solidFill>
            <a:srgbClr val="16305C"/>
          </a:solidFill>
          <a:ln/>
        </p:spPr>
      </p:sp>
      <p:sp>
        <p:nvSpPr>
          <p:cNvPr id="11" name="Shape 9"/>
          <p:cNvSpPr/>
          <p:nvPr/>
        </p:nvSpPr>
        <p:spPr>
          <a:xfrm>
            <a:off x="8869680" y="5303520"/>
            <a:ext cx="0" cy="320040"/>
          </a:xfrm>
          <a:prstGeom prst="line">
            <a:avLst/>
          </a:prstGeom>
          <a:noFill/>
          <a:ln w="25400">
            <a:solidFill>
              <a:srgbClr val="2E6FCC"/>
            </a:solidFill>
            <a:prstDash val="solid"/>
          </a:ln>
        </p:spPr>
      </p:sp>
      <p:sp>
        <p:nvSpPr>
          <p:cNvPr id="12" name="Shape 10"/>
          <p:cNvSpPr/>
          <p:nvPr/>
        </p:nvSpPr>
        <p:spPr>
          <a:xfrm>
            <a:off x="8814816" y="5623560"/>
            <a:ext cx="109728" cy="109728"/>
          </a:xfrm>
          <a:prstGeom prst="ellipse">
            <a:avLst/>
          </a:prstGeom>
          <a:solidFill>
            <a:srgbClr val="16305C"/>
          </a:solidFill>
          <a:ln/>
        </p:spPr>
      </p:sp>
      <p:sp>
        <p:nvSpPr>
          <p:cNvPr id="13" name="Shape 11"/>
          <p:cNvSpPr/>
          <p:nvPr/>
        </p:nvSpPr>
        <p:spPr>
          <a:xfrm>
            <a:off x="9692640" y="5303520"/>
            <a:ext cx="0" cy="320040"/>
          </a:xfrm>
          <a:prstGeom prst="line">
            <a:avLst/>
          </a:prstGeom>
          <a:noFill/>
          <a:ln w="25400">
            <a:solidFill>
              <a:srgbClr val="2E6FCC"/>
            </a:solidFill>
            <a:prstDash val="solid"/>
          </a:ln>
        </p:spPr>
      </p:sp>
      <p:sp>
        <p:nvSpPr>
          <p:cNvPr id="14" name="Shape 12"/>
          <p:cNvSpPr/>
          <p:nvPr/>
        </p:nvSpPr>
        <p:spPr>
          <a:xfrm>
            <a:off x="9637776" y="5623560"/>
            <a:ext cx="109728" cy="109728"/>
          </a:xfrm>
          <a:prstGeom prst="ellipse">
            <a:avLst/>
          </a:prstGeom>
          <a:solidFill>
            <a:srgbClr val="16305C"/>
          </a:solidFill>
          <a:ln/>
        </p:spPr>
      </p:sp>
      <p:sp>
        <p:nvSpPr>
          <p:cNvPr id="15" name="Shape 13"/>
          <p:cNvSpPr/>
          <p:nvPr/>
        </p:nvSpPr>
        <p:spPr>
          <a:xfrm>
            <a:off x="10515600" y="5303520"/>
            <a:ext cx="0" cy="320040"/>
          </a:xfrm>
          <a:prstGeom prst="line">
            <a:avLst/>
          </a:prstGeom>
          <a:noFill/>
          <a:ln w="25400">
            <a:solidFill>
              <a:srgbClr val="2E6FCC"/>
            </a:solidFill>
            <a:prstDash val="solid"/>
          </a:ln>
        </p:spPr>
      </p:sp>
      <p:sp>
        <p:nvSpPr>
          <p:cNvPr id="16" name="Shape 14"/>
          <p:cNvSpPr/>
          <p:nvPr/>
        </p:nvSpPr>
        <p:spPr>
          <a:xfrm>
            <a:off x="10460736" y="5623560"/>
            <a:ext cx="109728" cy="109728"/>
          </a:xfrm>
          <a:prstGeom prst="ellipse">
            <a:avLst/>
          </a:prstGeom>
          <a:solidFill>
            <a:srgbClr val="16305C"/>
          </a:solidFill>
          <a:ln/>
        </p:spPr>
      </p:sp>
      <p:sp>
        <p:nvSpPr>
          <p:cNvPr id="17" name="Shape 15"/>
          <p:cNvSpPr/>
          <p:nvPr/>
        </p:nvSpPr>
        <p:spPr>
          <a:xfrm>
            <a:off x="6400800" y="4846320"/>
            <a:ext cx="822960" cy="0"/>
          </a:xfrm>
          <a:prstGeom prst="line">
            <a:avLst/>
          </a:prstGeom>
          <a:noFill/>
          <a:ln w="25400">
            <a:solidFill>
              <a:srgbClr val="2E6FCC"/>
            </a:solidFill>
            <a:prstDash val="solid"/>
          </a:ln>
        </p:spPr>
      </p:sp>
      <p:sp>
        <p:nvSpPr>
          <p:cNvPr id="18" name="Shape 16"/>
          <p:cNvSpPr/>
          <p:nvPr/>
        </p:nvSpPr>
        <p:spPr>
          <a:xfrm>
            <a:off x="6812280" y="4846320"/>
            <a:ext cx="0" cy="457200"/>
          </a:xfrm>
          <a:prstGeom prst="line">
            <a:avLst/>
          </a:prstGeom>
          <a:noFill/>
          <a:ln w="25400">
            <a:solidFill>
              <a:srgbClr val="2E6FCC"/>
            </a:solidFill>
            <a:prstDash val="solid"/>
          </a:ln>
        </p:spPr>
      </p:sp>
      <p:sp>
        <p:nvSpPr>
          <p:cNvPr id="19" name="Shape 17"/>
          <p:cNvSpPr/>
          <p:nvPr/>
        </p:nvSpPr>
        <p:spPr>
          <a:xfrm>
            <a:off x="8046720" y="4846320"/>
            <a:ext cx="822960" cy="0"/>
          </a:xfrm>
          <a:prstGeom prst="line">
            <a:avLst/>
          </a:prstGeom>
          <a:noFill/>
          <a:ln w="25400">
            <a:solidFill>
              <a:srgbClr val="2E6FCC"/>
            </a:solidFill>
            <a:prstDash val="solid"/>
          </a:ln>
        </p:spPr>
      </p:sp>
      <p:sp>
        <p:nvSpPr>
          <p:cNvPr id="20" name="Shape 18"/>
          <p:cNvSpPr/>
          <p:nvPr/>
        </p:nvSpPr>
        <p:spPr>
          <a:xfrm>
            <a:off x="8458200" y="4846320"/>
            <a:ext cx="0" cy="457200"/>
          </a:xfrm>
          <a:prstGeom prst="line">
            <a:avLst/>
          </a:prstGeom>
          <a:noFill/>
          <a:ln w="25400">
            <a:solidFill>
              <a:srgbClr val="2E6FCC"/>
            </a:solidFill>
            <a:prstDash val="solid"/>
          </a:ln>
        </p:spPr>
      </p:sp>
      <p:sp>
        <p:nvSpPr>
          <p:cNvPr id="21" name="Shape 19"/>
          <p:cNvSpPr/>
          <p:nvPr/>
        </p:nvSpPr>
        <p:spPr>
          <a:xfrm>
            <a:off x="9692640" y="4846320"/>
            <a:ext cx="822960" cy="0"/>
          </a:xfrm>
          <a:prstGeom prst="line">
            <a:avLst/>
          </a:prstGeom>
          <a:noFill/>
          <a:ln w="25400">
            <a:solidFill>
              <a:srgbClr val="2E6FCC"/>
            </a:solidFill>
            <a:prstDash val="solid"/>
          </a:ln>
        </p:spPr>
      </p:sp>
      <p:sp>
        <p:nvSpPr>
          <p:cNvPr id="22" name="Shape 20"/>
          <p:cNvSpPr/>
          <p:nvPr/>
        </p:nvSpPr>
        <p:spPr>
          <a:xfrm>
            <a:off x="10104120" y="4846320"/>
            <a:ext cx="0" cy="457200"/>
          </a:xfrm>
          <a:prstGeom prst="line">
            <a:avLst/>
          </a:prstGeom>
          <a:noFill/>
          <a:ln w="25400">
            <a:solidFill>
              <a:srgbClr val="2E6FCC"/>
            </a:solidFill>
            <a:prstDash val="solid"/>
          </a:ln>
        </p:spPr>
      </p:sp>
      <p:sp>
        <p:nvSpPr>
          <p:cNvPr id="23" name="Shape 21"/>
          <p:cNvSpPr/>
          <p:nvPr/>
        </p:nvSpPr>
        <p:spPr>
          <a:xfrm>
            <a:off x="6812280" y="4206240"/>
            <a:ext cx="1645920" cy="0"/>
          </a:xfrm>
          <a:prstGeom prst="line">
            <a:avLst/>
          </a:prstGeom>
          <a:noFill/>
          <a:ln w="25400">
            <a:solidFill>
              <a:srgbClr val="2E6FCC"/>
            </a:solidFill>
            <a:prstDash val="solid"/>
          </a:ln>
        </p:spPr>
      </p:sp>
      <p:sp>
        <p:nvSpPr>
          <p:cNvPr id="24" name="Shape 22"/>
          <p:cNvSpPr/>
          <p:nvPr/>
        </p:nvSpPr>
        <p:spPr>
          <a:xfrm>
            <a:off x="7635240" y="4206240"/>
            <a:ext cx="0" cy="640080"/>
          </a:xfrm>
          <a:prstGeom prst="line">
            <a:avLst/>
          </a:prstGeom>
          <a:noFill/>
          <a:ln w="25400">
            <a:solidFill>
              <a:srgbClr val="2E6FCC"/>
            </a:solidFill>
            <a:prstDash val="solid"/>
          </a:ln>
        </p:spPr>
      </p:sp>
      <p:sp>
        <p:nvSpPr>
          <p:cNvPr id="25" name="Shape 23"/>
          <p:cNvSpPr/>
          <p:nvPr/>
        </p:nvSpPr>
        <p:spPr>
          <a:xfrm>
            <a:off x="10104120" y="4206240"/>
            <a:ext cx="0" cy="640080"/>
          </a:xfrm>
          <a:prstGeom prst="line">
            <a:avLst/>
          </a:prstGeom>
          <a:noFill/>
          <a:ln w="25400">
            <a:solidFill>
              <a:srgbClr val="2E6FCC"/>
            </a:solidFill>
            <a:prstDash val="solid"/>
          </a:ln>
        </p:spPr>
      </p:sp>
      <p:sp>
        <p:nvSpPr>
          <p:cNvPr id="26" name="Shape 24"/>
          <p:cNvSpPr/>
          <p:nvPr/>
        </p:nvSpPr>
        <p:spPr>
          <a:xfrm>
            <a:off x="7635240" y="3566160"/>
            <a:ext cx="2468880" cy="0"/>
          </a:xfrm>
          <a:prstGeom prst="line">
            <a:avLst/>
          </a:prstGeom>
          <a:noFill/>
          <a:ln w="25400">
            <a:solidFill>
              <a:srgbClr val="2E6FCC"/>
            </a:solidFill>
            <a:prstDash val="solid"/>
          </a:ln>
        </p:spPr>
      </p:sp>
      <p:sp>
        <p:nvSpPr>
          <p:cNvPr id="27" name="Shape 25"/>
          <p:cNvSpPr/>
          <p:nvPr/>
        </p:nvSpPr>
        <p:spPr>
          <a:xfrm>
            <a:off x="8869680" y="3566160"/>
            <a:ext cx="0" cy="640080"/>
          </a:xfrm>
          <a:prstGeom prst="line">
            <a:avLst/>
          </a:prstGeom>
          <a:noFill/>
          <a:ln w="25400">
            <a:solidFill>
              <a:srgbClr val="2E6FCC"/>
            </a:solidFill>
            <a:prstDash val="solid"/>
          </a:ln>
        </p:spPr>
      </p:sp>
      <p:sp>
        <p:nvSpPr>
          <p:cNvPr id="28" name="Shape 26"/>
          <p:cNvSpPr/>
          <p:nvPr/>
        </p:nvSpPr>
        <p:spPr>
          <a:xfrm>
            <a:off x="8869680" y="3291840"/>
            <a:ext cx="0" cy="274320"/>
          </a:xfrm>
          <a:prstGeom prst="line">
            <a:avLst/>
          </a:prstGeom>
          <a:noFill/>
          <a:ln w="25400">
            <a:solidFill>
              <a:srgbClr val="2E6FCC"/>
            </a:solidFill>
            <a:prstDash val="solid"/>
          </a:ln>
        </p:spPr>
      </p:sp>
      <p:sp>
        <p:nvSpPr>
          <p:cNvPr id="29" name="Shape 27"/>
          <p:cNvSpPr/>
          <p:nvPr/>
        </p:nvSpPr>
        <p:spPr>
          <a:xfrm>
            <a:off x="6126480" y="4983480"/>
            <a:ext cx="5212080" cy="0"/>
          </a:xfrm>
          <a:prstGeom prst="line">
            <a:avLst/>
          </a:prstGeom>
          <a:noFill/>
          <a:ln w="19050">
            <a:solidFill>
              <a:srgbClr val="C0392B"/>
            </a:solidFill>
            <a:prstDash val="dash"/>
          </a:ln>
        </p:spPr>
      </p:sp>
      <p:sp>
        <p:nvSpPr>
          <p:cNvPr id="30" name="Text 28"/>
          <p:cNvSpPr/>
          <p:nvPr/>
        </p:nvSpPr>
        <p:spPr>
          <a:xfrm>
            <a:off x="6126480" y="5029200"/>
            <a:ext cx="2926080" cy="274320"/>
          </a:xfrm>
          <a:prstGeom prst="rect">
            <a:avLst/>
          </a:prstGeom>
          <a:noFill/>
          <a:ln/>
        </p:spPr>
        <p:txBody>
          <a:bodyPr wrap="square" rtlCol="0" anchor="ctr"/>
          <a:lstStyle/>
          <a:p>
            <a:pPr indent="0" marL="0">
              <a:buNone/>
            </a:pPr>
            <a:r>
              <a:rPr lang="en-US" sz="1000" i="1" dirty="0">
                <a:solidFill>
                  <a:srgbClr val="C0392B"/>
                </a:solidFill>
                <a:latin typeface="Calibri" pitchFamily="34" charset="0"/>
                <a:ea typeface="Calibri" pitchFamily="34" charset="-122"/>
                <a:cs typeface="Calibri" pitchFamily="34" charset="-120"/>
              </a:rPr>
              <a:t>Garis potong → 3 cluster</a:t>
            </a:r>
            <a:endParaRPr lang="en-US" sz="1000" dirty="0"/>
          </a:p>
        </p:txBody>
      </p:sp>
      <p:sp>
        <p:nvSpPr>
          <p:cNvPr id="31" name="Text 2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7</a:t>
            </a:r>
            <a:endParaRPr lang="en-US" sz="1000" dirty="0"/>
          </a:p>
        </p:txBody>
      </p:sp>
      <p:sp>
        <p:nvSpPr>
          <p:cNvPr id="32" name="Text 30"/>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Dataset</a:t>
            </a:r>
            <a:endParaRPr lang="en-US" sz="3200" dirty="0"/>
          </a:p>
        </p:txBody>
      </p:sp>
      <p:sp>
        <p:nvSpPr>
          <p:cNvPr id="3" name="Text 1"/>
          <p:cNvSpPr/>
          <p:nvPr/>
        </p:nvSpPr>
        <p:spPr>
          <a:xfrm>
            <a:off x="548640" y="1005840"/>
            <a:ext cx="11091672" cy="365760"/>
          </a:xfrm>
          <a:prstGeom prst="rect">
            <a:avLst/>
          </a:prstGeom>
          <a:noFill/>
          <a:ln/>
        </p:spPr>
        <p:txBody>
          <a:bodyPr wrap="square" rtlCol="0" anchor="ctr"/>
          <a:lstStyle/>
          <a:p>
            <a:pPr indent="0" marL="0">
              <a:buNone/>
            </a:pPr>
            <a:r>
              <a:rPr lang="en-US" sz="1500" i="1" dirty="0">
                <a:solidFill>
                  <a:srgbClr val="5B6B7D"/>
                </a:solidFill>
                <a:latin typeface="Calibri" pitchFamily="34" charset="0"/>
                <a:ea typeface="Calibri" pitchFamily="34" charset="-122"/>
                <a:cs typeface="Calibri" pitchFamily="34" charset="-120"/>
              </a:rPr>
              <a:t>Iris Dataset</a:t>
            </a:r>
            <a:endParaRPr lang="en-US" sz="1500" dirty="0"/>
          </a:p>
        </p:txBody>
      </p:sp>
      <p:sp>
        <p:nvSpPr>
          <p:cNvPr id="4" name="Shape 2"/>
          <p:cNvSpPr/>
          <p:nvPr/>
        </p:nvSpPr>
        <p:spPr>
          <a:xfrm>
            <a:off x="548640" y="1645920"/>
            <a:ext cx="3657600" cy="3657600"/>
          </a:xfrm>
          <a:prstGeom prst="roundRect">
            <a:avLst>
              <a:gd name="adj" fmla="val 2000"/>
            </a:avLst>
          </a:prstGeom>
          <a:solidFill>
            <a:srgbClr val="EAF1FB"/>
          </a:solidFill>
          <a:ln/>
        </p:spPr>
      </p:sp>
      <p:sp>
        <p:nvSpPr>
          <p:cNvPr id="5" name="Shape 3"/>
          <p:cNvSpPr/>
          <p:nvPr/>
        </p:nvSpPr>
        <p:spPr>
          <a:xfrm>
            <a:off x="1965960" y="1965960"/>
            <a:ext cx="1188720" cy="11887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2120494" y="2120494"/>
            <a:ext cx="879653" cy="879653"/>
          </a:xfrm>
          <a:prstGeom prst="rect">
            <a:avLst/>
          </a:prstGeom>
        </p:spPr>
      </p:pic>
      <p:sp>
        <p:nvSpPr>
          <p:cNvPr id="7" name="Text 4"/>
          <p:cNvSpPr/>
          <p:nvPr/>
        </p:nvSpPr>
        <p:spPr>
          <a:xfrm>
            <a:off x="731520" y="3337560"/>
            <a:ext cx="3291840" cy="365760"/>
          </a:xfrm>
          <a:prstGeom prst="rect">
            <a:avLst/>
          </a:prstGeom>
          <a:noFill/>
          <a:ln/>
        </p:spPr>
        <p:txBody>
          <a:bodyPr wrap="square" rtlCol="0" anchor="ctr"/>
          <a:lstStyle/>
          <a:p>
            <a:pPr algn="ctr" indent="0" marL="0">
              <a:buNone/>
            </a:pPr>
            <a:r>
              <a:rPr lang="en-US" sz="1600" b="1" dirty="0">
                <a:solidFill>
                  <a:srgbClr val="16305C"/>
                </a:solidFill>
                <a:latin typeface="Calibri" pitchFamily="34" charset="0"/>
                <a:ea typeface="Calibri" pitchFamily="34" charset="-122"/>
                <a:cs typeface="Calibri" pitchFamily="34" charset="-120"/>
              </a:rPr>
              <a:t>Iris Dataset</a:t>
            </a:r>
            <a:endParaRPr lang="en-US" sz="1600" dirty="0"/>
          </a:p>
        </p:txBody>
      </p:sp>
      <p:sp>
        <p:nvSpPr>
          <p:cNvPr id="8" name="Text 5"/>
          <p:cNvSpPr/>
          <p:nvPr/>
        </p:nvSpPr>
        <p:spPr>
          <a:xfrm>
            <a:off x="777240" y="3749040"/>
            <a:ext cx="3200400" cy="1280160"/>
          </a:xfrm>
          <a:prstGeom prst="rect">
            <a:avLst/>
          </a:prstGeom>
          <a:noFill/>
          <a:ln/>
        </p:spPr>
        <p:txBody>
          <a:bodyPr wrap="square" rtlCol="0" anchor="ctr"/>
          <a:lstStyle/>
          <a:p>
            <a:pPr algn="ctr" indent="0" marL="0">
              <a:buNone/>
            </a:pPr>
            <a:r>
              <a:rPr lang="en-US" sz="1150" dirty="0">
                <a:solidFill>
                  <a:srgbClr val="22324A"/>
                </a:solidFill>
                <a:latin typeface="Calibri" pitchFamily="34" charset="0"/>
                <a:ea typeface="Calibri" pitchFamily="34" charset="-122"/>
                <a:cs typeface="Calibri" pitchFamily="34" charset="-120"/>
              </a:rPr>
              <a:t>Dataset klasik bunga Iris untuk studi klasifikasi &amp; clustering</a:t>
            </a:r>
            <a:endParaRPr lang="en-US" sz="1150" dirty="0"/>
          </a:p>
        </p:txBody>
      </p:sp>
      <p:sp>
        <p:nvSpPr>
          <p:cNvPr id="9" name="Shape 6"/>
          <p:cNvSpPr/>
          <p:nvPr/>
        </p:nvSpPr>
        <p:spPr>
          <a:xfrm>
            <a:off x="4572000" y="1691640"/>
            <a:ext cx="7040880" cy="841248"/>
          </a:xfrm>
          <a:prstGeom prst="roundRect">
            <a:avLst>
              <a:gd name="adj" fmla="val 6522"/>
            </a:avLst>
          </a:prstGeom>
          <a:solidFill>
            <a:srgbClr val="F4F6F9"/>
          </a:solidFill>
          <a:ln/>
        </p:spPr>
      </p:sp>
      <p:sp>
        <p:nvSpPr>
          <p:cNvPr id="10" name="Text 7"/>
          <p:cNvSpPr/>
          <p:nvPr/>
        </p:nvSpPr>
        <p:spPr>
          <a:xfrm>
            <a:off x="4800600" y="1764792"/>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Jumlah Data</a:t>
            </a:r>
            <a:endParaRPr lang="en-US" sz="1250" dirty="0"/>
          </a:p>
        </p:txBody>
      </p:sp>
      <p:sp>
        <p:nvSpPr>
          <p:cNvPr id="11" name="Text 8"/>
          <p:cNvSpPr/>
          <p:nvPr/>
        </p:nvSpPr>
        <p:spPr>
          <a:xfrm>
            <a:off x="6766560" y="1764792"/>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150 sampel bunga Iris</a:t>
            </a:r>
            <a:endParaRPr lang="en-US" sz="1200" dirty="0"/>
          </a:p>
        </p:txBody>
      </p:sp>
      <p:sp>
        <p:nvSpPr>
          <p:cNvPr id="12" name="Shape 9"/>
          <p:cNvSpPr/>
          <p:nvPr/>
        </p:nvSpPr>
        <p:spPr>
          <a:xfrm>
            <a:off x="4572000" y="2624328"/>
            <a:ext cx="7040880" cy="841248"/>
          </a:xfrm>
          <a:prstGeom prst="roundRect">
            <a:avLst>
              <a:gd name="adj" fmla="val 6522"/>
            </a:avLst>
          </a:prstGeom>
          <a:solidFill>
            <a:srgbClr val="F4F6F9"/>
          </a:solidFill>
          <a:ln/>
        </p:spPr>
      </p:sp>
      <p:sp>
        <p:nvSpPr>
          <p:cNvPr id="13" name="Text 10"/>
          <p:cNvSpPr/>
          <p:nvPr/>
        </p:nvSpPr>
        <p:spPr>
          <a:xfrm>
            <a:off x="4800600" y="2697480"/>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Jumlah Atribut</a:t>
            </a:r>
            <a:endParaRPr lang="en-US" sz="1250" dirty="0"/>
          </a:p>
        </p:txBody>
      </p:sp>
      <p:sp>
        <p:nvSpPr>
          <p:cNvPr id="14" name="Text 11"/>
          <p:cNvSpPr/>
          <p:nvPr/>
        </p:nvSpPr>
        <p:spPr>
          <a:xfrm>
            <a:off x="6766560" y="2697480"/>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4 atribut numerik</a:t>
            </a:r>
            <a:endParaRPr lang="en-US" sz="1200" dirty="0"/>
          </a:p>
        </p:txBody>
      </p:sp>
      <p:sp>
        <p:nvSpPr>
          <p:cNvPr id="15" name="Shape 12"/>
          <p:cNvSpPr/>
          <p:nvPr/>
        </p:nvSpPr>
        <p:spPr>
          <a:xfrm>
            <a:off x="4572000" y="3557016"/>
            <a:ext cx="7040880" cy="841248"/>
          </a:xfrm>
          <a:prstGeom prst="roundRect">
            <a:avLst>
              <a:gd name="adj" fmla="val 6522"/>
            </a:avLst>
          </a:prstGeom>
          <a:solidFill>
            <a:srgbClr val="F4F6F9"/>
          </a:solidFill>
          <a:ln/>
        </p:spPr>
      </p:sp>
      <p:sp>
        <p:nvSpPr>
          <p:cNvPr id="16" name="Text 13"/>
          <p:cNvSpPr/>
          <p:nvPr/>
        </p:nvSpPr>
        <p:spPr>
          <a:xfrm>
            <a:off x="4800600" y="3630168"/>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Nama Atribut</a:t>
            </a:r>
            <a:endParaRPr lang="en-US" sz="1250" dirty="0"/>
          </a:p>
        </p:txBody>
      </p:sp>
      <p:sp>
        <p:nvSpPr>
          <p:cNvPr id="17" name="Text 14"/>
          <p:cNvSpPr/>
          <p:nvPr/>
        </p:nvSpPr>
        <p:spPr>
          <a:xfrm>
            <a:off x="6766560" y="3630168"/>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Sepal length, sepal width, petal length, petal width</a:t>
            </a:r>
            <a:endParaRPr lang="en-US" sz="1200" dirty="0"/>
          </a:p>
        </p:txBody>
      </p:sp>
      <p:sp>
        <p:nvSpPr>
          <p:cNvPr id="18" name="Shape 15"/>
          <p:cNvSpPr/>
          <p:nvPr/>
        </p:nvSpPr>
        <p:spPr>
          <a:xfrm>
            <a:off x="4572000" y="4489704"/>
            <a:ext cx="7040880" cy="841248"/>
          </a:xfrm>
          <a:prstGeom prst="roundRect">
            <a:avLst>
              <a:gd name="adj" fmla="val 6522"/>
            </a:avLst>
          </a:prstGeom>
          <a:solidFill>
            <a:srgbClr val="F4F6F9"/>
          </a:solidFill>
          <a:ln/>
        </p:spPr>
      </p:sp>
      <p:sp>
        <p:nvSpPr>
          <p:cNvPr id="19" name="Text 16"/>
          <p:cNvSpPr/>
          <p:nvPr/>
        </p:nvSpPr>
        <p:spPr>
          <a:xfrm>
            <a:off x="4800600" y="4562856"/>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Tujuan Penggunaan</a:t>
            </a:r>
            <a:endParaRPr lang="en-US" sz="1250" dirty="0"/>
          </a:p>
        </p:txBody>
      </p:sp>
      <p:sp>
        <p:nvSpPr>
          <p:cNvPr id="20" name="Text 17"/>
          <p:cNvSpPr/>
          <p:nvPr/>
        </p:nvSpPr>
        <p:spPr>
          <a:xfrm>
            <a:off x="6766560" y="4562856"/>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Menguji &amp; mendemonstrasikan proses Hierarchical Clustering pada data numerik nyata</a:t>
            </a:r>
            <a:endParaRPr lang="en-US" sz="1200" dirty="0"/>
          </a:p>
        </p:txBody>
      </p:sp>
      <p:sp>
        <p:nvSpPr>
          <p:cNvPr id="21"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8</a:t>
            </a:r>
            <a:endParaRPr lang="en-US" sz="1000" dirty="0"/>
          </a:p>
        </p:txBody>
      </p:sp>
      <p:sp>
        <p:nvSpPr>
          <p:cNvPr id="22" name="Text 19"/>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305C"/>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Implementasi Menggunakan Python</a:t>
            </a:r>
            <a:endParaRPr lang="en-US" sz="2800" dirty="0"/>
          </a:p>
        </p:txBody>
      </p:sp>
      <p:sp>
        <p:nvSpPr>
          <p:cNvPr id="3" name="Shape 1"/>
          <p:cNvSpPr/>
          <p:nvPr/>
        </p:nvSpPr>
        <p:spPr>
          <a:xfrm>
            <a:off x="10607040" y="320040"/>
            <a:ext cx="640080" cy="640080"/>
          </a:xfrm>
          <a:prstGeom prst="ellipse">
            <a:avLst/>
          </a:prstGeom>
          <a:solidFill>
            <a:srgbClr val="1F4585"/>
          </a:solidFill>
          <a:ln/>
        </p:spPr>
      </p:sp>
      <p:pic>
        <p:nvPicPr>
          <p:cNvPr id="4" name="Image 0" descr="preencoded.png">    </p:cNvPr>
          <p:cNvPicPr>
            <a:picLocks noChangeAspect="1"/>
          </p:cNvPicPr>
          <p:nvPr/>
        </p:nvPicPr>
        <p:blipFill>
          <a:blip r:embed="rId1"/>
          <a:stretch>
            <a:fillRect/>
          </a:stretch>
        </p:blipFill>
        <p:spPr>
          <a:xfrm>
            <a:off x="10690250" y="403250"/>
            <a:ext cx="473659" cy="473659"/>
          </a:xfrm>
          <a:prstGeom prst="rect">
            <a:avLst/>
          </a:prstGeom>
        </p:spPr>
      </p:pic>
      <p:sp>
        <p:nvSpPr>
          <p:cNvPr id="5" name="Shape 2"/>
          <p:cNvSpPr/>
          <p:nvPr/>
        </p:nvSpPr>
        <p:spPr>
          <a:xfrm>
            <a:off x="548640" y="1143000"/>
            <a:ext cx="11064240" cy="5349240"/>
          </a:xfrm>
          <a:prstGeom prst="roundRect">
            <a:avLst>
              <a:gd name="adj" fmla="val 1026"/>
            </a:avLst>
          </a:prstGeom>
          <a:solidFill>
            <a:srgbClr val="0E2444"/>
          </a:solidFill>
          <a:ln/>
        </p:spPr>
      </p:sp>
      <p:sp>
        <p:nvSpPr>
          <p:cNvPr id="6" name="Text 3"/>
          <p:cNvSpPr/>
          <p:nvPr/>
        </p:nvSpPr>
        <p:spPr>
          <a:xfrm>
            <a:off x="822960" y="1325880"/>
            <a:ext cx="10515600" cy="5029200"/>
          </a:xfrm>
          <a:prstGeom prst="rect">
            <a:avLst/>
          </a:prstGeom>
          <a:noFill/>
          <a:ln/>
        </p:spPr>
        <p:txBody>
          <a:bodyPr wrap="square" rtlCol="0" anchor="t"/>
          <a:lstStyle/>
          <a:p>
            <a:pPr indent="0" marL="0">
              <a:buNone/>
            </a:pPr>
            <a:r>
              <a:rPr lang="en-US" sz="1250" dirty="0">
                <a:solidFill>
                  <a:srgbClr val="D7E4FA"/>
                </a:solidFill>
                <a:latin typeface="Courier New" pitchFamily="34" charset="0"/>
                <a:ea typeface="Courier New" pitchFamily="34" charset="-122"/>
                <a:cs typeface="Courier New" pitchFamily="34" charset="-120"/>
              </a:rPr>
              <a:t>import pandas as pd</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from sklearn.preprocessing import StandardScaler</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from scipy.cluster.hierarchy import linkage, dendrogram, fcluster</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import matplotlib.pyplot as plt</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1. Membaca dataset</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df = pd.read_csv("iris.csv")</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X = df.drop(columns=["species"])</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2. Standardisasi data (Z-score)</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X_scaled = StandardScaler().fit_transform(X)</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3. Membuat Hierarchical Clustering (Ward Linkage)</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Z = linkage(X_scaled, method="ward")</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4. Menampilkan dendrogram</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dendrogram(Z)</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plt.title("Dendrogram - Iris Dataset")</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plt.show()</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5. Menampilkan hasil clustering (k=3)</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clusters = fcluster(Z, t=3, criterion="maxclust")</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df["cluster"] = clusters</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print(df.head())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Hasil Clustering</a:t>
            </a:r>
            <a:endParaRPr lang="en-US" sz="3200" dirty="0"/>
          </a:p>
        </p:txBody>
      </p:sp>
      <p:graphicFrame>
        <p:nvGraphicFramePr>
          <p:cNvPr id="3" name="Chart 0" descr=""/>
          <p:cNvGraphicFramePr/>
          <p:nvPr/>
        </p:nvGraphicFramePr>
        <p:xfrm>
          <a:off x="548640" y="155448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858000" y="1691640"/>
            <a:ext cx="4754880" cy="384048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Jumlah Cluster</a:t>
            </a:r>
            <a:endParaRPr lang="en-US" sz="1500" dirty="0"/>
          </a:p>
          <a:p>
            <a:pPr marL="342900" indent="-342900">
              <a:spcAft>
                <a:spcPts val="1000"/>
              </a:spcAft>
              <a:buSzPct val="100000"/>
              <a:buChar char="•"/>
            </a:pPr>
            <a:r>
              <a:rPr lang="en-US" sz="1300" dirty="0">
                <a:solidFill>
                  <a:srgbClr val="22324A"/>
                </a:solidFill>
                <a:latin typeface="Calibri" pitchFamily="34" charset="0"/>
                <a:ea typeface="Calibri" pitchFamily="34" charset="-122"/>
                <a:cs typeface="Calibri" pitchFamily="34" charset="-120"/>
              </a:rPr>
              <a:t>k = 3 cluster (dipilih dari evaluasi Silhouette Score)</a:t>
            </a:r>
            <a:endParaRPr lang="en-US" sz="1500" dirty="0"/>
          </a:p>
          <a:p>
            <a:pPr indent="0" marL="0">
              <a:buNone/>
            </a:pPr>
            <a:r>
              <a:rPr lang="en-US" sz="1500" b="1" dirty="0">
                <a:solidFill>
                  <a:srgbClr val="16305C"/>
                </a:solidFill>
                <a:latin typeface="Calibri" pitchFamily="34" charset="0"/>
                <a:ea typeface="Calibri" pitchFamily="34" charset="-122"/>
                <a:cs typeface="Calibri" pitchFamily="34" charset="-120"/>
              </a:rPr>
              <a:t>Interpretasi</a:t>
            </a:r>
            <a:endParaRPr lang="en-US" sz="1500" dirty="0"/>
          </a:p>
          <a:p>
            <a:pPr marL="342900" indent="-342900">
              <a:spcAft>
                <a:spcPts val="400"/>
              </a:spcAft>
              <a:buSzPct val="100000"/>
              <a:buChar char="•"/>
            </a:pPr>
            <a:r>
              <a:rPr lang="en-US" sz="1250" dirty="0">
                <a:solidFill>
                  <a:srgbClr val="22324A"/>
                </a:solidFill>
                <a:latin typeface="Calibri" pitchFamily="34" charset="0"/>
                <a:ea typeface="Calibri" pitchFamily="34" charset="-122"/>
                <a:cs typeface="Calibri" pitchFamily="34" charset="-120"/>
              </a:rPr>
              <a:t>Setiap cluster merepresentasikan kelompok data dengan karakteristik atribut yang mirip</a:t>
            </a:r>
            <a:endParaRPr lang="en-US" sz="1500" dirty="0"/>
          </a:p>
          <a:p>
            <a:pPr marL="342900" indent="-342900">
              <a:spcAft>
                <a:spcPts val="400"/>
              </a:spcAft>
              <a:buSzPct val="100000"/>
              <a:buChar char="•"/>
            </a:pPr>
            <a:r>
              <a:rPr lang="en-US" sz="1250" dirty="0">
                <a:solidFill>
                  <a:srgbClr val="22324A"/>
                </a:solidFill>
                <a:latin typeface="Calibri" pitchFamily="34" charset="0"/>
                <a:ea typeface="Calibri" pitchFamily="34" charset="-122"/>
                <a:cs typeface="Calibri" pitchFamily="34" charset="-120"/>
              </a:rPr>
              <a:t>Cluster yang terpisah jelas menandakan pengelompokan yang baik</a:t>
            </a:r>
            <a:endParaRPr lang="en-US" sz="150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Sedikit tumpang tindih antar cluster masih wajar terjadi pada data nyata</a:t>
            </a:r>
            <a:endParaRPr lang="en-US" sz="1500" dirty="0"/>
          </a:p>
        </p:txBody>
      </p:sp>
      <p:sp>
        <p:nvSpPr>
          <p:cNvPr id="5" name="Text 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10</a:t>
            </a:r>
            <a:endParaRPr lang="en-US" sz="1000" dirty="0"/>
          </a:p>
        </p:txBody>
      </p:sp>
      <p:sp>
        <p:nvSpPr>
          <p:cNvPr id="6" name="Text 3"/>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Kelebihan dan Kekurangan</a:t>
            </a:r>
            <a:endParaRPr lang="en-US" sz="3200" dirty="0"/>
          </a:p>
        </p:txBody>
      </p:sp>
      <p:sp>
        <p:nvSpPr>
          <p:cNvPr id="3" name="Shape 1"/>
          <p:cNvSpPr/>
          <p:nvPr/>
        </p:nvSpPr>
        <p:spPr>
          <a:xfrm>
            <a:off x="548640" y="1554480"/>
            <a:ext cx="5440680" cy="4023360"/>
          </a:xfrm>
          <a:prstGeom prst="roundRect">
            <a:avLst>
              <a:gd name="adj" fmla="val 1818"/>
            </a:avLst>
          </a:prstGeom>
          <a:solidFill>
            <a:srgbClr val="EAF7EF"/>
          </a:solidFill>
          <a:ln/>
        </p:spPr>
      </p:sp>
      <p:sp>
        <p:nvSpPr>
          <p:cNvPr id="4" name="Shape 2"/>
          <p:cNvSpPr/>
          <p:nvPr/>
        </p:nvSpPr>
        <p:spPr>
          <a:xfrm>
            <a:off x="777240" y="1737360"/>
            <a:ext cx="502920" cy="50292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42620" y="1802740"/>
            <a:ext cx="372161" cy="372161"/>
          </a:xfrm>
          <a:prstGeom prst="rect">
            <a:avLst/>
          </a:prstGeom>
        </p:spPr>
      </p:pic>
      <p:sp>
        <p:nvSpPr>
          <p:cNvPr id="6" name="Text 3"/>
          <p:cNvSpPr/>
          <p:nvPr/>
        </p:nvSpPr>
        <p:spPr>
          <a:xfrm>
            <a:off x="1417320" y="1783080"/>
            <a:ext cx="4114800" cy="457200"/>
          </a:xfrm>
          <a:prstGeom prst="rect">
            <a:avLst/>
          </a:prstGeom>
          <a:noFill/>
          <a:ln/>
        </p:spPr>
        <p:txBody>
          <a:bodyPr wrap="square" rtlCol="0" anchor="ctr"/>
          <a:lstStyle/>
          <a:p>
            <a:pPr indent="0" marL="0">
              <a:buNone/>
            </a:pPr>
            <a:r>
              <a:rPr lang="en-US" sz="1700" b="1" dirty="0">
                <a:solidFill>
                  <a:srgbClr val="1E8E5A"/>
                </a:solidFill>
                <a:latin typeface="Calibri" pitchFamily="34" charset="0"/>
                <a:ea typeface="Calibri" pitchFamily="34" charset="-122"/>
                <a:cs typeface="Calibri" pitchFamily="34" charset="-120"/>
              </a:rPr>
              <a:t>Kelebihan</a:t>
            </a:r>
            <a:endParaRPr lang="en-US" sz="1700" dirty="0"/>
          </a:p>
        </p:txBody>
      </p:sp>
      <p:sp>
        <p:nvSpPr>
          <p:cNvPr id="7" name="Text 4"/>
          <p:cNvSpPr/>
          <p:nvPr/>
        </p:nvSpPr>
        <p:spPr>
          <a:xfrm>
            <a:off x="822960" y="2331720"/>
            <a:ext cx="4892040" cy="3108960"/>
          </a:xfrm>
          <a:prstGeom prst="rect">
            <a:avLst/>
          </a:prstGeom>
          <a:noFill/>
          <a:ln/>
        </p:spPr>
        <p:txBody>
          <a:bodyPr wrap="square" rtlCol="0" anchor="ctr"/>
          <a:lstStyle/>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Tidak perlu menentukan jumlah cluster di awal</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Menghasilkan visualisasi dendrogram yang mudah diinterpretasi</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Fleksibel untuk berbagai metode jarak &amp; linkage</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Cocok untuk dataset berukuran kecil-menengah</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Dapat menunjukkan struktur hubungan antar data secara detail</a:t>
            </a:r>
            <a:endParaRPr lang="en-US" sz="1300" dirty="0"/>
          </a:p>
        </p:txBody>
      </p:sp>
      <p:sp>
        <p:nvSpPr>
          <p:cNvPr id="8" name="Shape 5"/>
          <p:cNvSpPr/>
          <p:nvPr/>
        </p:nvSpPr>
        <p:spPr>
          <a:xfrm>
            <a:off x="6172200" y="1554480"/>
            <a:ext cx="5440680" cy="4023360"/>
          </a:xfrm>
          <a:prstGeom prst="roundRect">
            <a:avLst>
              <a:gd name="adj" fmla="val 1818"/>
            </a:avLst>
          </a:prstGeom>
          <a:solidFill>
            <a:srgbClr val="FBEAEA"/>
          </a:solidFill>
          <a:ln/>
        </p:spPr>
      </p:sp>
      <p:sp>
        <p:nvSpPr>
          <p:cNvPr id="9" name="Shape 6"/>
          <p:cNvSpPr/>
          <p:nvPr/>
        </p:nvSpPr>
        <p:spPr>
          <a:xfrm>
            <a:off x="6400800" y="1737360"/>
            <a:ext cx="502920" cy="502920"/>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6466180" y="1802740"/>
            <a:ext cx="372161" cy="372161"/>
          </a:xfrm>
          <a:prstGeom prst="rect">
            <a:avLst/>
          </a:prstGeom>
        </p:spPr>
      </p:pic>
      <p:sp>
        <p:nvSpPr>
          <p:cNvPr id="11" name="Text 7"/>
          <p:cNvSpPr/>
          <p:nvPr/>
        </p:nvSpPr>
        <p:spPr>
          <a:xfrm>
            <a:off x="7040880" y="1783080"/>
            <a:ext cx="4114800" cy="457200"/>
          </a:xfrm>
          <a:prstGeom prst="rect">
            <a:avLst/>
          </a:prstGeom>
          <a:noFill/>
          <a:ln/>
        </p:spPr>
        <p:txBody>
          <a:bodyPr wrap="square"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Kekurangan</a:t>
            </a:r>
            <a:endParaRPr lang="en-US" sz="1700" dirty="0"/>
          </a:p>
        </p:txBody>
      </p:sp>
      <p:sp>
        <p:nvSpPr>
          <p:cNvPr id="12" name="Text 8"/>
          <p:cNvSpPr/>
          <p:nvPr/>
        </p:nvSpPr>
        <p:spPr>
          <a:xfrm>
            <a:off x="6446520" y="2331720"/>
            <a:ext cx="4892040" cy="3108960"/>
          </a:xfrm>
          <a:prstGeom prst="rect">
            <a:avLst/>
          </a:prstGeom>
          <a:noFill/>
          <a:ln/>
        </p:spPr>
        <p:txBody>
          <a:bodyPr wrap="square" rtlCol="0" anchor="ctr"/>
          <a:lstStyle/>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Komputasi berat untuk dataset besar (kompleksitas tinggi)</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Sensitif terhadap outlier &amp; noise pada beberapa linkage</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Keputusan penggabungan bersifat permanen (tidak bisa dibatalkan)</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Pemilihan titik potong dendrogram cukup subjektif</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Kurang efisien dibanding metode partisi seperti K-Means</a:t>
            </a:r>
            <a:endParaRPr lang="en-US" sz="1300" dirty="0"/>
          </a:p>
        </p:txBody>
      </p:sp>
      <p:sp>
        <p:nvSpPr>
          <p:cNvPr id="13" name="Text 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11</a:t>
            </a:r>
            <a:endParaRPr lang="en-US" sz="1000" dirty="0"/>
          </a:p>
        </p:txBody>
      </p:sp>
      <p:sp>
        <p:nvSpPr>
          <p:cNvPr id="14" name="Text 10"/>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Penerapan Hierarchical Clustering</a:t>
            </a:r>
            <a:endParaRPr lang="en-US" sz="3200" dirty="0"/>
          </a:p>
        </p:txBody>
      </p:sp>
      <p:sp>
        <p:nvSpPr>
          <p:cNvPr id="3" name="Shape 1"/>
          <p:cNvSpPr/>
          <p:nvPr/>
        </p:nvSpPr>
        <p:spPr>
          <a:xfrm>
            <a:off x="548640" y="160020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4" name="Shape 2"/>
          <p:cNvSpPr/>
          <p:nvPr/>
        </p:nvSpPr>
        <p:spPr>
          <a:xfrm>
            <a:off x="1909572" y="1828800"/>
            <a:ext cx="731520" cy="731520"/>
          </a:xfrm>
          <a:prstGeom prst="ellipse">
            <a:avLst/>
          </a:prstGeom>
          <a:solidFill>
            <a:srgbClr val="EAF1FB"/>
          </a:solidFill>
          <a:ln/>
        </p:spPr>
      </p:sp>
      <p:pic>
        <p:nvPicPr>
          <p:cNvPr id="5" name="Image 0" descr="preencoded.png">    </p:cNvPr>
          <p:cNvPicPr>
            <a:picLocks noChangeAspect="1"/>
          </p:cNvPicPr>
          <p:nvPr/>
        </p:nvPicPr>
        <p:blipFill>
          <a:blip r:embed="rId1"/>
          <a:stretch>
            <a:fillRect/>
          </a:stretch>
        </p:blipFill>
        <p:spPr>
          <a:xfrm>
            <a:off x="2004670" y="1923898"/>
            <a:ext cx="541325" cy="541325"/>
          </a:xfrm>
          <a:prstGeom prst="rect">
            <a:avLst/>
          </a:prstGeom>
        </p:spPr>
      </p:pic>
      <p:sp>
        <p:nvSpPr>
          <p:cNvPr id="6" name="Text 3"/>
          <p:cNvSpPr/>
          <p:nvPr/>
        </p:nvSpPr>
        <p:spPr>
          <a:xfrm>
            <a:off x="685800" y="265176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Kesehatan</a:t>
            </a:r>
            <a:endParaRPr lang="en-US" sz="1450" dirty="0"/>
          </a:p>
        </p:txBody>
      </p:sp>
      <p:sp>
        <p:nvSpPr>
          <p:cNvPr id="7" name="Text 4"/>
          <p:cNvSpPr/>
          <p:nvPr/>
        </p:nvSpPr>
        <p:spPr>
          <a:xfrm>
            <a:off x="777240" y="301752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pasien berdasarkan gejala atau data rekam medis</a:t>
            </a:r>
            <a:endParaRPr lang="en-US" sz="1050" dirty="0"/>
          </a:p>
        </p:txBody>
      </p:sp>
      <p:sp>
        <p:nvSpPr>
          <p:cNvPr id="8" name="Shape 5"/>
          <p:cNvSpPr/>
          <p:nvPr/>
        </p:nvSpPr>
        <p:spPr>
          <a:xfrm>
            <a:off x="4367784" y="160020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9" name="Shape 6"/>
          <p:cNvSpPr/>
          <p:nvPr/>
        </p:nvSpPr>
        <p:spPr>
          <a:xfrm>
            <a:off x="5728716" y="1828800"/>
            <a:ext cx="731520" cy="731520"/>
          </a:xfrm>
          <a:prstGeom prst="ellipse">
            <a:avLst/>
          </a:prstGeom>
          <a:solidFill>
            <a:srgbClr val="EAF1FB"/>
          </a:solidFill>
          <a:ln/>
        </p:spPr>
      </p:sp>
      <p:pic>
        <p:nvPicPr>
          <p:cNvPr id="10" name="Image 1" descr="preencoded.png">    </p:cNvPr>
          <p:cNvPicPr>
            <a:picLocks noChangeAspect="1"/>
          </p:cNvPicPr>
          <p:nvPr/>
        </p:nvPicPr>
        <p:blipFill>
          <a:blip r:embed="rId2"/>
          <a:stretch>
            <a:fillRect/>
          </a:stretch>
        </p:blipFill>
        <p:spPr>
          <a:xfrm>
            <a:off x="5823814" y="1923898"/>
            <a:ext cx="541325" cy="541325"/>
          </a:xfrm>
          <a:prstGeom prst="rect">
            <a:avLst/>
          </a:prstGeom>
        </p:spPr>
      </p:pic>
      <p:sp>
        <p:nvSpPr>
          <p:cNvPr id="11" name="Text 7"/>
          <p:cNvSpPr/>
          <p:nvPr/>
        </p:nvSpPr>
        <p:spPr>
          <a:xfrm>
            <a:off x="4504944" y="265176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Pendidikan</a:t>
            </a:r>
            <a:endParaRPr lang="en-US" sz="1450" dirty="0"/>
          </a:p>
        </p:txBody>
      </p:sp>
      <p:sp>
        <p:nvSpPr>
          <p:cNvPr id="12" name="Text 8"/>
          <p:cNvSpPr/>
          <p:nvPr/>
        </p:nvSpPr>
        <p:spPr>
          <a:xfrm>
            <a:off x="4596384" y="301752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siswa berdasarkan pola nilai atau gaya belajar</a:t>
            </a:r>
            <a:endParaRPr lang="en-US" sz="1050" dirty="0"/>
          </a:p>
        </p:txBody>
      </p:sp>
      <p:sp>
        <p:nvSpPr>
          <p:cNvPr id="13" name="Shape 9"/>
          <p:cNvSpPr/>
          <p:nvPr/>
        </p:nvSpPr>
        <p:spPr>
          <a:xfrm>
            <a:off x="8186928" y="160020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14" name="Shape 10"/>
          <p:cNvSpPr/>
          <p:nvPr/>
        </p:nvSpPr>
        <p:spPr>
          <a:xfrm>
            <a:off x="9547860" y="1828800"/>
            <a:ext cx="731520" cy="731520"/>
          </a:xfrm>
          <a:prstGeom prst="ellipse">
            <a:avLst/>
          </a:prstGeom>
          <a:solidFill>
            <a:srgbClr val="EAF1FB"/>
          </a:solidFill>
          <a:ln/>
        </p:spPr>
      </p:sp>
      <p:pic>
        <p:nvPicPr>
          <p:cNvPr id="15" name="Image 2" descr="preencoded.png">    </p:cNvPr>
          <p:cNvPicPr>
            <a:picLocks noChangeAspect="1"/>
          </p:cNvPicPr>
          <p:nvPr/>
        </p:nvPicPr>
        <p:blipFill>
          <a:blip r:embed="rId3"/>
          <a:stretch>
            <a:fillRect/>
          </a:stretch>
        </p:blipFill>
        <p:spPr>
          <a:xfrm>
            <a:off x="9642958" y="1923898"/>
            <a:ext cx="541325" cy="541325"/>
          </a:xfrm>
          <a:prstGeom prst="rect">
            <a:avLst/>
          </a:prstGeom>
        </p:spPr>
      </p:pic>
      <p:sp>
        <p:nvSpPr>
          <p:cNvPr id="16" name="Text 11"/>
          <p:cNvSpPr/>
          <p:nvPr/>
        </p:nvSpPr>
        <p:spPr>
          <a:xfrm>
            <a:off x="8324088" y="265176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Bisnis</a:t>
            </a:r>
            <a:endParaRPr lang="en-US" sz="1450" dirty="0"/>
          </a:p>
        </p:txBody>
      </p:sp>
      <p:sp>
        <p:nvSpPr>
          <p:cNvPr id="17" name="Text 12"/>
          <p:cNvSpPr/>
          <p:nvPr/>
        </p:nvSpPr>
        <p:spPr>
          <a:xfrm>
            <a:off x="8415528" y="301752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Segmentasi produk atau efisiensi rantai pasok berdasarkan data operasional</a:t>
            </a:r>
            <a:endParaRPr lang="en-US" sz="1050" dirty="0"/>
          </a:p>
        </p:txBody>
      </p:sp>
      <p:sp>
        <p:nvSpPr>
          <p:cNvPr id="18" name="Shape 13"/>
          <p:cNvSpPr/>
          <p:nvPr/>
        </p:nvSpPr>
        <p:spPr>
          <a:xfrm>
            <a:off x="548640" y="393192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19" name="Shape 14"/>
          <p:cNvSpPr/>
          <p:nvPr/>
        </p:nvSpPr>
        <p:spPr>
          <a:xfrm>
            <a:off x="1909572" y="4160520"/>
            <a:ext cx="731520" cy="731520"/>
          </a:xfrm>
          <a:prstGeom prst="ellipse">
            <a:avLst/>
          </a:prstGeom>
          <a:solidFill>
            <a:srgbClr val="EAF1FB"/>
          </a:solidFill>
          <a:ln/>
        </p:spPr>
      </p:sp>
      <p:pic>
        <p:nvPicPr>
          <p:cNvPr id="20" name="Image 3" descr="preencoded.png">    </p:cNvPr>
          <p:cNvPicPr>
            <a:picLocks noChangeAspect="1"/>
          </p:cNvPicPr>
          <p:nvPr/>
        </p:nvPicPr>
        <p:blipFill>
          <a:blip r:embed="rId4"/>
          <a:stretch>
            <a:fillRect/>
          </a:stretch>
        </p:blipFill>
        <p:spPr>
          <a:xfrm>
            <a:off x="2004670" y="4255618"/>
            <a:ext cx="541325" cy="541325"/>
          </a:xfrm>
          <a:prstGeom prst="rect">
            <a:avLst/>
          </a:prstGeom>
        </p:spPr>
      </p:pic>
      <p:sp>
        <p:nvSpPr>
          <p:cNvPr id="21" name="Text 15"/>
          <p:cNvSpPr/>
          <p:nvPr/>
        </p:nvSpPr>
        <p:spPr>
          <a:xfrm>
            <a:off x="685800" y="498348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Market Segmentation</a:t>
            </a:r>
            <a:endParaRPr lang="en-US" sz="1450" dirty="0"/>
          </a:p>
        </p:txBody>
      </p:sp>
      <p:sp>
        <p:nvSpPr>
          <p:cNvPr id="22" name="Text 16"/>
          <p:cNvSpPr/>
          <p:nvPr/>
        </p:nvSpPr>
        <p:spPr>
          <a:xfrm>
            <a:off x="777240" y="534924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pasar berdasarkan karakteristik produk &amp; perilaku pembelian</a:t>
            </a:r>
            <a:endParaRPr lang="en-US" sz="1050" dirty="0"/>
          </a:p>
        </p:txBody>
      </p:sp>
      <p:sp>
        <p:nvSpPr>
          <p:cNvPr id="23" name="Shape 17"/>
          <p:cNvSpPr/>
          <p:nvPr/>
        </p:nvSpPr>
        <p:spPr>
          <a:xfrm>
            <a:off x="4367784" y="393192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24" name="Shape 18"/>
          <p:cNvSpPr/>
          <p:nvPr/>
        </p:nvSpPr>
        <p:spPr>
          <a:xfrm>
            <a:off x="5728716" y="4160520"/>
            <a:ext cx="731520" cy="731520"/>
          </a:xfrm>
          <a:prstGeom prst="ellipse">
            <a:avLst/>
          </a:prstGeom>
          <a:solidFill>
            <a:srgbClr val="EAF1FB"/>
          </a:solidFill>
          <a:ln/>
        </p:spPr>
      </p:sp>
      <p:pic>
        <p:nvPicPr>
          <p:cNvPr id="25" name="Image 4" descr="preencoded.png">    </p:cNvPr>
          <p:cNvPicPr>
            <a:picLocks noChangeAspect="1"/>
          </p:cNvPicPr>
          <p:nvPr/>
        </p:nvPicPr>
        <p:blipFill>
          <a:blip r:embed="rId5"/>
          <a:stretch>
            <a:fillRect/>
          </a:stretch>
        </p:blipFill>
        <p:spPr>
          <a:xfrm>
            <a:off x="5823814" y="4255618"/>
            <a:ext cx="541325" cy="541325"/>
          </a:xfrm>
          <a:prstGeom prst="rect">
            <a:avLst/>
          </a:prstGeom>
        </p:spPr>
      </p:pic>
      <p:sp>
        <p:nvSpPr>
          <p:cNvPr id="26" name="Text 19"/>
          <p:cNvSpPr/>
          <p:nvPr/>
        </p:nvSpPr>
        <p:spPr>
          <a:xfrm>
            <a:off x="4504944" y="498348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Analisis Pelanggan</a:t>
            </a:r>
            <a:endParaRPr lang="en-US" sz="1450" dirty="0"/>
          </a:p>
        </p:txBody>
      </p:sp>
      <p:sp>
        <p:nvSpPr>
          <p:cNvPr id="27" name="Text 20"/>
          <p:cNvSpPr/>
          <p:nvPr/>
        </p:nvSpPr>
        <p:spPr>
          <a:xfrm>
            <a:off x="4596384" y="534924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pelanggan berdasarkan preferensi &amp; kebiasaan transaksi</a:t>
            </a:r>
            <a:endParaRPr lang="en-US" sz="1050" dirty="0"/>
          </a:p>
        </p:txBody>
      </p:sp>
      <p:sp>
        <p:nvSpPr>
          <p:cNvPr id="28" name="Text 2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12</a:t>
            </a:r>
            <a:endParaRPr lang="en-US" sz="1000" dirty="0"/>
          </a:p>
        </p:txBody>
      </p:sp>
      <p:sp>
        <p:nvSpPr>
          <p:cNvPr id="29" name="Text 22"/>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05C"/>
        </a:solidFill>
      </p:bgPr>
    </p:bg>
    <p:spTree>
      <p:nvGrpSpPr>
        <p:cNvPr id="1" name=""/>
        <p:cNvGrpSpPr/>
        <p:nvPr/>
      </p:nvGrpSpPr>
      <p:grpSpPr>
        <a:xfrm>
          <a:off x="0" y="0"/>
          <a:ext cx="0" cy="0"/>
          <a:chOff x="0" y="0"/>
          <a:chExt cx="0" cy="0"/>
        </a:xfrm>
      </p:grpSpPr>
      <p:sp>
        <p:nvSpPr>
          <p:cNvPr id="2" name="Shape 0"/>
          <p:cNvSpPr/>
          <p:nvPr/>
        </p:nvSpPr>
        <p:spPr>
          <a:xfrm>
            <a:off x="9445752" y="-1371600"/>
            <a:ext cx="4114800" cy="4114800"/>
          </a:xfrm>
          <a:prstGeom prst="ellipse">
            <a:avLst/>
          </a:prstGeom>
          <a:solidFill>
            <a:srgbClr val="2E6FCC">
              <a:alpha val="20000"/>
            </a:srgbClr>
          </a:solidFill>
          <a:ln/>
        </p:spPr>
      </p:sp>
      <p:sp>
        <p:nvSpPr>
          <p:cNvPr id="3" name="Text 1"/>
          <p:cNvSpPr/>
          <p:nvPr/>
        </p:nvSpPr>
        <p:spPr>
          <a:xfrm>
            <a:off x="548640" y="457200"/>
            <a:ext cx="91440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Kesimpulan</a:t>
            </a:r>
            <a:endParaRPr lang="en-US" sz="3200" dirty="0"/>
          </a:p>
        </p:txBody>
      </p:sp>
      <p:sp>
        <p:nvSpPr>
          <p:cNvPr id="4" name="Text 2"/>
          <p:cNvSpPr/>
          <p:nvPr/>
        </p:nvSpPr>
        <p:spPr>
          <a:xfrm>
            <a:off x="548640" y="1463040"/>
            <a:ext cx="10607040" cy="4754880"/>
          </a:xfrm>
          <a:prstGeom prst="rect">
            <a:avLst/>
          </a:prstGeom>
          <a:noFill/>
          <a:ln/>
        </p:spPr>
        <p:txBody>
          <a:bodyPr wrap="square" rtlCol="0" anchor="ctr"/>
          <a:lstStyle/>
          <a:p>
            <a:pPr indent="0" marL="0">
              <a:buNone/>
            </a:pPr>
            <a:r>
              <a:rPr lang="en-US" sz="1600" b="1" dirty="0">
                <a:solidFill>
                  <a:srgbClr val="9CC0F5"/>
                </a:solidFill>
                <a:latin typeface="Calibri" pitchFamily="34" charset="0"/>
                <a:ea typeface="Calibri" pitchFamily="34" charset="-122"/>
                <a:cs typeface="Calibri" pitchFamily="34" charset="-120"/>
              </a:rPr>
              <a:t>Ringkasan Materi</a:t>
            </a:r>
            <a:endParaRPr lang="en-US" sz="1600" dirty="0"/>
          </a:p>
          <a:p>
            <a:pPr marL="342900" indent="-342900">
              <a:spcAft>
                <a:spcPts val="1400"/>
              </a:spcAft>
              <a:buSzPct val="100000"/>
              <a:buChar char="•"/>
            </a:pPr>
            <a:r>
              <a:rPr lang="en-US" sz="1350" dirty="0">
                <a:solidFill>
                  <a:srgbClr val="E6EEFA"/>
                </a:solidFill>
                <a:latin typeface="Calibri" pitchFamily="34" charset="0"/>
                <a:ea typeface="Calibri" pitchFamily="34" charset="-122"/>
                <a:cs typeface="Calibri" pitchFamily="34" charset="-120"/>
              </a:rPr>
              <a:t>Hierarchical Clustering mengelompokkan data secara bertingkat tanpa perlu menentukan jumlah cluster di awal, direpresentasikan melalui dendrogram.</a:t>
            </a:r>
            <a:endParaRPr lang="en-US" sz="1600" dirty="0"/>
          </a:p>
          <a:p>
            <a:pPr indent="0" marL="0">
              <a:buNone/>
            </a:pPr>
            <a:r>
              <a:rPr lang="en-US" sz="1600" b="1" dirty="0">
                <a:solidFill>
                  <a:srgbClr val="9CC0F5"/>
                </a:solidFill>
                <a:latin typeface="Calibri" pitchFamily="34" charset="0"/>
                <a:ea typeface="Calibri" pitchFamily="34" charset="-122"/>
                <a:cs typeface="Calibri" pitchFamily="34" charset="-120"/>
              </a:rPr>
              <a:t>Manfaat</a:t>
            </a:r>
            <a:endParaRPr lang="en-US" sz="1600" dirty="0"/>
          </a:p>
          <a:p>
            <a:pPr marL="342900" indent="-342900">
              <a:spcAft>
                <a:spcPts val="1400"/>
              </a:spcAft>
              <a:buSzPct val="100000"/>
              <a:buChar char="•"/>
            </a:pPr>
            <a:r>
              <a:rPr lang="en-US" sz="1350" dirty="0">
                <a:solidFill>
                  <a:srgbClr val="E6EEFA"/>
                </a:solidFill>
                <a:latin typeface="Calibri" pitchFamily="34" charset="0"/>
                <a:ea typeface="Calibri" pitchFamily="34" charset="-122"/>
                <a:cs typeface="Calibri" pitchFamily="34" charset="-120"/>
              </a:rPr>
              <a:t>Membantu memahami struktur &amp; pola tersembunyi dalam data secara objektif dan transparan.</a:t>
            </a:r>
            <a:endParaRPr lang="en-US" sz="1600" dirty="0"/>
          </a:p>
          <a:p>
            <a:pPr indent="0" marL="0">
              <a:buNone/>
            </a:pPr>
            <a:r>
              <a:rPr lang="en-US" sz="1600" b="1" dirty="0">
                <a:solidFill>
                  <a:srgbClr val="9CC0F5"/>
                </a:solidFill>
                <a:latin typeface="Calibri" pitchFamily="34" charset="0"/>
                <a:ea typeface="Calibri" pitchFamily="34" charset="-122"/>
                <a:cs typeface="Calibri" pitchFamily="34" charset="-120"/>
              </a:rPr>
              <a:t>Saran Penggunaan</a:t>
            </a:r>
            <a:endParaRPr lang="en-US" sz="1600" dirty="0"/>
          </a:p>
          <a:p>
            <a:pPr marL="342900" indent="-342900">
              <a:buSzPct val="100000"/>
              <a:buChar char="•"/>
            </a:pPr>
            <a:r>
              <a:rPr lang="en-US" sz="1350" dirty="0">
                <a:solidFill>
                  <a:srgbClr val="E6EEFA"/>
                </a:solidFill>
                <a:latin typeface="Calibri" pitchFamily="34" charset="0"/>
                <a:ea typeface="Calibri" pitchFamily="34" charset="-122"/>
                <a:cs typeface="Calibri" pitchFamily="34" charset="-120"/>
              </a:rPr>
              <a:t>Gunakan pada dataset berukuran kecil-menengah, lakukan standardisasi data, dan pilih metode linkage sesuai karakteristik data.</a:t>
            </a:r>
            <a:endParaRPr lang="en-US" sz="1600" dirty="0"/>
          </a:p>
        </p:txBody>
      </p:sp>
      <p:sp>
        <p:nvSpPr>
          <p:cNvPr id="5" name="Text 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13</a:t>
            </a:r>
            <a:endParaRPr lang="en-US" sz="1000" dirty="0"/>
          </a:p>
        </p:txBody>
      </p:sp>
      <p:sp>
        <p:nvSpPr>
          <p:cNvPr id="6" name="Text 4"/>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Daftar Pustaka</a:t>
            </a:r>
            <a:endParaRPr lang="en-US" sz="3200" dirty="0"/>
          </a:p>
        </p:txBody>
      </p:sp>
      <p:pic>
        <p:nvPicPr>
          <p:cNvPr id="3" name="Image 0" descr="preencoded.png">    </p:cNvPr>
          <p:cNvPicPr>
            <a:picLocks noChangeAspect="1"/>
          </p:cNvPicPr>
          <p:nvPr/>
        </p:nvPicPr>
        <p:blipFill>
          <a:blip r:embed="rId1"/>
          <a:stretch>
            <a:fillRect/>
          </a:stretch>
        </p:blipFill>
        <p:spPr>
          <a:xfrm>
            <a:off x="10725912" y="457200"/>
            <a:ext cx="731520" cy="731520"/>
          </a:xfrm>
          <a:prstGeom prst="rect">
            <a:avLst/>
          </a:prstGeom>
        </p:spPr>
      </p:pic>
      <p:sp>
        <p:nvSpPr>
          <p:cNvPr id="4" name="Shape 1"/>
          <p:cNvSpPr/>
          <p:nvPr/>
        </p:nvSpPr>
        <p:spPr>
          <a:xfrm>
            <a:off x="548640" y="1719072"/>
            <a:ext cx="91440" cy="91440"/>
          </a:xfrm>
          <a:prstGeom prst="ellipse">
            <a:avLst/>
          </a:prstGeom>
          <a:solidFill>
            <a:srgbClr val="2E6FCC"/>
          </a:solidFill>
          <a:ln/>
        </p:spPr>
      </p:sp>
      <p:sp>
        <p:nvSpPr>
          <p:cNvPr id="5" name="Text 2"/>
          <p:cNvSpPr/>
          <p:nvPr/>
        </p:nvSpPr>
        <p:spPr>
          <a:xfrm>
            <a:off x="822960" y="1645920"/>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Mukhtar, M., et al. (2024). Hierarchical Clustering Algorithm-Dendogram Using Euclidean and Manhattan Distance. Teknika: Jurnal Sains dan Teknologi, 20(1), 98–104.</a:t>
            </a:r>
            <a:endParaRPr lang="en-US" sz="1200" dirty="0"/>
          </a:p>
        </p:txBody>
      </p:sp>
      <p:sp>
        <p:nvSpPr>
          <p:cNvPr id="6" name="Shape 3"/>
          <p:cNvSpPr/>
          <p:nvPr/>
        </p:nvSpPr>
        <p:spPr>
          <a:xfrm>
            <a:off x="548640" y="2468880"/>
            <a:ext cx="91440" cy="91440"/>
          </a:xfrm>
          <a:prstGeom prst="ellipse">
            <a:avLst/>
          </a:prstGeom>
          <a:solidFill>
            <a:srgbClr val="2E6FCC"/>
          </a:solidFill>
          <a:ln/>
        </p:spPr>
      </p:sp>
      <p:sp>
        <p:nvSpPr>
          <p:cNvPr id="7" name="Text 4"/>
          <p:cNvSpPr/>
          <p:nvPr/>
        </p:nvSpPr>
        <p:spPr>
          <a:xfrm>
            <a:off x="822960" y="2395728"/>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Alamtaha, Z., Djakaria, I., &amp; Yahya, N. I. (2023). Implementasi Algoritma Hierarchical Clustering dan Non-Hierarchical Clustering untuk Pengelompokkan Pengguna Media Sosial. ESTIMASI: Journal of Statistics and Its Application, 4(1), 33–34.</a:t>
            </a:r>
            <a:endParaRPr lang="en-US" sz="1200" dirty="0"/>
          </a:p>
        </p:txBody>
      </p:sp>
      <p:sp>
        <p:nvSpPr>
          <p:cNvPr id="8" name="Shape 5"/>
          <p:cNvSpPr/>
          <p:nvPr/>
        </p:nvSpPr>
        <p:spPr>
          <a:xfrm>
            <a:off x="548640" y="3218688"/>
            <a:ext cx="91440" cy="91440"/>
          </a:xfrm>
          <a:prstGeom prst="ellipse">
            <a:avLst/>
          </a:prstGeom>
          <a:solidFill>
            <a:srgbClr val="2E6FCC"/>
          </a:solidFill>
          <a:ln/>
        </p:spPr>
      </p:sp>
      <p:sp>
        <p:nvSpPr>
          <p:cNvPr id="9" name="Text 6"/>
          <p:cNvSpPr/>
          <p:nvPr/>
        </p:nvSpPr>
        <p:spPr>
          <a:xfrm>
            <a:off x="822960" y="3145536"/>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Wardani, S. D. K., et al. (2023). Perbandingan Hasil Metode Clustering K-Means, DB Scanner &amp; Hierarchical untuk Analisa Segmentasi Pasar. JIKO, 7(2).</a:t>
            </a:r>
            <a:endParaRPr lang="en-US" sz="1200" dirty="0"/>
          </a:p>
        </p:txBody>
      </p:sp>
      <p:sp>
        <p:nvSpPr>
          <p:cNvPr id="10" name="Shape 7"/>
          <p:cNvSpPr/>
          <p:nvPr/>
        </p:nvSpPr>
        <p:spPr>
          <a:xfrm>
            <a:off x="548640" y="3968496"/>
            <a:ext cx="91440" cy="91440"/>
          </a:xfrm>
          <a:prstGeom prst="ellipse">
            <a:avLst/>
          </a:prstGeom>
          <a:solidFill>
            <a:srgbClr val="2E6FCC"/>
          </a:solidFill>
          <a:ln/>
        </p:spPr>
      </p:sp>
      <p:sp>
        <p:nvSpPr>
          <p:cNvPr id="11" name="Text 8"/>
          <p:cNvSpPr/>
          <p:nvPr/>
        </p:nvSpPr>
        <p:spPr>
          <a:xfrm>
            <a:off x="822960" y="3895344"/>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Pedregosa, F., et al. (2011). Scikit-learn: Machine Learning in Python. Journal of Machine Learning Research, 12, 2825–2830.</a:t>
            </a:r>
            <a:endParaRPr lang="en-US" sz="1200" dirty="0"/>
          </a:p>
        </p:txBody>
      </p:sp>
      <p:sp>
        <p:nvSpPr>
          <p:cNvPr id="12" name="Shape 9"/>
          <p:cNvSpPr/>
          <p:nvPr/>
        </p:nvSpPr>
        <p:spPr>
          <a:xfrm>
            <a:off x="548640" y="4718304"/>
            <a:ext cx="91440" cy="91440"/>
          </a:xfrm>
          <a:prstGeom prst="ellipse">
            <a:avLst/>
          </a:prstGeom>
          <a:solidFill>
            <a:srgbClr val="2E6FCC"/>
          </a:solidFill>
          <a:ln/>
        </p:spPr>
      </p:sp>
      <p:sp>
        <p:nvSpPr>
          <p:cNvPr id="13" name="Text 10"/>
          <p:cNvSpPr/>
          <p:nvPr/>
        </p:nvSpPr>
        <p:spPr>
          <a:xfrm>
            <a:off x="822960" y="4645152"/>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Scikit-learn Documentation. Hierarchical Clustering. Diakses 2025, dari scikit-learn.org</a:t>
            </a:r>
            <a:endParaRPr lang="en-US" sz="1200" dirty="0"/>
          </a:p>
        </p:txBody>
      </p:sp>
      <p:sp>
        <p:nvSpPr>
          <p:cNvPr id="14" name="Shape 11"/>
          <p:cNvSpPr/>
          <p:nvPr/>
        </p:nvSpPr>
        <p:spPr>
          <a:xfrm>
            <a:off x="548640" y="5468112"/>
            <a:ext cx="91440" cy="91440"/>
          </a:xfrm>
          <a:prstGeom prst="ellipse">
            <a:avLst/>
          </a:prstGeom>
          <a:solidFill>
            <a:srgbClr val="2E6FCC"/>
          </a:solidFill>
          <a:ln/>
        </p:spPr>
      </p:sp>
      <p:sp>
        <p:nvSpPr>
          <p:cNvPr id="15" name="Text 12"/>
          <p:cNvSpPr/>
          <p:nvPr/>
        </p:nvSpPr>
        <p:spPr>
          <a:xfrm>
            <a:off x="822960" y="5394960"/>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SciPy Documentation. Hierarchical Clustering (scipy.cluster.hierarchy). Diakses 2025, dari docs.scipy.org</a:t>
            </a:r>
            <a:endParaRPr lang="en-US" sz="1200" dirty="0"/>
          </a:p>
        </p:txBody>
      </p:sp>
      <p:sp>
        <p:nvSpPr>
          <p:cNvPr id="16"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14</a:t>
            </a:r>
            <a:endParaRPr lang="en-US" sz="1000" dirty="0"/>
          </a:p>
        </p:txBody>
      </p:sp>
      <p:sp>
        <p:nvSpPr>
          <p:cNvPr id="17" name="Text 14"/>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305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2E6FCC">
              <a:alpha val="20000"/>
            </a:srgbClr>
          </a:solidFill>
          <a:ln/>
        </p:spPr>
      </p:sp>
      <p:sp>
        <p:nvSpPr>
          <p:cNvPr id="3" name="Shape 1"/>
          <p:cNvSpPr/>
          <p:nvPr/>
        </p:nvSpPr>
        <p:spPr>
          <a:xfrm>
            <a:off x="9445752" y="4114800"/>
            <a:ext cx="4114800" cy="4114800"/>
          </a:xfrm>
          <a:prstGeom prst="ellipse">
            <a:avLst/>
          </a:prstGeom>
          <a:solidFill>
            <a:srgbClr val="2E6FCC">
              <a:alpha val="18000"/>
            </a:srgbClr>
          </a:solidFill>
          <a:ln/>
        </p:spPr>
      </p:sp>
      <p:sp>
        <p:nvSpPr>
          <p:cNvPr id="4" name="Shape 2"/>
          <p:cNvSpPr/>
          <p:nvPr/>
        </p:nvSpPr>
        <p:spPr>
          <a:xfrm>
            <a:off x="5591556" y="2011680"/>
            <a:ext cx="1005840" cy="1005840"/>
          </a:xfrm>
          <a:prstGeom prst="ellipse">
            <a:avLst/>
          </a:prstGeom>
          <a:solidFill>
            <a:srgbClr val="1F4585"/>
          </a:solidFill>
          <a:ln/>
        </p:spPr>
      </p:sp>
      <p:pic>
        <p:nvPicPr>
          <p:cNvPr id="5" name="Image 0" descr="preencoded.png">    </p:cNvPr>
          <p:cNvPicPr>
            <a:picLocks noChangeAspect="1"/>
          </p:cNvPicPr>
          <p:nvPr/>
        </p:nvPicPr>
        <p:blipFill>
          <a:blip r:embed="rId1"/>
          <a:stretch>
            <a:fillRect/>
          </a:stretch>
        </p:blipFill>
        <p:spPr>
          <a:xfrm>
            <a:off x="5722315" y="2142439"/>
            <a:ext cx="744322" cy="744322"/>
          </a:xfrm>
          <a:prstGeom prst="rect">
            <a:avLst/>
          </a:prstGeom>
        </p:spPr>
      </p:pic>
      <p:sp>
        <p:nvSpPr>
          <p:cNvPr id="6" name="Text 3"/>
          <p:cNvSpPr/>
          <p:nvPr/>
        </p:nvSpPr>
        <p:spPr>
          <a:xfrm>
            <a:off x="0" y="3291840"/>
            <a:ext cx="12188952" cy="73152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Terima Kasih</a:t>
            </a:r>
            <a:endParaRPr lang="en-US" sz="3400" dirty="0"/>
          </a:p>
        </p:txBody>
      </p:sp>
      <p:sp>
        <p:nvSpPr>
          <p:cNvPr id="7" name="Text 4"/>
          <p:cNvSpPr/>
          <p:nvPr/>
        </p:nvSpPr>
        <p:spPr>
          <a:xfrm>
            <a:off x="0" y="4023360"/>
            <a:ext cx="12188952" cy="457200"/>
          </a:xfrm>
          <a:prstGeom prst="rect">
            <a:avLst/>
          </a:prstGeom>
          <a:noFill/>
          <a:ln/>
        </p:spPr>
        <p:txBody>
          <a:bodyPr wrap="square" rtlCol="0" anchor="ctr"/>
          <a:lstStyle/>
          <a:p>
            <a:pPr algn="ctr" indent="0" marL="0">
              <a:buNone/>
            </a:pPr>
            <a:r>
              <a:rPr lang="en-US" sz="1400" dirty="0">
                <a:solidFill>
                  <a:srgbClr val="BFD3F2"/>
                </a:solidFill>
                <a:latin typeface="Calibri" pitchFamily="34" charset="0"/>
                <a:ea typeface="Calibri" pitchFamily="34" charset="-122"/>
                <a:cs typeface="Calibri" pitchFamily="34" charset="-120"/>
              </a:rPr>
              <a:t>Muhamad Fikriansyah — 24260028 — Teknik Informatika — UNUSIA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Hierarchical Clustering (Metode Clustering Bertingkat)</dc:title>
  <dc:subject>PptxGenJS Presentation</dc:subject>
  <dc:creator>Muhamad Fikriansyah</dc:creator>
  <cp:lastModifiedBy>Muhamad Fikriansyah</cp:lastModifiedBy>
  <cp:revision>1</cp:revision>
  <dcterms:created xsi:type="dcterms:W3CDTF">2026-07-08T11:00:15Z</dcterms:created>
  <dcterms:modified xsi:type="dcterms:W3CDTF">2026-07-08T11:00:15Z</dcterms:modified>
</cp:coreProperties>
</file>