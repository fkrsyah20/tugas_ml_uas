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800" b="0" i="0" u="none" strike="noStrike">
                <a:solidFill>
                  <a:srgbClr val="000000"/>
                </a:solidFill>
                <a:latin typeface="Arial"/>
              </a:defRPr>
            </a:pPr>
            <a:r>
              <a:rPr sz="1800" b="0" i="0" u="none" strike="noStrike">
                <a:solidFill>
                  <a:srgbClr val="000000"/>
                </a:solidFill>
                <a:latin typeface="Arial"/>
              </a:rPr>
              <a:t>Visualisasi Hasil Cluster (ilustrasi)</a:t>
            </a:r>
          </a:p>
        </c:rich>
      </c:tx>
      <c:layout/>
      <c:overlay val="0"/>
    </c:title>
    <c:autoTitleDeleted val="0"/>
    <c:plotArea>
      <c:layout/>
      <c:scatterChart>
        <c:scatterStyle val="lineMarker"/>
        <c:varyColors val="0"/>
        <c:ser>
          <c:idx val="0"/>
          <c:order val="0"/>
          <c:tx>
            <c:strRef>
              <c:f>Sheet1!$B$1</c:f>
              <c:strCache>
                <c:ptCount val="1"/>
                <c:pt idx="0">
                  <c:v>Cluster 2</c:v>
                </c:pt>
              </c:strCache>
            </c:strRef>
          </c:tx>
          <c:spPr>
            <a:solidFill>
              <a:srgbClr val="2E6FCC"/>
            </a:solidFill>
            <a:ln w="25400" cap="flat">
              <a:solidFill>
                <a:srgbClr val="2E6FCC"/>
              </a:solidFill>
              <a:prstDash val="solid"/>
              <a:round/>
            </a:ln>
            <a:effectLst/>
          </c:spPr>
          <c:marker>
            <c:symbol val="circle"/>
            <c:size val="6"/>
            <c:spPr>
              <a:solidFill>
                <a:srgbClr val="2E6FCC"/>
              </a:solidFill>
              <a:ln w="9525" cap="flat">
                <a:solidFill>
                  <a:srgbClr val="2E6FCC"/>
                </a:solidFill>
                <a:prstDash val="solid"/>
                <a:round/>
              </a:ln>
              <a:effectLst/>
            </c:spPr>
          </c:marker>
          <c:xVal>
            <c:numRef>
              <c:f>Sheet1!$A$2:$A$11</c:f>
              <c:numCache>
                <c:formatCode>General</c:formatCode>
                <c:ptCount val="10"/>
                <c:pt idx="0">
                  <c:v>5.1</c:v>
                </c:pt>
                <c:pt idx="1">
                  <c:v>4.9</c:v>
                </c:pt>
                <c:pt idx="2">
                  <c:v>4.7</c:v>
                </c:pt>
                <c:pt idx="3">
                  <c:v>4.6</c:v>
                </c:pt>
                <c:pt idx="4">
                  <c:v>5</c:v>
                </c:pt>
                <c:pt idx="5">
                  <c:v>5.4</c:v>
                </c:pt>
                <c:pt idx="6">
                  <c:v>4.6</c:v>
                </c:pt>
                <c:pt idx="7">
                  <c:v>5</c:v>
                </c:pt>
                <c:pt idx="8">
                  <c:v>4.4</c:v>
                </c:pt>
                <c:pt idx="9">
                  <c:v>4.9</c:v>
                </c:pt>
              </c:numCache>
            </c:numRef>
          </c:xVal>
          <c:yVal>
            <c:numRef>
              <c:f>Sheet1!$B$2:$B$11</c:f>
              <c:numCache>
                <c:formatCode>General</c:formatCode>
                <c:ptCount val="10"/>
                <c:pt idx="0">
                  <c:v>7</c:v>
                </c:pt>
                <c:pt idx="1">
                  <c:v>6.4</c:v>
                </c:pt>
                <c:pt idx="2">
                  <c:v>6.9</c:v>
                </c:pt>
                <c:pt idx="3">
                  <c:v>5.5</c:v>
                </c:pt>
                <c:pt idx="4">
                  <c:v>6.5</c:v>
                </c:pt>
                <c:pt idx="5">
                  <c:v>5.7</c:v>
                </c:pt>
                <c:pt idx="6">
                  <c:v>6.3</c:v>
                </c:pt>
                <c:pt idx="7">
                  <c:v>4.9</c:v>
                </c:pt>
                <c:pt idx="8">
                  <c:v>6.6</c:v>
                </c:pt>
                <c:pt idx="9">
                  <c:v>5.2</c:v>
                </c:pt>
              </c:numCache>
            </c:numRef>
          </c:yVal>
          <c:smooth val="0"/>
        </c:ser>
        <c:ser>
          <c:idx val="1"/>
          <c:order val="1"/>
          <c:tx>
            <c:strRef>
              <c:f>Sheet1!$C$1</c:f>
              <c:strCache>
                <c:ptCount val="1"/>
                <c:pt idx="0">
                  <c:v>Cluster 3</c:v>
                </c:pt>
              </c:strCache>
            </c:strRef>
          </c:tx>
          <c:spPr>
            <a:solidFill>
              <a:srgbClr val="5EA0E8"/>
            </a:solidFill>
            <a:ln w="25400" cap="flat">
              <a:solidFill>
                <a:srgbClr val="5EA0E8"/>
              </a:solidFill>
              <a:prstDash val="solid"/>
              <a:round/>
            </a:ln>
            <a:effectLst/>
          </c:spPr>
          <c:marker>
            <c:symbol val="circle"/>
            <c:size val="6"/>
            <c:spPr>
              <a:solidFill>
                <a:srgbClr val="5EA0E8"/>
              </a:solidFill>
              <a:ln w="9525" cap="flat">
                <a:solidFill>
                  <a:srgbClr val="5EA0E8"/>
                </a:solidFill>
                <a:prstDash val="solid"/>
                <a:round/>
              </a:ln>
              <a:effectLst/>
            </c:spPr>
          </c:marker>
          <c:xVal>
            <c:numRef>
              <c:f>Sheet1!$A$2:$A$11</c:f>
              <c:numCache>
                <c:formatCode>General</c:formatCode>
                <c:ptCount val="10"/>
                <c:pt idx="0">
                  <c:v>5.1</c:v>
                </c:pt>
                <c:pt idx="1">
                  <c:v>4.9</c:v>
                </c:pt>
                <c:pt idx="2">
                  <c:v>4.7</c:v>
                </c:pt>
                <c:pt idx="3">
                  <c:v>4.6</c:v>
                </c:pt>
                <c:pt idx="4">
                  <c:v>5</c:v>
                </c:pt>
                <c:pt idx="5">
                  <c:v>5.4</c:v>
                </c:pt>
                <c:pt idx="6">
                  <c:v>4.6</c:v>
                </c:pt>
                <c:pt idx="7">
                  <c:v>5</c:v>
                </c:pt>
                <c:pt idx="8">
                  <c:v>4.4</c:v>
                </c:pt>
                <c:pt idx="9">
                  <c:v>4.9</c:v>
                </c:pt>
              </c:numCache>
            </c:numRef>
          </c:xVal>
          <c:yVal>
            <c:numRef>
              <c:f>Sheet1!$C$2:$C$11</c:f>
              <c:numCache>
                <c:formatCode>General</c:formatCode>
                <c:ptCount val="10"/>
                <c:pt idx="0">
                  <c:v>6.3</c:v>
                </c:pt>
                <c:pt idx="1">
                  <c:v>5.8</c:v>
                </c:pt>
                <c:pt idx="2">
                  <c:v>7.1</c:v>
                </c:pt>
                <c:pt idx="3">
                  <c:v>6.3</c:v>
                </c:pt>
                <c:pt idx="4">
                  <c:v>6.5</c:v>
                </c:pt>
                <c:pt idx="5">
                  <c:v>7.6</c:v>
                </c:pt>
                <c:pt idx="6">
                  <c:v>4.9</c:v>
                </c:pt>
                <c:pt idx="7">
                  <c:v>7.3</c:v>
                </c:pt>
                <c:pt idx="8">
                  <c:v>6.7</c:v>
                </c:pt>
                <c:pt idx="9">
                  <c:v>7.2</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scaling>
        <c:delete val="0"/>
        <c:axPos val="b"/>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5B6B7D"/>
                </a:solidFill>
                <a:latin typeface="Arial"/>
              </a:defRPr>
            </a:pPr>
            <a:endParaRPr lang="en-US"/>
          </a:p>
        </c:txPr>
        <c:crossAx val="2094734552"/>
        <c:crosses val="autoZero"/>
        <c:auto val="1"/>
        <c:lblAlgn val="ctr"/>
        <c:noMultiLvlLbl val="1"/>
      </c:val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5B6B7D"/>
                </a:solidFill>
                <a:latin typeface="Arial"/>
              </a:defRPr>
            </a:pPr>
            <a:endParaRPr lang="en-US"/>
          </a:p>
        </c:txPr>
        <c:crossAx val="2094734554"/>
        <c:crosses val="autoZero"/>
        <c:crossBetween val="midCat"/>
      </c:valAx>
      <c:spPr>
        <a:noFill/>
        <a:ln>
          <a:noFill/>
        </a:ln>
        <a:effectLst/>
      </c:spPr>
    </c:plotArea>
    <c:legend>
      <c:legendPos val="b"/>
      <c:overlay val="0"/>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Selamat pagi/siang. Perkenalkan nama saya Muhamad Fikriansyah, NIM 24260028, dari Program Studi Teknik Informatika, Universitas Nahdlatul Ulama Indonesia. Pada kesempatan ini saya akan mempresentasikan materi mengenai Hierarchical Clustering, salah satu metode clustering bertingkat yang banyak digunakan dalam analisis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Clustering adalah teknik unsupervised learning yang mengelompokkan data berdasarkan kemiripan tanpa memerlukan label. Hierarchical Clustering secara khusus membentuk struktur hierarki atau bertingkat antar cluster yang bisa digambarkan sebagai pohon (dendrogram). Tujuannya adalah mengelompokkan data secara objektif dan menampilkan hubungan antar cluster tanpa perlu menentukan jumlah cluster sejak awal, berbeda dengan K-Means.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Hierarchical Clustering bekerja dengan menggabungkan atau memecah data secara bertahap berdasarkan tingkat kemiripan atau jarak. Ada dua pendekatan utama: Agglomerative yang bersifat bottom-up, dimulai dari setiap data sebagai cluster tersendiri lalu digabung bertahap; dan Divisive yang bersifat top-down, dimulai dari satu cluster besar lalu dipecah bertahap. Pendekatan Agglomerative lebih umum digunakan karena lebih sederhana dan tersedia luas di berbagai pustaka pemrograman seperti Scikit-learn dan SciPy.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Secara umum, algoritma Hierarchical Clustering (Agglomerative) berjalan sebagai berikut: dimulai dengan menganggap setiap data sebagai cluster sendiri, kemudian menghitung jarak antar seluruh pasangan data, menggabungkan dua cluster dengan jarak terdekat, memperbarui matriks jarak, dan mengulangi proses tersebut hingga seluruh data menjadi satu cluster besar. Seluruh proses penggabungan ini kemudian direpresentasikan dalam bentuk dendrogram. Perhitungan jarak antar data biasanya menggunakan Euclidean Distance sebagai dasar pembentukan linkage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Untuk menghitung kemiripan atau perbedaan antar data, digunakan metode pengukuran jarak. Euclidean Distance mengukur jarak garis lurus antar dua titik dan merupakan metode paling umum digunakan. Manhattan Distance mengukur jarak berdasarkan selisih absolut tiap dimensi, seperti menyusuri blok jalan di kota. Cosine Similarity mengukur kemiripan arah antar dua vektor, cocok untuk data teks atau data berdimensi tinggi. Pemilihan metode jarak yang tepat memengaruhi hasil dendrogram yang terbentuk.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Dalam proses penggabungan cluster, dibutuhkan metode linkage untuk menentukan jarak antar cluster. Single Linkage menggunakan jarak minimum antar anggota, cepat namun rentan menghasilkan chaining effect. Complete Linkage menggunakan jarak maksimum, menghasilkan cluster lebih kompak tapi sensitif terhadap outlier. Average Linkage menggunakan rata-rata jarak seluruh pasangan, lebih seimbang. Ward Linkage meminimalkan peningkatan variansi dalam cluster, menghasilkan cluster yang seimbang dan kompak, sehingga banyak dipilih sebagai metode utama pada data numerik multidimensi seperti wine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Dendrogram adalah diagram berbentuk pohon yang menggambarkan urutan dan tingkat kemiripan penggabungan cluster pada Hierarchical Clustering. Sumbu vertikal merepresentasikan jarak saat dua cluster digabungkan, sedangkan sumbu horizontal merepresentasikan objek data atau cluster. Dengan memotong dendrogram pada ketinggian tertentu, kita bisa menentukan jumlah cluster yang diinginkan — semakin rendah garis potong, semakin banyak cluster yang dihasilkan.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Pada presentasi ini, implementasi Hierarchical Clustering didemonstrasikan menggunakan Iris Dataset, salah satu dataset klasik dalam machine learning. Dataset ini terdiri dari 150 sampel bunga Iris dengan 4 atribut numerik, yaitu panjang dan lebar sepal, serta panjang dan lebar petal. Dataset ini dipilih karena sederhana, mudah dipahami, dan sering dijadikan benchmark untuk menguji algoritma clustering maupun klasifikasi.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Berikut contoh implementasi Hierarchical Clustering menggunakan Python. Tahapannya meliputi: mengimpor library seperti Pandas, Scikit-learn, dan SciPy; membaca dataset Iris; melakukan standardisasi data menggunakan Z-score agar semua atribut memiliki skala yang setara; membentuk linkage matrix menggunakan metode Ward; menampilkan dendrogram untuk melihat struktur hierarki; dan terakhir memotong dendrogram untuk mendapatkan hasil cluster akhir menggunakan fungsi fcluster.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Setelah proses clustering, hasil dapat divisualisasikan misalnya menggunakan scatter plot. Pada ilustrasi ini, data dikelompokkan menjadi 3 cluster, sesuai dengan jumlah cluster optimal yang ditentukan melalui evaluasi Silhouette Score. Setiap cluster merepresentasikan kelompok data dengan karakteristik atribut yang saling mirip. Pemisahan cluster yang jelas menandakan pengelompokan yang baik, meskipun sedikit tumpang tindih antar cluster adalah hal yang wajar terjadi pada data di dunia nyata.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Seperti metode lainnya, Hierarchical Clustering memiliki kelebihan dan kekurangan. Kelebihannya antara lain tidak perlu menentukan jumlah cluster di awal, menghasilkan dendrogram yang mudah diinterpretasi, fleksibel terhadap berbagai metode jarak dan linkage, cocok untuk dataset kecil-menengah, serta mampu menampilkan struktur hubungan antar data secara detail. Sementara kekurangannya meliputi komputasi yang berat untuk dataset besar, sensitivitas terhadap outlier, keputusan penggabungan yang bersifat permanen, pemilihan titik potong dendrogram yang subjektif, dan efisiensi yang lebih rendah dibanding metode partisi seperti K-Means.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Hierarchical Clustering diterapkan pada berbagai bidang. Di bidang kesehatan, digunakan untuk mengelompokkan pasien berdasarkan gejala atau rekam medis. Di pendidikan, untuk mengelompokkan siswa berdasarkan pola nilai atau gaya belajar. Di bisnis, untuk segmentasi produk maupun efisiensi rantai pasok. Untuk market segmentation, metode ini membantu mengelompokkan pasar berdasarkan karakteristik produk dan perilaku konsumen. Dan dalam analisis pelanggan, digunakan untuk mengelompokkan pelanggan berdasarkan preferensi dan kebiasaan transaksi mereka.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Sebagai kesimpulan, Hierarchical Clustering merupakan metode yang mengelompokkan data secara bertingkat tanpa perlu menentukan jumlah cluster di awal, dan hasilnya dapat direpresentasikan secara transparan melalui dendrogram. Metode ini bermanfaat untuk memahami struktur dan pola tersembunyi dalam data secara objektif. Disarankan untuk digunakan pada dataset berukuran kecil hingga menengah, dengan melakukan standardisasi data terlebih dahulu, serta memilih metode linkage yang sesuai dengan karakteristik data yang dianalisis.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Referensi yang digunakan dalam penyusunan materi ini berasal dari jurnal-jurnal ilmiah terbaru terkait Hierarchical Clustering, buku Machine Learning, serta dokumentasi resmi Scikit-learn dan SciPy sebagai rujukan teknis implementasi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Demikian presentasi mengenai Hierarchical Clustering yang dapat saya sampaikan. Terima kasih atas perhatiannya, dan saya terbuka untuk pertanyaan maupun diskusi lebih lanjut.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5C"/>
        </a:solidFill>
      </p:bgPr>
    </p:bg>
    <p:spTree>
      <p:nvGrpSpPr>
        <p:cNvPr id="1" name=""/>
        <p:cNvGrpSpPr/>
        <p:nvPr/>
      </p:nvGrpSpPr>
      <p:grpSpPr>
        <a:xfrm>
          <a:off x="0" y="0"/>
          <a:ext cx="0" cy="0"/>
          <a:chOff x="0" y="0"/>
          <a:chExt cx="0" cy="0"/>
        </a:xfrm>
      </p:grpSpPr>
      <p:sp>
        <p:nvSpPr>
          <p:cNvPr id="2" name="Shape 0"/>
          <p:cNvSpPr/>
          <p:nvPr/>
        </p:nvSpPr>
        <p:spPr>
          <a:xfrm>
            <a:off x="9262872" y="-1280160"/>
            <a:ext cx="4206240" cy="4206240"/>
          </a:xfrm>
          <a:prstGeom prst="ellipse">
            <a:avLst/>
          </a:prstGeom>
          <a:solidFill>
            <a:srgbClr val="2E6FCC">
              <a:alpha val="22000"/>
            </a:srgbClr>
          </a:solidFill>
          <a:ln/>
        </p:spPr>
      </p:sp>
      <p:sp>
        <p:nvSpPr>
          <p:cNvPr id="3" name="Shape 1"/>
          <p:cNvSpPr/>
          <p:nvPr/>
        </p:nvSpPr>
        <p:spPr>
          <a:xfrm>
            <a:off x="-1463040" y="4480560"/>
            <a:ext cx="3657600" cy="3657600"/>
          </a:xfrm>
          <a:prstGeom prst="ellipse">
            <a:avLst/>
          </a:prstGeom>
          <a:solidFill>
            <a:srgbClr val="2E6FCC">
              <a:alpha val="18000"/>
            </a:srgbClr>
          </a:solidFill>
          <a:ln/>
        </p:spPr>
      </p:sp>
      <p:sp>
        <p:nvSpPr>
          <p:cNvPr id="4" name="Shape 2"/>
          <p:cNvSpPr/>
          <p:nvPr/>
        </p:nvSpPr>
        <p:spPr>
          <a:xfrm>
            <a:off x="822960" y="822960"/>
            <a:ext cx="868680" cy="868680"/>
          </a:xfrm>
          <a:prstGeom prst="ellipse">
            <a:avLst/>
          </a:prstGeom>
          <a:solidFill>
            <a:srgbClr val="1F4585"/>
          </a:solidFill>
          <a:ln/>
        </p:spPr>
      </p:sp>
      <p:pic>
        <p:nvPicPr>
          <p:cNvPr id="5" name="Image 0" descr="preencoded.png"/>
          <p:cNvPicPr>
            <a:picLocks noChangeAspect="1"/>
          </p:cNvPicPr>
          <p:nvPr/>
        </p:nvPicPr>
        <p:blipFill>
          <a:blip r:embed="rId1"/>
          <a:stretch>
            <a:fillRect/>
          </a:stretch>
        </p:blipFill>
        <p:spPr>
          <a:xfrm>
            <a:off x="935888" y="935888"/>
            <a:ext cx="642823" cy="642823"/>
          </a:xfrm>
          <a:prstGeom prst="rect">
            <a:avLst/>
          </a:prstGeom>
        </p:spPr>
      </p:pic>
      <p:sp>
        <p:nvSpPr>
          <p:cNvPr id="6" name="Text 3"/>
          <p:cNvSpPr/>
          <p:nvPr/>
        </p:nvSpPr>
        <p:spPr>
          <a:xfrm>
            <a:off x="822960" y="2286000"/>
            <a:ext cx="10515600" cy="914400"/>
          </a:xfrm>
          <a:prstGeom prst="rect">
            <a:avLst/>
          </a:prstGeom>
          <a:noFill/>
          <a:ln/>
        </p:spPr>
        <p:txBody>
          <a:bodyPr wrap="square" rtlCol="0" anchor="ctr"/>
          <a:lstStyle/>
          <a:p>
            <a:pPr indent="0" marL="0">
              <a:buNone/>
            </a:pPr>
            <a:r>
              <a:rPr lang="en-US" sz="4000" b="1" spc="100" kern="0" dirty="0">
                <a:solidFill>
                  <a:srgbClr val="FFFFFF"/>
                </a:solidFill>
                <a:latin typeface="Calibri" pitchFamily="34" charset="0"/>
                <a:ea typeface="Calibri" pitchFamily="34" charset="-122"/>
                <a:cs typeface="Calibri" pitchFamily="34" charset="-120"/>
              </a:rPr>
              <a:t>HIERARCHICAL CLUSTERING</a:t>
            </a:r>
            <a:endParaRPr lang="en-US" sz="4000" dirty="0"/>
          </a:p>
        </p:txBody>
      </p:sp>
      <p:sp>
        <p:nvSpPr>
          <p:cNvPr id="7" name="Text 4"/>
          <p:cNvSpPr/>
          <p:nvPr/>
        </p:nvSpPr>
        <p:spPr>
          <a:xfrm>
            <a:off x="822960" y="3063240"/>
            <a:ext cx="10058400" cy="548640"/>
          </a:xfrm>
          <a:prstGeom prst="rect">
            <a:avLst/>
          </a:prstGeom>
          <a:noFill/>
          <a:ln/>
        </p:spPr>
        <p:txBody>
          <a:bodyPr wrap="square" rtlCol="0" anchor="ctr"/>
          <a:lstStyle/>
          <a:p>
            <a:pPr indent="0" marL="0">
              <a:buNone/>
            </a:pPr>
            <a:r>
              <a:rPr lang="en-US" sz="2200" i="1" dirty="0">
                <a:solidFill>
                  <a:srgbClr val="BFD3F2"/>
                </a:solidFill>
                <a:latin typeface="Calibri" pitchFamily="34" charset="0"/>
                <a:ea typeface="Calibri" pitchFamily="34" charset="-122"/>
                <a:cs typeface="Calibri" pitchFamily="34" charset="-120"/>
              </a:rPr>
              <a:t>Metode Clustering Bertingkat</a:t>
            </a:r>
            <a:endParaRPr lang="en-US" sz="2200" dirty="0"/>
          </a:p>
        </p:txBody>
      </p:sp>
      <p:sp>
        <p:nvSpPr>
          <p:cNvPr id="8" name="Shape 5"/>
          <p:cNvSpPr/>
          <p:nvPr/>
        </p:nvSpPr>
        <p:spPr>
          <a:xfrm>
            <a:off x="822960" y="3886200"/>
            <a:ext cx="2926080" cy="18288"/>
          </a:xfrm>
          <a:prstGeom prst="rect">
            <a:avLst/>
          </a:prstGeom>
          <a:solidFill>
            <a:srgbClr val="3E6BB0"/>
          </a:solidFill>
          <a:ln/>
        </p:spPr>
      </p:sp>
      <p:sp>
        <p:nvSpPr>
          <p:cNvPr id="9" name="Text 6"/>
          <p:cNvSpPr/>
          <p:nvPr/>
        </p:nvSpPr>
        <p:spPr>
          <a:xfrm>
            <a:off x="822960" y="4160520"/>
            <a:ext cx="7315200" cy="1737360"/>
          </a:xfrm>
          <a:prstGeom prst="rect">
            <a:avLst/>
          </a:prstGeom>
          <a:noFill/>
          <a:ln/>
        </p:spPr>
        <p:txBody>
          <a:bodyPr wrap="square"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Muhamad Fikriansyah</a:t>
            </a:r>
            <a:endParaRPr lang="en-US" sz="1800" dirty="0"/>
          </a:p>
          <a:p>
            <a:pPr indent="0" marL="0">
              <a:buNone/>
            </a:pPr>
            <a:r>
              <a:rPr lang="en-US" sz="1400" dirty="0">
                <a:solidFill>
                  <a:srgbClr val="C7D6EE"/>
                </a:solidFill>
                <a:latin typeface="Calibri" pitchFamily="34" charset="0"/>
                <a:ea typeface="Calibri" pitchFamily="34" charset="-122"/>
                <a:cs typeface="Calibri" pitchFamily="34" charset="-120"/>
              </a:rPr>
              <a:t>NIM: 24260028</a:t>
            </a:r>
            <a:endParaRPr lang="en-US" sz="1800" dirty="0"/>
          </a:p>
          <a:p>
            <a:pPr indent="0" marL="0">
              <a:buNone/>
            </a:pPr>
            <a:r>
              <a:rPr lang="en-US" sz="1400" dirty="0">
                <a:solidFill>
                  <a:srgbClr val="C7D6EE"/>
                </a:solidFill>
                <a:latin typeface="Calibri" pitchFamily="34" charset="0"/>
                <a:ea typeface="Calibri" pitchFamily="34" charset="-122"/>
                <a:cs typeface="Calibri" pitchFamily="34" charset="-120"/>
              </a:rPr>
              <a:t>Program Studi Teknik Informatika</a:t>
            </a:r>
            <a:endParaRPr lang="en-US" sz="1800" dirty="0"/>
          </a:p>
          <a:p>
            <a:pPr indent="0" marL="0">
              <a:buNone/>
            </a:pPr>
            <a:r>
              <a:rPr lang="en-US" sz="1400" dirty="0">
                <a:solidFill>
                  <a:srgbClr val="C7D6EE"/>
                </a:solidFill>
                <a:latin typeface="Calibri" pitchFamily="34" charset="0"/>
                <a:ea typeface="Calibri" pitchFamily="34" charset="-122"/>
                <a:cs typeface="Calibri" pitchFamily="34" charset="-120"/>
              </a:rPr>
              <a:t>Universitas Nahdlatul Ulama Indonesia</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indent="0" marL="0">
              <a:buNone/>
            </a:pPr>
            <a:r>
              <a:rPr lang="en-US" sz="3200" b="1" dirty="0">
                <a:solidFill>
                  <a:srgbClr val="16305C"/>
                </a:solidFill>
                <a:latin typeface="Calibri" pitchFamily="34" charset="0"/>
                <a:ea typeface="Calibri" pitchFamily="34" charset="-122"/>
                <a:cs typeface="Calibri" pitchFamily="34" charset="-120"/>
              </a:rPr>
              <a:t>Pendahuluan</a:t>
            </a:r>
            <a:endParaRPr lang="en-US" sz="3200" dirty="0"/>
          </a:p>
        </p:txBody>
      </p:sp>
      <p:sp>
        <p:nvSpPr>
          <p:cNvPr id="3" name="Shape 1"/>
          <p:cNvSpPr/>
          <p:nvPr/>
        </p:nvSpPr>
        <p:spPr>
          <a:xfrm>
            <a:off x="548640" y="1600200"/>
            <a:ext cx="11091672" cy="1417320"/>
          </a:xfrm>
          <a:prstGeom prst="roundRect">
            <a:avLst>
              <a:gd name="adj" fmla="val 5161"/>
            </a:avLst>
          </a:prstGeom>
          <a:solidFill>
            <a:srgbClr val="F4F6F9"/>
          </a:solidFill>
          <a:ln/>
          <a:effectLst>
            <a:outerShdw sx="100000" sy="100000" kx="0" ky="0" algn="bl" rotWithShape="0" blurRad="76200" dist="25400" dir="5400000">
              <a:srgbClr val="000000">
                <a:alpha val="8000"/>
              </a:srgbClr>
            </a:outerShdw>
          </a:effectLst>
        </p:spPr>
      </p:sp>
      <p:sp>
        <p:nvSpPr>
          <p:cNvPr id="4" name="Shape 2"/>
          <p:cNvSpPr/>
          <p:nvPr/>
        </p:nvSpPr>
        <p:spPr>
          <a:xfrm>
            <a:off x="822960" y="1856232"/>
            <a:ext cx="914400" cy="914400"/>
          </a:xfrm>
          <a:prstGeom prst="ellipse">
            <a:avLst/>
          </a:prstGeom>
          <a:solidFill>
            <a:srgbClr val="EAF1FB"/>
          </a:solidFill>
          <a:ln/>
        </p:spPr>
      </p:sp>
      <p:pic>
        <p:nvPicPr>
          <p:cNvPr id="5" name="Image 0" descr="preencoded.png"/>
          <p:cNvPicPr>
            <a:picLocks noChangeAspect="1"/>
          </p:cNvPicPr>
          <p:nvPr/>
        </p:nvPicPr>
        <p:blipFill>
          <a:blip r:embed="rId1"/>
          <a:stretch>
            <a:fillRect/>
          </a:stretch>
        </p:blipFill>
        <p:spPr>
          <a:xfrm>
            <a:off x="941832" y="1975104"/>
            <a:ext cx="676656" cy="676656"/>
          </a:xfrm>
          <a:prstGeom prst="rect">
            <a:avLst/>
          </a:prstGeom>
        </p:spPr>
      </p:pic>
      <p:sp>
        <p:nvSpPr>
          <p:cNvPr id="6" name="Text 3"/>
          <p:cNvSpPr/>
          <p:nvPr/>
        </p:nvSpPr>
        <p:spPr>
          <a:xfrm>
            <a:off x="1965960" y="1783080"/>
            <a:ext cx="8778240" cy="411480"/>
          </a:xfrm>
          <a:prstGeom prst="rect">
            <a:avLst/>
          </a:prstGeom>
          <a:noFill/>
          <a:ln/>
        </p:spPr>
        <p:txBody>
          <a:bodyPr wrap="square" rtlCol="0" anchor="ctr"/>
          <a:lstStyle/>
          <a:p>
            <a:pPr indent="0" marL="0">
              <a:buNone/>
            </a:pPr>
            <a:r>
              <a:rPr lang="en-US" sz="1800" b="1" dirty="0">
                <a:solidFill>
                  <a:srgbClr val="16305C"/>
                </a:solidFill>
                <a:latin typeface="Calibri" pitchFamily="34" charset="0"/>
                <a:ea typeface="Calibri" pitchFamily="34" charset="-122"/>
                <a:cs typeface="Calibri" pitchFamily="34" charset="-120"/>
              </a:rPr>
              <a:t>Apa itu Clustering?</a:t>
            </a:r>
            <a:endParaRPr lang="en-US" sz="1800" dirty="0"/>
          </a:p>
        </p:txBody>
      </p:sp>
      <p:sp>
        <p:nvSpPr>
          <p:cNvPr id="7" name="Text 4"/>
          <p:cNvSpPr/>
          <p:nvPr/>
        </p:nvSpPr>
        <p:spPr>
          <a:xfrm>
            <a:off x="1965960" y="2194560"/>
            <a:ext cx="8778240" cy="685800"/>
          </a:xfrm>
          <a:prstGeom prst="rect">
            <a:avLst/>
          </a:prstGeom>
          <a:noFill/>
          <a:ln/>
        </p:spPr>
        <p:txBody>
          <a:bodyPr wrap="square" rtlCol="0" anchor="ctr"/>
          <a:lstStyle/>
          <a:p>
            <a:pPr indent="0" marL="0">
              <a:buNone/>
            </a:pPr>
            <a:r>
              <a:rPr lang="en-US" sz="1400" dirty="0">
                <a:solidFill>
                  <a:srgbClr val="22324A"/>
                </a:solidFill>
                <a:latin typeface="Calibri" pitchFamily="34" charset="0"/>
                <a:ea typeface="Calibri" pitchFamily="34" charset="-122"/>
                <a:cs typeface="Calibri" pitchFamily="34" charset="-120"/>
              </a:rPr>
              <a:t>Teknik unsupervised learning untuk mengelompokkan data berdasarkan kemiripan, tanpa label kelas.</a:t>
            </a:r>
            <a:endParaRPr lang="en-US" sz="1400" dirty="0"/>
          </a:p>
        </p:txBody>
      </p:sp>
      <p:sp>
        <p:nvSpPr>
          <p:cNvPr id="8" name="Shape 5"/>
          <p:cNvSpPr/>
          <p:nvPr/>
        </p:nvSpPr>
        <p:spPr>
          <a:xfrm>
            <a:off x="548640" y="3200400"/>
            <a:ext cx="11091672" cy="1417320"/>
          </a:xfrm>
          <a:prstGeom prst="roundRect">
            <a:avLst>
              <a:gd name="adj" fmla="val 5161"/>
            </a:avLst>
          </a:prstGeom>
          <a:solidFill>
            <a:srgbClr val="F4F6F9"/>
          </a:solidFill>
          <a:ln/>
          <a:effectLst>
            <a:outerShdw sx="100000" sy="100000" kx="0" ky="0" algn="bl" rotWithShape="0" blurRad="76200" dist="25400" dir="5400000">
              <a:srgbClr val="000000">
                <a:alpha val="8000"/>
              </a:srgbClr>
            </a:outerShdw>
          </a:effectLst>
        </p:spPr>
      </p:sp>
      <p:sp>
        <p:nvSpPr>
          <p:cNvPr id="9" name="Shape 6"/>
          <p:cNvSpPr/>
          <p:nvPr/>
        </p:nvSpPr>
        <p:spPr>
          <a:xfrm>
            <a:off x="822960" y="3456432"/>
            <a:ext cx="914400" cy="914400"/>
          </a:xfrm>
          <a:prstGeom prst="ellipse">
            <a:avLst/>
          </a:prstGeom>
          <a:solidFill>
            <a:srgbClr val="EAF1FB"/>
          </a:solidFill>
          <a:ln/>
        </p:spPr>
      </p:sp>
      <p:pic>
        <p:nvPicPr>
          <p:cNvPr id="10" name="Image 1" descr="preencoded.png"/>
          <p:cNvPicPr>
            <a:picLocks noChangeAspect="1"/>
          </p:cNvPicPr>
          <p:nvPr/>
        </p:nvPicPr>
        <p:blipFill>
          <a:blip r:embed="rId2"/>
          <a:stretch>
            <a:fillRect/>
          </a:stretch>
        </p:blipFill>
        <p:spPr>
          <a:xfrm>
            <a:off x="941832" y="3575304"/>
            <a:ext cx="676656" cy="676656"/>
          </a:xfrm>
          <a:prstGeom prst="rect">
            <a:avLst/>
          </a:prstGeom>
        </p:spPr>
      </p:pic>
      <p:sp>
        <p:nvSpPr>
          <p:cNvPr id="11" name="Text 7"/>
          <p:cNvSpPr/>
          <p:nvPr/>
        </p:nvSpPr>
        <p:spPr>
          <a:xfrm>
            <a:off x="1965960" y="3383280"/>
            <a:ext cx="8778240" cy="411480"/>
          </a:xfrm>
          <a:prstGeom prst="rect">
            <a:avLst/>
          </a:prstGeom>
          <a:noFill/>
          <a:ln/>
        </p:spPr>
        <p:txBody>
          <a:bodyPr wrap="square" rtlCol="0" anchor="ctr"/>
          <a:lstStyle/>
          <a:p>
            <a:pPr indent="0" marL="0">
              <a:buNone/>
            </a:pPr>
            <a:r>
              <a:rPr lang="en-US" sz="1800" b="1" dirty="0">
                <a:solidFill>
                  <a:srgbClr val="16305C"/>
                </a:solidFill>
                <a:latin typeface="Calibri" pitchFamily="34" charset="0"/>
                <a:ea typeface="Calibri" pitchFamily="34" charset="-122"/>
                <a:cs typeface="Calibri" pitchFamily="34" charset="-120"/>
              </a:rPr>
              <a:t>Apa itu Hierarchical Clustering?</a:t>
            </a:r>
            <a:endParaRPr lang="en-US" sz="1800" dirty="0"/>
          </a:p>
        </p:txBody>
      </p:sp>
      <p:sp>
        <p:nvSpPr>
          <p:cNvPr id="12" name="Text 8"/>
          <p:cNvSpPr/>
          <p:nvPr/>
        </p:nvSpPr>
        <p:spPr>
          <a:xfrm>
            <a:off x="1965960" y="3794760"/>
            <a:ext cx="8778240" cy="685800"/>
          </a:xfrm>
          <a:prstGeom prst="rect">
            <a:avLst/>
          </a:prstGeom>
          <a:noFill/>
          <a:ln/>
        </p:spPr>
        <p:txBody>
          <a:bodyPr wrap="square" rtlCol="0" anchor="ctr"/>
          <a:lstStyle/>
          <a:p>
            <a:pPr indent="0" marL="0">
              <a:buNone/>
            </a:pPr>
            <a:r>
              <a:rPr lang="en-US" sz="1400" dirty="0">
                <a:solidFill>
                  <a:srgbClr val="22324A"/>
                </a:solidFill>
                <a:latin typeface="Calibri" pitchFamily="34" charset="0"/>
                <a:ea typeface="Calibri" pitchFamily="34" charset="-122"/>
                <a:cs typeface="Calibri" pitchFamily="34" charset="-120"/>
              </a:rPr>
              <a:t>Metode clustering yang membentuk struktur bertingkat (hierarki) antar cluster, digambarkan dalam dendrogram.</a:t>
            </a:r>
            <a:endParaRPr lang="en-US" sz="1400" dirty="0"/>
          </a:p>
        </p:txBody>
      </p:sp>
      <p:sp>
        <p:nvSpPr>
          <p:cNvPr id="13" name="Shape 9"/>
          <p:cNvSpPr/>
          <p:nvPr/>
        </p:nvSpPr>
        <p:spPr>
          <a:xfrm>
            <a:off x="548640" y="4800600"/>
            <a:ext cx="11091672" cy="1417320"/>
          </a:xfrm>
          <a:prstGeom prst="roundRect">
            <a:avLst>
              <a:gd name="adj" fmla="val 5161"/>
            </a:avLst>
          </a:prstGeom>
          <a:solidFill>
            <a:srgbClr val="F4F6F9"/>
          </a:solidFill>
          <a:ln/>
          <a:effectLst>
            <a:outerShdw sx="100000" sy="100000" kx="0" ky="0" algn="bl" rotWithShape="0" blurRad="76200" dist="25400" dir="5400000">
              <a:srgbClr val="000000">
                <a:alpha val="8000"/>
              </a:srgbClr>
            </a:outerShdw>
          </a:effectLst>
        </p:spPr>
      </p:sp>
      <p:sp>
        <p:nvSpPr>
          <p:cNvPr id="14" name="Shape 10"/>
          <p:cNvSpPr/>
          <p:nvPr/>
        </p:nvSpPr>
        <p:spPr>
          <a:xfrm>
            <a:off x="822960" y="5056632"/>
            <a:ext cx="914400" cy="914400"/>
          </a:xfrm>
          <a:prstGeom prst="ellipse">
            <a:avLst/>
          </a:prstGeom>
          <a:solidFill>
            <a:srgbClr val="EAF1FB"/>
          </a:solidFill>
          <a:ln/>
        </p:spPr>
      </p:sp>
      <p:pic>
        <p:nvPicPr>
          <p:cNvPr id="15" name="Image 2" descr="preencoded.png"/>
          <p:cNvPicPr>
            <a:picLocks noChangeAspect="1"/>
          </p:cNvPicPr>
          <p:nvPr/>
        </p:nvPicPr>
        <p:blipFill>
          <a:blip r:embed="rId3"/>
          <a:stretch>
            <a:fillRect/>
          </a:stretch>
        </p:blipFill>
        <p:spPr>
          <a:xfrm>
            <a:off x="941832" y="5175504"/>
            <a:ext cx="676656" cy="676656"/>
          </a:xfrm>
          <a:prstGeom prst="rect">
            <a:avLst/>
          </a:prstGeom>
        </p:spPr>
      </p:pic>
      <p:sp>
        <p:nvSpPr>
          <p:cNvPr id="16" name="Text 11"/>
          <p:cNvSpPr/>
          <p:nvPr/>
        </p:nvSpPr>
        <p:spPr>
          <a:xfrm>
            <a:off x="1965960" y="4983480"/>
            <a:ext cx="8778240" cy="411480"/>
          </a:xfrm>
          <a:prstGeom prst="rect">
            <a:avLst/>
          </a:prstGeom>
          <a:noFill/>
          <a:ln/>
        </p:spPr>
        <p:txBody>
          <a:bodyPr wrap="square" rtlCol="0" anchor="ctr"/>
          <a:lstStyle/>
          <a:p>
            <a:pPr indent="0" marL="0">
              <a:buNone/>
            </a:pPr>
            <a:r>
              <a:rPr lang="en-US" sz="1800" b="1" dirty="0">
                <a:solidFill>
                  <a:srgbClr val="16305C"/>
                </a:solidFill>
                <a:latin typeface="Calibri" pitchFamily="34" charset="0"/>
                <a:ea typeface="Calibri" pitchFamily="34" charset="-122"/>
                <a:cs typeface="Calibri" pitchFamily="34" charset="-120"/>
              </a:rPr>
              <a:t>Tujuan Metode</a:t>
            </a:r>
            <a:endParaRPr lang="en-US" sz="1800" dirty="0"/>
          </a:p>
        </p:txBody>
      </p:sp>
      <p:sp>
        <p:nvSpPr>
          <p:cNvPr id="17" name="Text 12"/>
          <p:cNvSpPr/>
          <p:nvPr/>
        </p:nvSpPr>
        <p:spPr>
          <a:xfrm>
            <a:off x="1965960" y="5394960"/>
            <a:ext cx="8778240" cy="685800"/>
          </a:xfrm>
          <a:prstGeom prst="rect">
            <a:avLst/>
          </a:prstGeom>
          <a:noFill/>
          <a:ln/>
        </p:spPr>
        <p:txBody>
          <a:bodyPr wrap="square" rtlCol="0" anchor="ctr"/>
          <a:lstStyle/>
          <a:p>
            <a:pPr indent="0" marL="0">
              <a:buNone/>
            </a:pPr>
            <a:r>
              <a:rPr lang="en-US" sz="1400" dirty="0">
                <a:solidFill>
                  <a:srgbClr val="22324A"/>
                </a:solidFill>
                <a:latin typeface="Calibri" pitchFamily="34" charset="0"/>
                <a:ea typeface="Calibri" pitchFamily="34" charset="-122"/>
                <a:cs typeface="Calibri" pitchFamily="34" charset="-120"/>
              </a:rPr>
              <a:t>Mengelompokkan data secara objektif &amp; menampilkan hubungan antar cluster tanpa menentukan jumlah cluster di awal.</a:t>
            </a:r>
            <a:endParaRPr lang="en-US" sz="1400" dirty="0"/>
          </a:p>
        </p:txBody>
      </p:sp>
      <p:sp>
        <p:nvSpPr>
          <p:cNvPr id="18" name="Text 13"/>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B7D"/>
                </a:solidFill>
              </a:rPr>
              <a:t>2</a:t>
            </a:r>
            <a:endParaRPr lang="en-US" sz="1000" dirty="0"/>
          </a:p>
        </p:txBody>
      </p:sp>
      <p:sp>
        <p:nvSpPr>
          <p:cNvPr id="19" name="Text 14"/>
          <p:cNvSpPr/>
          <p:nvPr/>
        </p:nvSpPr>
        <p:spPr>
          <a:xfrm>
            <a:off x="457200" y="6446520"/>
            <a:ext cx="3657600" cy="274320"/>
          </a:xfrm>
          <a:prstGeom prst="rect">
            <a:avLst/>
          </a:prstGeom>
          <a:noFill/>
          <a:ln/>
        </p:spPr>
        <p:txBody>
          <a:bodyPr wrap="square" rtlCol="0" anchor="ctr"/>
          <a:lstStyle/>
          <a:p>
            <a:pPr indent="0" marL="0">
              <a:buNone/>
            </a:pPr>
            <a:r>
              <a:rPr lang="en-US" sz="1000" dirty="0">
                <a:solidFill>
                  <a:srgbClr val="5B6B7D"/>
                </a:solidFill>
              </a:rPr>
              <a:t>Hierarchical Clustering</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indent="0" marL="0">
              <a:buNone/>
            </a:pPr>
            <a:r>
              <a:rPr lang="en-US" sz="3200" b="1" dirty="0">
                <a:solidFill>
                  <a:srgbClr val="16305C"/>
                </a:solidFill>
                <a:latin typeface="Calibri" pitchFamily="34" charset="0"/>
                <a:ea typeface="Calibri" pitchFamily="34" charset="-122"/>
                <a:cs typeface="Calibri" pitchFamily="34" charset="-120"/>
              </a:rPr>
              <a:t>Konsep Dasar</a:t>
            </a:r>
            <a:endParaRPr lang="en-US" sz="3200" dirty="0"/>
          </a:p>
        </p:txBody>
      </p:sp>
      <p:sp>
        <p:nvSpPr>
          <p:cNvPr id="3" name="Text 1"/>
          <p:cNvSpPr/>
          <p:nvPr/>
        </p:nvSpPr>
        <p:spPr>
          <a:xfrm>
            <a:off x="548640" y="1005840"/>
            <a:ext cx="11091672" cy="365760"/>
          </a:xfrm>
          <a:prstGeom prst="rect">
            <a:avLst/>
          </a:prstGeom>
          <a:noFill/>
          <a:ln/>
        </p:spPr>
        <p:txBody>
          <a:bodyPr wrap="square" rtlCol="0" anchor="ctr"/>
          <a:lstStyle/>
          <a:p>
            <a:pPr indent="0" marL="0">
              <a:buNone/>
            </a:pPr>
            <a:r>
              <a:rPr lang="en-US" sz="1500" i="1" dirty="0">
                <a:solidFill>
                  <a:srgbClr val="5B6B7D"/>
                </a:solidFill>
                <a:latin typeface="Calibri" pitchFamily="34" charset="0"/>
                <a:ea typeface="Calibri" pitchFamily="34" charset="-122"/>
                <a:cs typeface="Calibri" pitchFamily="34" charset="-120"/>
              </a:rPr>
              <a:t>Cara kerja Hierarchical Clustering</a:t>
            </a:r>
            <a:endParaRPr lang="en-US" sz="1500" dirty="0"/>
          </a:p>
        </p:txBody>
      </p:sp>
      <p:sp>
        <p:nvSpPr>
          <p:cNvPr id="4" name="Text 2"/>
          <p:cNvSpPr/>
          <p:nvPr/>
        </p:nvSpPr>
        <p:spPr>
          <a:xfrm>
            <a:off x="548640" y="1600200"/>
            <a:ext cx="5029200" cy="1005840"/>
          </a:xfrm>
          <a:prstGeom prst="rect">
            <a:avLst/>
          </a:prstGeom>
          <a:noFill/>
          <a:ln/>
        </p:spPr>
        <p:txBody>
          <a:bodyPr wrap="square" rtlCol="0" anchor="ctr"/>
          <a:lstStyle/>
          <a:p>
            <a:pPr indent="0" marL="0">
              <a:buNone/>
            </a:pPr>
            <a:r>
              <a:rPr lang="en-US" sz="1600" b="1" dirty="0">
                <a:solidFill>
                  <a:srgbClr val="16305C"/>
                </a:solidFill>
                <a:latin typeface="Calibri" pitchFamily="34" charset="0"/>
                <a:ea typeface="Calibri" pitchFamily="34" charset="-122"/>
                <a:cs typeface="Calibri" pitchFamily="34" charset="-120"/>
              </a:rPr>
              <a:t>Cara Kerja</a:t>
            </a:r>
            <a:endParaRPr lang="en-US" sz="1600" dirty="0"/>
          </a:p>
          <a:p>
            <a:pPr marL="342900" indent="-342900">
              <a:buSzPct val="100000"/>
              <a:buChar char="•"/>
            </a:pPr>
            <a:r>
              <a:rPr lang="en-US" sz="1300" dirty="0">
                <a:solidFill>
                  <a:srgbClr val="22324A"/>
                </a:solidFill>
                <a:latin typeface="Calibri" pitchFamily="34" charset="0"/>
                <a:ea typeface="Calibri" pitchFamily="34" charset="-122"/>
                <a:cs typeface="Calibri" pitchFamily="34" charset="-120"/>
              </a:rPr>
              <a:t>Menggabungkan atau memecah data secara bertahap berdasarkan tingkat kemiripan/jarak.</a:t>
            </a:r>
            <a:endParaRPr lang="en-US" sz="1600" dirty="0"/>
          </a:p>
        </p:txBody>
      </p:sp>
      <p:sp>
        <p:nvSpPr>
          <p:cNvPr id="5" name="Shape 3"/>
          <p:cNvSpPr/>
          <p:nvPr/>
        </p:nvSpPr>
        <p:spPr>
          <a:xfrm>
            <a:off x="548640" y="2651760"/>
            <a:ext cx="5120640" cy="2651760"/>
          </a:xfrm>
          <a:prstGeom prst="roundRect">
            <a:avLst>
              <a:gd name="adj" fmla="val 2759"/>
            </a:avLst>
          </a:prstGeom>
          <a:solidFill>
            <a:srgbClr val="EAF1FB"/>
          </a:solidFill>
          <a:ln/>
        </p:spPr>
      </p:sp>
      <p:sp>
        <p:nvSpPr>
          <p:cNvPr id="6" name="Shape 4"/>
          <p:cNvSpPr/>
          <p:nvPr/>
        </p:nvSpPr>
        <p:spPr>
          <a:xfrm>
            <a:off x="868680" y="2971800"/>
            <a:ext cx="640080" cy="640080"/>
          </a:xfrm>
          <a:prstGeom prst="ellipse">
            <a:avLst/>
          </a:prstGeom>
          <a:solidFill>
            <a:srgbClr val="FFFFFF"/>
          </a:solidFill>
          <a:ln/>
        </p:spPr>
      </p:sp>
      <p:pic>
        <p:nvPicPr>
          <p:cNvPr id="7" name="Image 0" descr="preencoded.png"/>
          <p:cNvPicPr>
            <a:picLocks noChangeAspect="1"/>
          </p:cNvPicPr>
          <p:nvPr/>
        </p:nvPicPr>
        <p:blipFill>
          <a:blip r:embed="rId1"/>
          <a:stretch>
            <a:fillRect/>
          </a:stretch>
        </p:blipFill>
        <p:spPr>
          <a:xfrm>
            <a:off x="951890" y="3055010"/>
            <a:ext cx="473659" cy="473659"/>
          </a:xfrm>
          <a:prstGeom prst="rect">
            <a:avLst/>
          </a:prstGeom>
        </p:spPr>
      </p:pic>
      <p:sp>
        <p:nvSpPr>
          <p:cNvPr id="8" name="Text 5"/>
          <p:cNvSpPr/>
          <p:nvPr/>
        </p:nvSpPr>
        <p:spPr>
          <a:xfrm>
            <a:off x="1691640" y="2971800"/>
            <a:ext cx="3749040" cy="548640"/>
          </a:xfrm>
          <a:prstGeom prst="rect">
            <a:avLst/>
          </a:prstGeom>
          <a:noFill/>
          <a:ln/>
        </p:spPr>
        <p:txBody>
          <a:bodyPr wrap="square" rtlCol="0" anchor="ctr"/>
          <a:lstStyle/>
          <a:p>
            <a:pPr indent="0" marL="0">
              <a:buNone/>
            </a:pPr>
            <a:r>
              <a:rPr lang="en-US" sz="1500" b="1" dirty="0">
                <a:solidFill>
                  <a:srgbClr val="16305C"/>
                </a:solidFill>
                <a:latin typeface="Calibri" pitchFamily="34" charset="0"/>
                <a:ea typeface="Calibri" pitchFamily="34" charset="-122"/>
                <a:cs typeface="Calibri" pitchFamily="34" charset="-120"/>
              </a:rPr>
              <a:t>Agglomerative (Bottom-Up)</a:t>
            </a:r>
            <a:endParaRPr lang="en-US" sz="1500" dirty="0"/>
          </a:p>
        </p:txBody>
      </p:sp>
      <p:sp>
        <p:nvSpPr>
          <p:cNvPr id="9" name="Text 6"/>
          <p:cNvSpPr/>
          <p:nvPr/>
        </p:nvSpPr>
        <p:spPr>
          <a:xfrm>
            <a:off x="868680" y="3657600"/>
            <a:ext cx="4572000" cy="1463040"/>
          </a:xfrm>
          <a:prstGeom prst="rect">
            <a:avLst/>
          </a:prstGeom>
          <a:noFill/>
          <a:ln/>
        </p:spPr>
        <p:txBody>
          <a:bodyPr wrap="square" rtlCol="0" anchor="ctr"/>
          <a:lstStyle/>
          <a:p>
            <a:pPr marL="342900" indent="-342900">
              <a:buSzPct val="100000"/>
              <a:buChar char="•"/>
            </a:pPr>
            <a:r>
              <a:rPr lang="en-US" sz="1250" dirty="0">
                <a:solidFill>
                  <a:srgbClr val="22324A"/>
                </a:solidFill>
                <a:latin typeface="Calibri" pitchFamily="34" charset="0"/>
                <a:ea typeface="Calibri" pitchFamily="34" charset="-122"/>
                <a:cs typeface="Calibri" pitchFamily="34" charset="-120"/>
              </a:rPr>
              <a:t>Setiap data mulai sebagai cluster sendiri</a:t>
            </a:r>
            <a:endParaRPr lang="en-US" sz="1250" dirty="0"/>
          </a:p>
          <a:p>
            <a:pPr marL="342900" indent="-342900">
              <a:buSzPct val="100000"/>
              <a:buChar char="•"/>
            </a:pPr>
            <a:r>
              <a:rPr lang="en-US" sz="1250" dirty="0">
                <a:solidFill>
                  <a:srgbClr val="22324A"/>
                </a:solidFill>
                <a:latin typeface="Calibri" pitchFamily="34" charset="0"/>
                <a:ea typeface="Calibri" pitchFamily="34" charset="-122"/>
                <a:cs typeface="Calibri" pitchFamily="34" charset="-120"/>
              </a:rPr>
              <a:t>Digabung bertahap hingga jadi satu cluster besar</a:t>
            </a:r>
            <a:endParaRPr lang="en-US" sz="1250" dirty="0"/>
          </a:p>
          <a:p>
            <a:pPr marL="342900" indent="-342900">
              <a:buSzPct val="100000"/>
              <a:buChar char="•"/>
            </a:pPr>
            <a:r>
              <a:rPr lang="en-US" sz="1250" dirty="0">
                <a:solidFill>
                  <a:srgbClr val="22324A"/>
                </a:solidFill>
                <a:latin typeface="Calibri" pitchFamily="34" charset="0"/>
                <a:ea typeface="Calibri" pitchFamily="34" charset="-122"/>
                <a:cs typeface="Calibri" pitchFamily="34" charset="-120"/>
              </a:rPr>
              <a:t>Paling umum digunakan</a:t>
            </a:r>
            <a:endParaRPr lang="en-US" sz="1250" dirty="0"/>
          </a:p>
        </p:txBody>
      </p:sp>
      <p:sp>
        <p:nvSpPr>
          <p:cNvPr id="10" name="Shape 7"/>
          <p:cNvSpPr/>
          <p:nvPr/>
        </p:nvSpPr>
        <p:spPr>
          <a:xfrm>
            <a:off x="5943600" y="2651760"/>
            <a:ext cx="5669280" cy="2651760"/>
          </a:xfrm>
          <a:prstGeom prst="roundRect">
            <a:avLst>
              <a:gd name="adj" fmla="val 2759"/>
            </a:avLst>
          </a:prstGeom>
          <a:solidFill>
            <a:srgbClr val="F4F6F9"/>
          </a:solidFill>
          <a:ln/>
        </p:spPr>
      </p:sp>
      <p:sp>
        <p:nvSpPr>
          <p:cNvPr id="11" name="Shape 8"/>
          <p:cNvSpPr/>
          <p:nvPr/>
        </p:nvSpPr>
        <p:spPr>
          <a:xfrm>
            <a:off x="6263640" y="2971800"/>
            <a:ext cx="640080" cy="640080"/>
          </a:xfrm>
          <a:prstGeom prst="ellipse">
            <a:avLst/>
          </a:prstGeom>
          <a:solidFill>
            <a:srgbClr val="FFFFFF"/>
          </a:solidFill>
          <a:ln/>
        </p:spPr>
      </p:sp>
      <p:pic>
        <p:nvPicPr>
          <p:cNvPr id="12" name="Image 1" descr="preencoded.png"/>
          <p:cNvPicPr>
            <a:picLocks noChangeAspect="1"/>
          </p:cNvPicPr>
          <p:nvPr/>
        </p:nvPicPr>
        <p:blipFill>
          <a:blip r:embed="rId2"/>
          <a:stretch>
            <a:fillRect/>
          </a:stretch>
        </p:blipFill>
        <p:spPr>
          <a:xfrm>
            <a:off x="6346850" y="3055010"/>
            <a:ext cx="473659" cy="473659"/>
          </a:xfrm>
          <a:prstGeom prst="rect">
            <a:avLst/>
          </a:prstGeom>
        </p:spPr>
      </p:pic>
      <p:sp>
        <p:nvSpPr>
          <p:cNvPr id="13" name="Text 9"/>
          <p:cNvSpPr/>
          <p:nvPr/>
        </p:nvSpPr>
        <p:spPr>
          <a:xfrm>
            <a:off x="7086600" y="2971800"/>
            <a:ext cx="4297680" cy="548640"/>
          </a:xfrm>
          <a:prstGeom prst="rect">
            <a:avLst/>
          </a:prstGeom>
          <a:noFill/>
          <a:ln/>
        </p:spPr>
        <p:txBody>
          <a:bodyPr wrap="square" rtlCol="0" anchor="ctr"/>
          <a:lstStyle/>
          <a:p>
            <a:pPr indent="0" marL="0">
              <a:buNone/>
            </a:pPr>
            <a:r>
              <a:rPr lang="en-US" sz="1500" b="1" dirty="0">
                <a:solidFill>
                  <a:srgbClr val="16305C"/>
                </a:solidFill>
                <a:latin typeface="Calibri" pitchFamily="34" charset="0"/>
                <a:ea typeface="Calibri" pitchFamily="34" charset="-122"/>
                <a:cs typeface="Calibri" pitchFamily="34" charset="-120"/>
              </a:rPr>
              <a:t>Divisive (Top-Down)</a:t>
            </a:r>
            <a:endParaRPr lang="en-US" sz="1500" dirty="0"/>
          </a:p>
        </p:txBody>
      </p:sp>
      <p:sp>
        <p:nvSpPr>
          <p:cNvPr id="14" name="Text 10"/>
          <p:cNvSpPr/>
          <p:nvPr/>
        </p:nvSpPr>
        <p:spPr>
          <a:xfrm>
            <a:off x="6263640" y="3657600"/>
            <a:ext cx="5120640" cy="1463040"/>
          </a:xfrm>
          <a:prstGeom prst="rect">
            <a:avLst/>
          </a:prstGeom>
          <a:noFill/>
          <a:ln/>
        </p:spPr>
        <p:txBody>
          <a:bodyPr wrap="square" rtlCol="0" anchor="ctr"/>
          <a:lstStyle/>
          <a:p>
            <a:pPr marL="342900" indent="-342900">
              <a:buSzPct val="100000"/>
              <a:buChar char="•"/>
            </a:pPr>
            <a:r>
              <a:rPr lang="en-US" sz="1250" dirty="0">
                <a:solidFill>
                  <a:srgbClr val="22324A"/>
                </a:solidFill>
                <a:latin typeface="Calibri" pitchFamily="34" charset="0"/>
                <a:ea typeface="Calibri" pitchFamily="34" charset="-122"/>
                <a:cs typeface="Calibri" pitchFamily="34" charset="-120"/>
              </a:rPr>
              <a:t>Mulai dari satu cluster besar berisi semua data</a:t>
            </a:r>
            <a:endParaRPr lang="en-US" sz="1250" dirty="0"/>
          </a:p>
          <a:p>
            <a:pPr marL="342900" indent="-342900">
              <a:buSzPct val="100000"/>
              <a:buChar char="•"/>
            </a:pPr>
            <a:r>
              <a:rPr lang="en-US" sz="1250" dirty="0">
                <a:solidFill>
                  <a:srgbClr val="22324A"/>
                </a:solidFill>
                <a:latin typeface="Calibri" pitchFamily="34" charset="0"/>
                <a:ea typeface="Calibri" pitchFamily="34" charset="-122"/>
                <a:cs typeface="Calibri" pitchFamily="34" charset="-120"/>
              </a:rPr>
              <a:t>Dipecah bertahap menjadi cluster lebih kecil</a:t>
            </a:r>
            <a:endParaRPr lang="en-US" sz="1250" dirty="0"/>
          </a:p>
          <a:p>
            <a:pPr marL="342900" indent="-342900">
              <a:buSzPct val="100000"/>
              <a:buChar char="•"/>
            </a:pPr>
            <a:r>
              <a:rPr lang="en-US" sz="1250" dirty="0">
                <a:solidFill>
                  <a:srgbClr val="22324A"/>
                </a:solidFill>
                <a:latin typeface="Calibri" pitchFamily="34" charset="0"/>
                <a:ea typeface="Calibri" pitchFamily="34" charset="-122"/>
                <a:cs typeface="Calibri" pitchFamily="34" charset="-120"/>
              </a:rPr>
              <a:t>Jarang digunakan karena lebih kompleks</a:t>
            </a:r>
            <a:endParaRPr lang="en-US" sz="1250" dirty="0"/>
          </a:p>
        </p:txBody>
      </p:sp>
      <p:sp>
        <p:nvSpPr>
          <p:cNvPr id="15" name="Text 11"/>
          <p:cNvSpPr/>
          <p:nvPr/>
        </p:nvSpPr>
        <p:spPr>
          <a:xfrm>
            <a:off x="548640" y="5440680"/>
            <a:ext cx="10972800" cy="320040"/>
          </a:xfrm>
          <a:prstGeom prst="rect">
            <a:avLst/>
          </a:prstGeom>
          <a:noFill/>
          <a:ln/>
        </p:spPr>
        <p:txBody>
          <a:bodyPr wrap="square" rtlCol="0" anchor="ctr"/>
          <a:lstStyle/>
          <a:p>
            <a:pPr indent="0" marL="0">
              <a:buNone/>
            </a:pPr>
            <a:r>
              <a:rPr lang="en-US" sz="1200" i="1" dirty="0">
                <a:solidFill>
                  <a:srgbClr val="5B6B7D"/>
                </a:solidFill>
                <a:latin typeface="Calibri" pitchFamily="34" charset="0"/>
                <a:ea typeface="Calibri" pitchFamily="34" charset="-122"/>
                <a:cs typeface="Calibri" pitchFamily="34" charset="-120"/>
              </a:rPr>
              <a:t>Ilustrasi: 5 titik data  →  bergabung bertahap  →  1 cluster besar</a:t>
            </a:r>
            <a:endParaRPr lang="en-US" sz="1200" dirty="0"/>
          </a:p>
        </p:txBody>
      </p:sp>
      <p:sp>
        <p:nvSpPr>
          <p:cNvPr id="16" name="Text 12"/>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B7D"/>
                </a:solidFill>
              </a:rPr>
              <a:t>3</a:t>
            </a:r>
            <a:endParaRPr lang="en-US" sz="1000" dirty="0"/>
          </a:p>
        </p:txBody>
      </p:sp>
      <p:sp>
        <p:nvSpPr>
          <p:cNvPr id="17" name="Text 13"/>
          <p:cNvSpPr/>
          <p:nvPr/>
        </p:nvSpPr>
        <p:spPr>
          <a:xfrm>
            <a:off x="457200" y="6446520"/>
            <a:ext cx="3657600" cy="274320"/>
          </a:xfrm>
          <a:prstGeom prst="rect">
            <a:avLst/>
          </a:prstGeom>
          <a:noFill/>
          <a:ln/>
        </p:spPr>
        <p:txBody>
          <a:bodyPr wrap="square" rtlCol="0" anchor="ctr"/>
          <a:lstStyle/>
          <a:p>
            <a:pPr indent="0" marL="0">
              <a:buNone/>
            </a:pPr>
            <a:r>
              <a:rPr lang="en-US" sz="1000" dirty="0">
                <a:solidFill>
                  <a:srgbClr val="5B6B7D"/>
                </a:solidFill>
              </a:rPr>
              <a:t>Hierarchical Clustering</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indent="0" marL="0">
              <a:buNone/>
            </a:pPr>
            <a:r>
              <a:rPr lang="en-US" sz="3200" b="1" dirty="0">
                <a:solidFill>
                  <a:srgbClr val="16305C"/>
                </a:solidFill>
                <a:latin typeface="Calibri" pitchFamily="34" charset="0"/>
                <a:ea typeface="Calibri" pitchFamily="34" charset="-122"/>
                <a:cs typeface="Calibri" pitchFamily="34" charset="-120"/>
              </a:rPr>
              <a:t>Algoritma Hierarchical Clustering</a:t>
            </a:r>
            <a:endParaRPr lang="en-US" sz="3200" dirty="0"/>
          </a:p>
        </p:txBody>
      </p:sp>
      <p:sp>
        <p:nvSpPr>
          <p:cNvPr id="3" name="Shape 1"/>
          <p:cNvSpPr/>
          <p:nvPr/>
        </p:nvSpPr>
        <p:spPr>
          <a:xfrm>
            <a:off x="548640" y="1600200"/>
            <a:ext cx="5362956" cy="1188720"/>
          </a:xfrm>
          <a:prstGeom prst="roundRect">
            <a:avLst>
              <a:gd name="adj" fmla="val 6154"/>
            </a:avLst>
          </a:prstGeom>
          <a:solidFill>
            <a:srgbClr val="F4F6F9"/>
          </a:solidFill>
          <a:ln/>
          <a:effectLst>
            <a:outerShdw sx="100000" sy="100000" kx="0" ky="0" algn="bl" rotWithShape="0" blurRad="63500" dist="25400" dir="5400000">
              <a:srgbClr val="000000">
                <a:alpha val="7000"/>
              </a:srgbClr>
            </a:outerShdw>
          </a:effectLst>
        </p:spPr>
      </p:sp>
      <p:sp>
        <p:nvSpPr>
          <p:cNvPr id="4" name="Shape 2"/>
          <p:cNvSpPr/>
          <p:nvPr/>
        </p:nvSpPr>
        <p:spPr>
          <a:xfrm>
            <a:off x="777240" y="1920240"/>
            <a:ext cx="548640" cy="548640"/>
          </a:xfrm>
          <a:prstGeom prst="ellipse">
            <a:avLst/>
          </a:prstGeom>
          <a:solidFill>
            <a:srgbClr val="2E6FCC"/>
          </a:solidFill>
          <a:ln/>
        </p:spPr>
      </p:sp>
      <p:sp>
        <p:nvSpPr>
          <p:cNvPr id="5" name="Text 3"/>
          <p:cNvSpPr/>
          <p:nvPr/>
        </p:nvSpPr>
        <p:spPr>
          <a:xfrm>
            <a:off x="777240" y="1920240"/>
            <a:ext cx="548640" cy="54864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508760" y="1737360"/>
            <a:ext cx="4174236" cy="914400"/>
          </a:xfrm>
          <a:prstGeom prst="rect">
            <a:avLst/>
          </a:prstGeom>
          <a:noFill/>
          <a:ln/>
        </p:spPr>
        <p:txBody>
          <a:bodyPr wrap="square" rtlCol="0" anchor="ctr"/>
          <a:lstStyle/>
          <a:p>
            <a:pPr indent="0" marL="0">
              <a:buNone/>
            </a:pPr>
            <a:r>
              <a:rPr lang="en-US" sz="1300" dirty="0">
                <a:solidFill>
                  <a:srgbClr val="22324A"/>
                </a:solidFill>
                <a:latin typeface="Calibri" pitchFamily="34" charset="0"/>
                <a:ea typeface="Calibri" pitchFamily="34" charset="-122"/>
                <a:cs typeface="Calibri" pitchFamily="34" charset="-120"/>
              </a:rPr>
              <a:t>Anggap setiap data sebagai satu cluster tersendiri</a:t>
            </a:r>
            <a:endParaRPr lang="en-US" sz="1300" dirty="0"/>
          </a:p>
        </p:txBody>
      </p:sp>
      <p:sp>
        <p:nvSpPr>
          <p:cNvPr id="7" name="Shape 5"/>
          <p:cNvSpPr/>
          <p:nvPr/>
        </p:nvSpPr>
        <p:spPr>
          <a:xfrm>
            <a:off x="6277356" y="1600200"/>
            <a:ext cx="5362956" cy="1188720"/>
          </a:xfrm>
          <a:prstGeom prst="roundRect">
            <a:avLst>
              <a:gd name="adj" fmla="val 6154"/>
            </a:avLst>
          </a:prstGeom>
          <a:solidFill>
            <a:srgbClr val="F4F6F9"/>
          </a:solidFill>
          <a:ln/>
          <a:effectLst>
            <a:outerShdw sx="100000" sy="100000" kx="0" ky="0" algn="bl" rotWithShape="0" blurRad="63500" dist="25400" dir="5400000">
              <a:srgbClr val="000000">
                <a:alpha val="7000"/>
              </a:srgbClr>
            </a:outerShdw>
          </a:effectLst>
        </p:spPr>
      </p:sp>
      <p:sp>
        <p:nvSpPr>
          <p:cNvPr id="8" name="Shape 6"/>
          <p:cNvSpPr/>
          <p:nvPr/>
        </p:nvSpPr>
        <p:spPr>
          <a:xfrm>
            <a:off x="6505956" y="1920240"/>
            <a:ext cx="548640" cy="548640"/>
          </a:xfrm>
          <a:prstGeom prst="ellipse">
            <a:avLst/>
          </a:prstGeom>
          <a:solidFill>
            <a:srgbClr val="2E6FCC"/>
          </a:solidFill>
          <a:ln/>
        </p:spPr>
      </p:sp>
      <p:sp>
        <p:nvSpPr>
          <p:cNvPr id="9" name="Text 7"/>
          <p:cNvSpPr/>
          <p:nvPr/>
        </p:nvSpPr>
        <p:spPr>
          <a:xfrm>
            <a:off x="6505956" y="1920240"/>
            <a:ext cx="548640" cy="54864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Text 8"/>
          <p:cNvSpPr/>
          <p:nvPr/>
        </p:nvSpPr>
        <p:spPr>
          <a:xfrm>
            <a:off x="7237476" y="1737360"/>
            <a:ext cx="4174236" cy="914400"/>
          </a:xfrm>
          <a:prstGeom prst="rect">
            <a:avLst/>
          </a:prstGeom>
          <a:noFill/>
          <a:ln/>
        </p:spPr>
        <p:txBody>
          <a:bodyPr wrap="square" rtlCol="0" anchor="ctr"/>
          <a:lstStyle/>
          <a:p>
            <a:pPr indent="0" marL="0">
              <a:buNone/>
            </a:pPr>
            <a:r>
              <a:rPr lang="en-US" sz="1300" dirty="0">
                <a:solidFill>
                  <a:srgbClr val="22324A"/>
                </a:solidFill>
                <a:latin typeface="Calibri" pitchFamily="34" charset="0"/>
                <a:ea typeface="Calibri" pitchFamily="34" charset="-122"/>
                <a:cs typeface="Calibri" pitchFamily="34" charset="-120"/>
              </a:rPr>
              <a:t>Hitung jarak antar seluruh pasangan cluster/data</a:t>
            </a:r>
            <a:endParaRPr lang="en-US" sz="1300" dirty="0"/>
          </a:p>
        </p:txBody>
      </p:sp>
      <p:sp>
        <p:nvSpPr>
          <p:cNvPr id="11" name="Shape 9"/>
          <p:cNvSpPr/>
          <p:nvPr/>
        </p:nvSpPr>
        <p:spPr>
          <a:xfrm>
            <a:off x="548640" y="3017520"/>
            <a:ext cx="5362956" cy="1188720"/>
          </a:xfrm>
          <a:prstGeom prst="roundRect">
            <a:avLst>
              <a:gd name="adj" fmla="val 6154"/>
            </a:avLst>
          </a:prstGeom>
          <a:solidFill>
            <a:srgbClr val="F4F6F9"/>
          </a:solidFill>
          <a:ln/>
          <a:effectLst>
            <a:outerShdw sx="100000" sy="100000" kx="0" ky="0" algn="bl" rotWithShape="0" blurRad="63500" dist="25400" dir="5400000">
              <a:srgbClr val="000000">
                <a:alpha val="7000"/>
              </a:srgbClr>
            </a:outerShdw>
          </a:effectLst>
        </p:spPr>
      </p:sp>
      <p:sp>
        <p:nvSpPr>
          <p:cNvPr id="12" name="Shape 10"/>
          <p:cNvSpPr/>
          <p:nvPr/>
        </p:nvSpPr>
        <p:spPr>
          <a:xfrm>
            <a:off x="777240" y="3337560"/>
            <a:ext cx="548640" cy="548640"/>
          </a:xfrm>
          <a:prstGeom prst="ellipse">
            <a:avLst/>
          </a:prstGeom>
          <a:solidFill>
            <a:srgbClr val="2E6FCC"/>
          </a:solidFill>
          <a:ln/>
        </p:spPr>
      </p:sp>
      <p:sp>
        <p:nvSpPr>
          <p:cNvPr id="13" name="Text 11"/>
          <p:cNvSpPr/>
          <p:nvPr/>
        </p:nvSpPr>
        <p:spPr>
          <a:xfrm>
            <a:off x="777240" y="3337560"/>
            <a:ext cx="548640" cy="54864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4" name="Text 12"/>
          <p:cNvSpPr/>
          <p:nvPr/>
        </p:nvSpPr>
        <p:spPr>
          <a:xfrm>
            <a:off x="1508760" y="3154680"/>
            <a:ext cx="4174236" cy="914400"/>
          </a:xfrm>
          <a:prstGeom prst="rect">
            <a:avLst/>
          </a:prstGeom>
          <a:noFill/>
          <a:ln/>
        </p:spPr>
        <p:txBody>
          <a:bodyPr wrap="square" rtlCol="0" anchor="ctr"/>
          <a:lstStyle/>
          <a:p>
            <a:pPr indent="0" marL="0">
              <a:buNone/>
            </a:pPr>
            <a:r>
              <a:rPr lang="en-US" sz="1300" dirty="0">
                <a:solidFill>
                  <a:srgbClr val="22324A"/>
                </a:solidFill>
                <a:latin typeface="Calibri" pitchFamily="34" charset="0"/>
                <a:ea typeface="Calibri" pitchFamily="34" charset="-122"/>
                <a:cs typeface="Calibri" pitchFamily="34" charset="-120"/>
              </a:rPr>
              <a:t>Gabungkan dua cluster dengan jarak terdekat</a:t>
            </a:r>
            <a:endParaRPr lang="en-US" sz="1300" dirty="0"/>
          </a:p>
        </p:txBody>
      </p:sp>
      <p:sp>
        <p:nvSpPr>
          <p:cNvPr id="15" name="Shape 13"/>
          <p:cNvSpPr/>
          <p:nvPr/>
        </p:nvSpPr>
        <p:spPr>
          <a:xfrm>
            <a:off x="6277356" y="3017520"/>
            <a:ext cx="5362956" cy="1188720"/>
          </a:xfrm>
          <a:prstGeom prst="roundRect">
            <a:avLst>
              <a:gd name="adj" fmla="val 6154"/>
            </a:avLst>
          </a:prstGeom>
          <a:solidFill>
            <a:srgbClr val="F4F6F9"/>
          </a:solidFill>
          <a:ln/>
          <a:effectLst>
            <a:outerShdw sx="100000" sy="100000" kx="0" ky="0" algn="bl" rotWithShape="0" blurRad="63500" dist="25400" dir="5400000">
              <a:srgbClr val="000000">
                <a:alpha val="7000"/>
              </a:srgbClr>
            </a:outerShdw>
          </a:effectLst>
        </p:spPr>
      </p:sp>
      <p:sp>
        <p:nvSpPr>
          <p:cNvPr id="16" name="Shape 14"/>
          <p:cNvSpPr/>
          <p:nvPr/>
        </p:nvSpPr>
        <p:spPr>
          <a:xfrm>
            <a:off x="6505956" y="3337560"/>
            <a:ext cx="548640" cy="548640"/>
          </a:xfrm>
          <a:prstGeom prst="ellipse">
            <a:avLst/>
          </a:prstGeom>
          <a:solidFill>
            <a:srgbClr val="2E6FCC"/>
          </a:solidFill>
          <a:ln/>
        </p:spPr>
      </p:sp>
      <p:sp>
        <p:nvSpPr>
          <p:cNvPr id="17" name="Text 15"/>
          <p:cNvSpPr/>
          <p:nvPr/>
        </p:nvSpPr>
        <p:spPr>
          <a:xfrm>
            <a:off x="6505956" y="3337560"/>
            <a:ext cx="548640" cy="54864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8" name="Text 16"/>
          <p:cNvSpPr/>
          <p:nvPr/>
        </p:nvSpPr>
        <p:spPr>
          <a:xfrm>
            <a:off x="7237476" y="3154680"/>
            <a:ext cx="4174236" cy="914400"/>
          </a:xfrm>
          <a:prstGeom prst="rect">
            <a:avLst/>
          </a:prstGeom>
          <a:noFill/>
          <a:ln/>
        </p:spPr>
        <p:txBody>
          <a:bodyPr wrap="square" rtlCol="0" anchor="ctr"/>
          <a:lstStyle/>
          <a:p>
            <a:pPr indent="0" marL="0">
              <a:buNone/>
            </a:pPr>
            <a:r>
              <a:rPr lang="en-US" sz="1300" dirty="0">
                <a:solidFill>
                  <a:srgbClr val="22324A"/>
                </a:solidFill>
                <a:latin typeface="Calibri" pitchFamily="34" charset="0"/>
                <a:ea typeface="Calibri" pitchFamily="34" charset="-122"/>
                <a:cs typeface="Calibri" pitchFamily="34" charset="-120"/>
              </a:rPr>
              <a:t>Perbarui matriks jarak antar cluster</a:t>
            </a:r>
            <a:endParaRPr lang="en-US" sz="1300" dirty="0"/>
          </a:p>
        </p:txBody>
      </p:sp>
      <p:sp>
        <p:nvSpPr>
          <p:cNvPr id="19" name="Shape 17"/>
          <p:cNvSpPr/>
          <p:nvPr/>
        </p:nvSpPr>
        <p:spPr>
          <a:xfrm>
            <a:off x="548640" y="4434840"/>
            <a:ext cx="5362956" cy="1188720"/>
          </a:xfrm>
          <a:prstGeom prst="roundRect">
            <a:avLst>
              <a:gd name="adj" fmla="val 6154"/>
            </a:avLst>
          </a:prstGeom>
          <a:solidFill>
            <a:srgbClr val="F4F6F9"/>
          </a:solidFill>
          <a:ln/>
          <a:effectLst>
            <a:outerShdw sx="100000" sy="100000" kx="0" ky="0" algn="bl" rotWithShape="0" blurRad="63500" dist="25400" dir="5400000">
              <a:srgbClr val="000000">
                <a:alpha val="7000"/>
              </a:srgbClr>
            </a:outerShdw>
          </a:effectLst>
        </p:spPr>
      </p:sp>
      <p:sp>
        <p:nvSpPr>
          <p:cNvPr id="20" name="Shape 18"/>
          <p:cNvSpPr/>
          <p:nvPr/>
        </p:nvSpPr>
        <p:spPr>
          <a:xfrm>
            <a:off x="777240" y="4754880"/>
            <a:ext cx="548640" cy="548640"/>
          </a:xfrm>
          <a:prstGeom prst="ellipse">
            <a:avLst/>
          </a:prstGeom>
          <a:solidFill>
            <a:srgbClr val="2E6FCC"/>
          </a:solidFill>
          <a:ln/>
        </p:spPr>
      </p:sp>
      <p:sp>
        <p:nvSpPr>
          <p:cNvPr id="21" name="Text 19"/>
          <p:cNvSpPr/>
          <p:nvPr/>
        </p:nvSpPr>
        <p:spPr>
          <a:xfrm>
            <a:off x="777240" y="4754880"/>
            <a:ext cx="548640" cy="54864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2" name="Text 20"/>
          <p:cNvSpPr/>
          <p:nvPr/>
        </p:nvSpPr>
        <p:spPr>
          <a:xfrm>
            <a:off x="1508760" y="4572000"/>
            <a:ext cx="4174236" cy="914400"/>
          </a:xfrm>
          <a:prstGeom prst="rect">
            <a:avLst/>
          </a:prstGeom>
          <a:noFill/>
          <a:ln/>
        </p:spPr>
        <p:txBody>
          <a:bodyPr wrap="square" rtlCol="0" anchor="ctr"/>
          <a:lstStyle/>
          <a:p>
            <a:pPr indent="0" marL="0">
              <a:buNone/>
            </a:pPr>
            <a:r>
              <a:rPr lang="en-US" sz="1300" dirty="0">
                <a:solidFill>
                  <a:srgbClr val="22324A"/>
                </a:solidFill>
                <a:latin typeface="Calibri" pitchFamily="34" charset="0"/>
                <a:ea typeface="Calibri" pitchFamily="34" charset="-122"/>
                <a:cs typeface="Calibri" pitchFamily="34" charset="-120"/>
              </a:rPr>
              <a:t>Ulangi langkah 2–4 hingga tersisa satu cluster besar</a:t>
            </a:r>
            <a:endParaRPr lang="en-US" sz="1300" dirty="0"/>
          </a:p>
        </p:txBody>
      </p:sp>
      <p:sp>
        <p:nvSpPr>
          <p:cNvPr id="23" name="Shape 21"/>
          <p:cNvSpPr/>
          <p:nvPr/>
        </p:nvSpPr>
        <p:spPr>
          <a:xfrm>
            <a:off x="6277356" y="4434840"/>
            <a:ext cx="5362956" cy="1188720"/>
          </a:xfrm>
          <a:prstGeom prst="roundRect">
            <a:avLst>
              <a:gd name="adj" fmla="val 6154"/>
            </a:avLst>
          </a:prstGeom>
          <a:solidFill>
            <a:srgbClr val="F4F6F9"/>
          </a:solidFill>
          <a:ln/>
          <a:effectLst>
            <a:outerShdw sx="100000" sy="100000" kx="0" ky="0" algn="bl" rotWithShape="0" blurRad="63500" dist="25400" dir="5400000">
              <a:srgbClr val="000000">
                <a:alpha val="7000"/>
              </a:srgbClr>
            </a:outerShdw>
          </a:effectLst>
        </p:spPr>
      </p:sp>
      <p:sp>
        <p:nvSpPr>
          <p:cNvPr id="24" name="Shape 22"/>
          <p:cNvSpPr/>
          <p:nvPr/>
        </p:nvSpPr>
        <p:spPr>
          <a:xfrm>
            <a:off x="6505956" y="4754880"/>
            <a:ext cx="548640" cy="548640"/>
          </a:xfrm>
          <a:prstGeom prst="ellipse">
            <a:avLst/>
          </a:prstGeom>
          <a:solidFill>
            <a:srgbClr val="2E6FCC"/>
          </a:solidFill>
          <a:ln/>
        </p:spPr>
      </p:sp>
      <p:sp>
        <p:nvSpPr>
          <p:cNvPr id="25" name="Text 23"/>
          <p:cNvSpPr/>
          <p:nvPr/>
        </p:nvSpPr>
        <p:spPr>
          <a:xfrm>
            <a:off x="6505956" y="4754880"/>
            <a:ext cx="548640" cy="54864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6" name="Text 24"/>
          <p:cNvSpPr/>
          <p:nvPr/>
        </p:nvSpPr>
        <p:spPr>
          <a:xfrm>
            <a:off x="7237476" y="4572000"/>
            <a:ext cx="4174236" cy="914400"/>
          </a:xfrm>
          <a:prstGeom prst="rect">
            <a:avLst/>
          </a:prstGeom>
          <a:noFill/>
          <a:ln/>
        </p:spPr>
        <p:txBody>
          <a:bodyPr wrap="square" rtlCol="0" anchor="ctr"/>
          <a:lstStyle/>
          <a:p>
            <a:pPr indent="0" marL="0">
              <a:buNone/>
            </a:pPr>
            <a:r>
              <a:rPr lang="en-US" sz="1300" dirty="0">
                <a:solidFill>
                  <a:srgbClr val="22324A"/>
                </a:solidFill>
                <a:latin typeface="Calibri" pitchFamily="34" charset="0"/>
                <a:ea typeface="Calibri" pitchFamily="34" charset="-122"/>
                <a:cs typeface="Calibri" pitchFamily="34" charset="-120"/>
              </a:rPr>
              <a:t>Bentuk dendrogram dari seluruh proses penggabungan</a:t>
            </a:r>
            <a:endParaRPr lang="en-US" sz="1300" dirty="0"/>
          </a:p>
        </p:txBody>
      </p:sp>
      <p:sp>
        <p:nvSpPr>
          <p:cNvPr id="27" name="Text 25"/>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B7D"/>
                </a:solidFill>
              </a:rPr>
              <a:t>4</a:t>
            </a:r>
            <a:endParaRPr lang="en-US" sz="1000" dirty="0"/>
          </a:p>
        </p:txBody>
      </p:sp>
      <p:sp>
        <p:nvSpPr>
          <p:cNvPr id="28" name="Text 26"/>
          <p:cNvSpPr/>
          <p:nvPr/>
        </p:nvSpPr>
        <p:spPr>
          <a:xfrm>
            <a:off x="457200" y="6446520"/>
            <a:ext cx="3657600" cy="274320"/>
          </a:xfrm>
          <a:prstGeom prst="rect">
            <a:avLst/>
          </a:prstGeom>
          <a:noFill/>
          <a:ln/>
        </p:spPr>
        <p:txBody>
          <a:bodyPr wrap="square" rtlCol="0" anchor="ctr"/>
          <a:lstStyle/>
          <a:p>
            <a:pPr indent="0" marL="0">
              <a:buNone/>
            </a:pPr>
            <a:r>
              <a:rPr lang="en-US" sz="1000" dirty="0">
                <a:solidFill>
                  <a:srgbClr val="5B6B7D"/>
                </a:solidFill>
              </a:rPr>
              <a:t>Hierarchical Clustering</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indent="0" marL="0">
              <a:buNone/>
            </a:pPr>
            <a:r>
              <a:rPr lang="en-US" sz="3200" b="1" dirty="0">
                <a:solidFill>
                  <a:srgbClr val="16305C"/>
                </a:solidFill>
                <a:latin typeface="Calibri" pitchFamily="34" charset="0"/>
                <a:ea typeface="Calibri" pitchFamily="34" charset="-122"/>
                <a:cs typeface="Calibri" pitchFamily="34" charset="-120"/>
              </a:rPr>
              <a:t>Metode Pengukuran Jarak</a:t>
            </a:r>
            <a:endParaRPr lang="en-US" sz="3200" dirty="0"/>
          </a:p>
        </p:txBody>
      </p:sp>
      <p:sp>
        <p:nvSpPr>
          <p:cNvPr id="3" name="Shape 1"/>
          <p:cNvSpPr/>
          <p:nvPr/>
        </p:nvSpPr>
        <p:spPr>
          <a:xfrm>
            <a:off x="548640" y="1645920"/>
            <a:ext cx="3453384" cy="3566160"/>
          </a:xfrm>
          <a:prstGeom prst="roundRect">
            <a:avLst>
              <a:gd name="adj" fmla="val 2118"/>
            </a:avLst>
          </a:prstGeom>
          <a:solidFill>
            <a:srgbClr val="F4F6F9"/>
          </a:solidFill>
          <a:ln/>
          <a:effectLst>
            <a:outerShdw sx="100000" sy="100000" kx="0" ky="0" algn="bl" rotWithShape="0" blurRad="76200" dist="25400" dir="5400000">
              <a:srgbClr val="000000">
                <a:alpha val="8000"/>
              </a:srgbClr>
            </a:outerShdw>
          </a:effectLst>
        </p:spPr>
      </p:sp>
      <p:sp>
        <p:nvSpPr>
          <p:cNvPr id="4" name="Shape 2"/>
          <p:cNvSpPr/>
          <p:nvPr/>
        </p:nvSpPr>
        <p:spPr>
          <a:xfrm>
            <a:off x="1863852" y="1920240"/>
            <a:ext cx="822960" cy="822960"/>
          </a:xfrm>
          <a:prstGeom prst="ellipse">
            <a:avLst/>
          </a:prstGeom>
          <a:solidFill>
            <a:srgbClr val="EAF1FB"/>
          </a:solidFill>
          <a:ln/>
        </p:spPr>
      </p:sp>
      <p:pic>
        <p:nvPicPr>
          <p:cNvPr id="5" name="Image 0" descr="preencoded.png"/>
          <p:cNvPicPr>
            <a:picLocks noChangeAspect="1"/>
          </p:cNvPicPr>
          <p:nvPr/>
        </p:nvPicPr>
        <p:blipFill>
          <a:blip r:embed="rId1"/>
          <a:stretch>
            <a:fillRect/>
          </a:stretch>
        </p:blipFill>
        <p:spPr>
          <a:xfrm>
            <a:off x="1970837" y="2027225"/>
            <a:ext cx="608990" cy="608990"/>
          </a:xfrm>
          <a:prstGeom prst="rect">
            <a:avLst/>
          </a:prstGeom>
        </p:spPr>
      </p:pic>
      <p:sp>
        <p:nvSpPr>
          <p:cNvPr id="6" name="Text 3"/>
          <p:cNvSpPr/>
          <p:nvPr/>
        </p:nvSpPr>
        <p:spPr>
          <a:xfrm>
            <a:off x="731520" y="2926080"/>
            <a:ext cx="3087624" cy="548640"/>
          </a:xfrm>
          <a:prstGeom prst="rect">
            <a:avLst/>
          </a:prstGeom>
          <a:noFill/>
          <a:ln/>
        </p:spPr>
        <p:txBody>
          <a:bodyPr wrap="square" rtlCol="0" anchor="ctr"/>
          <a:lstStyle/>
          <a:p>
            <a:pPr algn="ctr" indent="0" marL="0">
              <a:buNone/>
            </a:pPr>
            <a:r>
              <a:rPr lang="en-US" sz="1500" b="1" dirty="0">
                <a:solidFill>
                  <a:srgbClr val="16305C"/>
                </a:solidFill>
                <a:latin typeface="Calibri" pitchFamily="34" charset="0"/>
                <a:ea typeface="Calibri" pitchFamily="34" charset="-122"/>
                <a:cs typeface="Calibri" pitchFamily="34" charset="-120"/>
              </a:rPr>
              <a:t>Euclidean Distance</a:t>
            </a:r>
            <a:endParaRPr lang="en-US" sz="1500" dirty="0"/>
          </a:p>
        </p:txBody>
      </p:sp>
      <p:sp>
        <p:nvSpPr>
          <p:cNvPr id="7" name="Text 4"/>
          <p:cNvSpPr/>
          <p:nvPr/>
        </p:nvSpPr>
        <p:spPr>
          <a:xfrm>
            <a:off x="777240" y="3520440"/>
            <a:ext cx="2996184" cy="1005840"/>
          </a:xfrm>
          <a:prstGeom prst="rect">
            <a:avLst/>
          </a:prstGeom>
          <a:noFill/>
          <a:ln/>
        </p:spPr>
        <p:txBody>
          <a:bodyPr wrap="square" rtlCol="0" anchor="ctr"/>
          <a:lstStyle/>
          <a:p>
            <a:pPr algn="ctr" indent="0" marL="0">
              <a:buNone/>
            </a:pPr>
            <a:r>
              <a:rPr lang="en-US" sz="1200" dirty="0">
                <a:solidFill>
                  <a:srgbClr val="22324A"/>
                </a:solidFill>
                <a:latin typeface="Calibri" pitchFamily="34" charset="0"/>
                <a:ea typeface="Calibri" pitchFamily="34" charset="-122"/>
                <a:cs typeface="Calibri" pitchFamily="34" charset="-120"/>
              </a:rPr>
              <a:t>Jarak garis lurus antar dua titik data.</a:t>
            </a:r>
            <a:endParaRPr lang="en-US" sz="1200" dirty="0"/>
          </a:p>
        </p:txBody>
      </p:sp>
      <p:sp>
        <p:nvSpPr>
          <p:cNvPr id="8" name="Shape 5"/>
          <p:cNvSpPr/>
          <p:nvPr/>
        </p:nvSpPr>
        <p:spPr>
          <a:xfrm>
            <a:off x="777240" y="4572000"/>
            <a:ext cx="2996184" cy="548640"/>
          </a:xfrm>
          <a:prstGeom prst="rect">
            <a:avLst/>
          </a:prstGeom>
          <a:solidFill>
            <a:srgbClr val="FFFFFF"/>
          </a:solidFill>
          <a:ln w="12700">
            <a:solidFill>
              <a:srgbClr val="D7DEE8"/>
            </a:solidFill>
            <a:prstDash val="solid"/>
          </a:ln>
        </p:spPr>
      </p:sp>
      <p:sp>
        <p:nvSpPr>
          <p:cNvPr id="9" name="Text 6"/>
          <p:cNvSpPr/>
          <p:nvPr/>
        </p:nvSpPr>
        <p:spPr>
          <a:xfrm>
            <a:off x="822960" y="4572000"/>
            <a:ext cx="2904744" cy="548640"/>
          </a:xfrm>
          <a:prstGeom prst="rect">
            <a:avLst/>
          </a:prstGeom>
          <a:noFill/>
          <a:ln/>
        </p:spPr>
        <p:txBody>
          <a:bodyPr wrap="square" rtlCol="0" anchor="ctr"/>
          <a:lstStyle/>
          <a:p>
            <a:pPr algn="ctr" indent="0" marL="0">
              <a:buNone/>
            </a:pPr>
            <a:r>
              <a:rPr lang="en-US" sz="1100" dirty="0">
                <a:solidFill>
                  <a:srgbClr val="2E6FCC"/>
                </a:solidFill>
                <a:latin typeface="Courier New" pitchFamily="34" charset="0"/>
                <a:ea typeface="Courier New" pitchFamily="34" charset="-122"/>
                <a:cs typeface="Courier New" pitchFamily="34" charset="-120"/>
              </a:rPr>
              <a:t>d = √((x1-x2)² + (y1-y2)²)</a:t>
            </a:r>
            <a:endParaRPr lang="en-US" sz="1100" dirty="0"/>
          </a:p>
        </p:txBody>
      </p:sp>
      <p:sp>
        <p:nvSpPr>
          <p:cNvPr id="10" name="Shape 7"/>
          <p:cNvSpPr/>
          <p:nvPr/>
        </p:nvSpPr>
        <p:spPr>
          <a:xfrm>
            <a:off x="4367784" y="1645920"/>
            <a:ext cx="3453384" cy="3566160"/>
          </a:xfrm>
          <a:prstGeom prst="roundRect">
            <a:avLst>
              <a:gd name="adj" fmla="val 2118"/>
            </a:avLst>
          </a:prstGeom>
          <a:solidFill>
            <a:srgbClr val="F4F6F9"/>
          </a:solidFill>
          <a:ln/>
          <a:effectLst>
            <a:outerShdw sx="100000" sy="100000" kx="0" ky="0" algn="bl" rotWithShape="0" blurRad="76200" dist="25400" dir="5400000">
              <a:srgbClr val="000000">
                <a:alpha val="8000"/>
              </a:srgbClr>
            </a:outerShdw>
          </a:effectLst>
        </p:spPr>
      </p:sp>
      <p:sp>
        <p:nvSpPr>
          <p:cNvPr id="11" name="Shape 8"/>
          <p:cNvSpPr/>
          <p:nvPr/>
        </p:nvSpPr>
        <p:spPr>
          <a:xfrm>
            <a:off x="5682996" y="1920240"/>
            <a:ext cx="822960" cy="822960"/>
          </a:xfrm>
          <a:prstGeom prst="ellipse">
            <a:avLst/>
          </a:prstGeom>
          <a:solidFill>
            <a:srgbClr val="EAF1FB"/>
          </a:solidFill>
          <a:ln/>
        </p:spPr>
      </p:sp>
      <p:pic>
        <p:nvPicPr>
          <p:cNvPr id="12" name="Image 1" descr="preencoded.png"/>
          <p:cNvPicPr>
            <a:picLocks noChangeAspect="1"/>
          </p:cNvPicPr>
          <p:nvPr/>
        </p:nvPicPr>
        <p:blipFill>
          <a:blip r:embed="rId2"/>
          <a:stretch>
            <a:fillRect/>
          </a:stretch>
        </p:blipFill>
        <p:spPr>
          <a:xfrm>
            <a:off x="5789981" y="2027225"/>
            <a:ext cx="608990" cy="608990"/>
          </a:xfrm>
          <a:prstGeom prst="rect">
            <a:avLst/>
          </a:prstGeom>
        </p:spPr>
      </p:pic>
      <p:sp>
        <p:nvSpPr>
          <p:cNvPr id="13" name="Text 9"/>
          <p:cNvSpPr/>
          <p:nvPr/>
        </p:nvSpPr>
        <p:spPr>
          <a:xfrm>
            <a:off x="4550664" y="2926080"/>
            <a:ext cx="3087624" cy="548640"/>
          </a:xfrm>
          <a:prstGeom prst="rect">
            <a:avLst/>
          </a:prstGeom>
          <a:noFill/>
          <a:ln/>
        </p:spPr>
        <p:txBody>
          <a:bodyPr wrap="square" rtlCol="0" anchor="ctr"/>
          <a:lstStyle/>
          <a:p>
            <a:pPr algn="ctr" indent="0" marL="0">
              <a:buNone/>
            </a:pPr>
            <a:r>
              <a:rPr lang="en-US" sz="1500" b="1" dirty="0">
                <a:solidFill>
                  <a:srgbClr val="16305C"/>
                </a:solidFill>
                <a:latin typeface="Calibri" pitchFamily="34" charset="0"/>
                <a:ea typeface="Calibri" pitchFamily="34" charset="-122"/>
                <a:cs typeface="Calibri" pitchFamily="34" charset="-120"/>
              </a:rPr>
              <a:t>Manhattan Distance</a:t>
            </a:r>
            <a:endParaRPr lang="en-US" sz="1500" dirty="0"/>
          </a:p>
        </p:txBody>
      </p:sp>
      <p:sp>
        <p:nvSpPr>
          <p:cNvPr id="14" name="Text 10"/>
          <p:cNvSpPr/>
          <p:nvPr/>
        </p:nvSpPr>
        <p:spPr>
          <a:xfrm>
            <a:off x="4596384" y="3520440"/>
            <a:ext cx="2996184" cy="1005840"/>
          </a:xfrm>
          <a:prstGeom prst="rect">
            <a:avLst/>
          </a:prstGeom>
          <a:noFill/>
          <a:ln/>
        </p:spPr>
        <p:txBody>
          <a:bodyPr wrap="square" rtlCol="0" anchor="ctr"/>
          <a:lstStyle/>
          <a:p>
            <a:pPr algn="ctr" indent="0" marL="0">
              <a:buNone/>
            </a:pPr>
            <a:r>
              <a:rPr lang="en-US" sz="1200" dirty="0">
                <a:solidFill>
                  <a:srgbClr val="22324A"/>
                </a:solidFill>
                <a:latin typeface="Calibri" pitchFamily="34" charset="0"/>
                <a:ea typeface="Calibri" pitchFamily="34" charset="-122"/>
                <a:cs typeface="Calibri" pitchFamily="34" charset="-120"/>
              </a:rPr>
              <a:t>Jarak berdasarkan selisih absolut tiap dimensi (seperti jalur grid kota).</a:t>
            </a:r>
            <a:endParaRPr lang="en-US" sz="1200" dirty="0"/>
          </a:p>
        </p:txBody>
      </p:sp>
      <p:sp>
        <p:nvSpPr>
          <p:cNvPr id="15" name="Shape 11"/>
          <p:cNvSpPr/>
          <p:nvPr/>
        </p:nvSpPr>
        <p:spPr>
          <a:xfrm>
            <a:off x="4596384" y="4572000"/>
            <a:ext cx="2996184" cy="548640"/>
          </a:xfrm>
          <a:prstGeom prst="rect">
            <a:avLst/>
          </a:prstGeom>
          <a:solidFill>
            <a:srgbClr val="FFFFFF"/>
          </a:solidFill>
          <a:ln w="12700">
            <a:solidFill>
              <a:srgbClr val="D7DEE8"/>
            </a:solidFill>
            <a:prstDash val="solid"/>
          </a:ln>
        </p:spPr>
      </p:sp>
      <p:sp>
        <p:nvSpPr>
          <p:cNvPr id="16" name="Text 12"/>
          <p:cNvSpPr/>
          <p:nvPr/>
        </p:nvSpPr>
        <p:spPr>
          <a:xfrm>
            <a:off x="4642104" y="4572000"/>
            <a:ext cx="2904744" cy="548640"/>
          </a:xfrm>
          <a:prstGeom prst="rect">
            <a:avLst/>
          </a:prstGeom>
          <a:noFill/>
          <a:ln/>
        </p:spPr>
        <p:txBody>
          <a:bodyPr wrap="square" rtlCol="0" anchor="ctr"/>
          <a:lstStyle/>
          <a:p>
            <a:pPr algn="ctr" indent="0" marL="0">
              <a:buNone/>
            </a:pPr>
            <a:r>
              <a:rPr lang="en-US" sz="1100" dirty="0">
                <a:solidFill>
                  <a:srgbClr val="2E6FCC"/>
                </a:solidFill>
                <a:latin typeface="Courier New" pitchFamily="34" charset="0"/>
                <a:ea typeface="Courier New" pitchFamily="34" charset="-122"/>
                <a:cs typeface="Courier New" pitchFamily="34" charset="-120"/>
              </a:rPr>
              <a:t>d = |x1-x2| + |y1-y2|</a:t>
            </a:r>
            <a:endParaRPr lang="en-US" sz="1100" dirty="0"/>
          </a:p>
        </p:txBody>
      </p:sp>
      <p:sp>
        <p:nvSpPr>
          <p:cNvPr id="17" name="Shape 13"/>
          <p:cNvSpPr/>
          <p:nvPr/>
        </p:nvSpPr>
        <p:spPr>
          <a:xfrm>
            <a:off x="8186928" y="1645920"/>
            <a:ext cx="3453384" cy="3566160"/>
          </a:xfrm>
          <a:prstGeom prst="roundRect">
            <a:avLst>
              <a:gd name="adj" fmla="val 2118"/>
            </a:avLst>
          </a:prstGeom>
          <a:solidFill>
            <a:srgbClr val="F4F6F9"/>
          </a:solidFill>
          <a:ln/>
          <a:effectLst>
            <a:outerShdw sx="100000" sy="100000" kx="0" ky="0" algn="bl" rotWithShape="0" blurRad="76200" dist="25400" dir="5400000">
              <a:srgbClr val="000000">
                <a:alpha val="8000"/>
              </a:srgbClr>
            </a:outerShdw>
          </a:effectLst>
        </p:spPr>
      </p:sp>
      <p:sp>
        <p:nvSpPr>
          <p:cNvPr id="18" name="Shape 14"/>
          <p:cNvSpPr/>
          <p:nvPr/>
        </p:nvSpPr>
        <p:spPr>
          <a:xfrm>
            <a:off x="9502140" y="1920240"/>
            <a:ext cx="822960" cy="822960"/>
          </a:xfrm>
          <a:prstGeom prst="ellipse">
            <a:avLst/>
          </a:prstGeom>
          <a:solidFill>
            <a:srgbClr val="EAF1FB"/>
          </a:solidFill>
          <a:ln/>
        </p:spPr>
      </p:sp>
      <p:pic>
        <p:nvPicPr>
          <p:cNvPr id="19" name="Image 2" descr="preencoded.png"/>
          <p:cNvPicPr>
            <a:picLocks noChangeAspect="1"/>
          </p:cNvPicPr>
          <p:nvPr/>
        </p:nvPicPr>
        <p:blipFill>
          <a:blip r:embed="rId3"/>
          <a:stretch>
            <a:fillRect/>
          </a:stretch>
        </p:blipFill>
        <p:spPr>
          <a:xfrm>
            <a:off x="9609125" y="2027225"/>
            <a:ext cx="608990" cy="608990"/>
          </a:xfrm>
          <a:prstGeom prst="rect">
            <a:avLst/>
          </a:prstGeom>
        </p:spPr>
      </p:pic>
      <p:sp>
        <p:nvSpPr>
          <p:cNvPr id="20" name="Text 15"/>
          <p:cNvSpPr/>
          <p:nvPr/>
        </p:nvSpPr>
        <p:spPr>
          <a:xfrm>
            <a:off x="8369808" y="2926080"/>
            <a:ext cx="3087624" cy="548640"/>
          </a:xfrm>
          <a:prstGeom prst="rect">
            <a:avLst/>
          </a:prstGeom>
          <a:noFill/>
          <a:ln/>
        </p:spPr>
        <p:txBody>
          <a:bodyPr wrap="square" rtlCol="0" anchor="ctr"/>
          <a:lstStyle/>
          <a:p>
            <a:pPr algn="ctr" indent="0" marL="0">
              <a:buNone/>
            </a:pPr>
            <a:r>
              <a:rPr lang="en-US" sz="1500" b="1" dirty="0">
                <a:solidFill>
                  <a:srgbClr val="16305C"/>
                </a:solidFill>
                <a:latin typeface="Calibri" pitchFamily="34" charset="0"/>
                <a:ea typeface="Calibri" pitchFamily="34" charset="-122"/>
                <a:cs typeface="Calibri" pitchFamily="34" charset="-120"/>
              </a:rPr>
              <a:t>Cosine Similarity</a:t>
            </a:r>
            <a:endParaRPr lang="en-US" sz="1500" dirty="0"/>
          </a:p>
        </p:txBody>
      </p:sp>
      <p:sp>
        <p:nvSpPr>
          <p:cNvPr id="21" name="Text 16"/>
          <p:cNvSpPr/>
          <p:nvPr/>
        </p:nvSpPr>
        <p:spPr>
          <a:xfrm>
            <a:off x="8415528" y="3520440"/>
            <a:ext cx="2996184" cy="1005840"/>
          </a:xfrm>
          <a:prstGeom prst="rect">
            <a:avLst/>
          </a:prstGeom>
          <a:noFill/>
          <a:ln/>
        </p:spPr>
        <p:txBody>
          <a:bodyPr wrap="square" rtlCol="0" anchor="ctr"/>
          <a:lstStyle/>
          <a:p>
            <a:pPr algn="ctr" indent="0" marL="0">
              <a:buNone/>
            </a:pPr>
            <a:r>
              <a:rPr lang="en-US" sz="1200" dirty="0">
                <a:solidFill>
                  <a:srgbClr val="22324A"/>
                </a:solidFill>
                <a:latin typeface="Calibri" pitchFamily="34" charset="0"/>
                <a:ea typeface="Calibri" pitchFamily="34" charset="-122"/>
                <a:cs typeface="Calibri" pitchFamily="34" charset="-120"/>
              </a:rPr>
              <a:t>Mengukur kemiripan arah/sudut antar dua vektor data.</a:t>
            </a:r>
            <a:endParaRPr lang="en-US" sz="1200" dirty="0"/>
          </a:p>
        </p:txBody>
      </p:sp>
      <p:sp>
        <p:nvSpPr>
          <p:cNvPr id="22" name="Shape 17"/>
          <p:cNvSpPr/>
          <p:nvPr/>
        </p:nvSpPr>
        <p:spPr>
          <a:xfrm>
            <a:off x="8415528" y="4572000"/>
            <a:ext cx="2996184" cy="548640"/>
          </a:xfrm>
          <a:prstGeom prst="rect">
            <a:avLst/>
          </a:prstGeom>
          <a:solidFill>
            <a:srgbClr val="FFFFFF"/>
          </a:solidFill>
          <a:ln w="12700">
            <a:solidFill>
              <a:srgbClr val="D7DEE8"/>
            </a:solidFill>
            <a:prstDash val="solid"/>
          </a:ln>
        </p:spPr>
      </p:sp>
      <p:sp>
        <p:nvSpPr>
          <p:cNvPr id="23" name="Text 18"/>
          <p:cNvSpPr/>
          <p:nvPr/>
        </p:nvSpPr>
        <p:spPr>
          <a:xfrm>
            <a:off x="8461248" y="4572000"/>
            <a:ext cx="2904744" cy="548640"/>
          </a:xfrm>
          <a:prstGeom prst="rect">
            <a:avLst/>
          </a:prstGeom>
          <a:noFill/>
          <a:ln/>
        </p:spPr>
        <p:txBody>
          <a:bodyPr wrap="square" rtlCol="0" anchor="ctr"/>
          <a:lstStyle/>
          <a:p>
            <a:pPr algn="ctr" indent="0" marL="0">
              <a:buNone/>
            </a:pPr>
            <a:r>
              <a:rPr lang="en-US" sz="1100" dirty="0">
                <a:solidFill>
                  <a:srgbClr val="2E6FCC"/>
                </a:solidFill>
                <a:latin typeface="Courier New" pitchFamily="34" charset="0"/>
                <a:ea typeface="Courier New" pitchFamily="34" charset="-122"/>
                <a:cs typeface="Courier New" pitchFamily="34" charset="-120"/>
              </a:rPr>
              <a:t>cos θ = (A·B) / (‖A‖‖B‖)</a:t>
            </a:r>
            <a:endParaRPr lang="en-US" sz="1100" dirty="0"/>
          </a:p>
        </p:txBody>
      </p:sp>
      <p:sp>
        <p:nvSpPr>
          <p:cNvPr id="24" name="Text 19"/>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B7D"/>
                </a:solidFill>
              </a:rPr>
              <a:t>5</a:t>
            </a:r>
            <a:endParaRPr lang="en-US" sz="1000" dirty="0"/>
          </a:p>
        </p:txBody>
      </p:sp>
      <p:sp>
        <p:nvSpPr>
          <p:cNvPr id="25" name="Text 20"/>
          <p:cNvSpPr/>
          <p:nvPr/>
        </p:nvSpPr>
        <p:spPr>
          <a:xfrm>
            <a:off x="457200" y="6446520"/>
            <a:ext cx="3657600" cy="274320"/>
          </a:xfrm>
          <a:prstGeom prst="rect">
            <a:avLst/>
          </a:prstGeom>
          <a:noFill/>
          <a:ln/>
        </p:spPr>
        <p:txBody>
          <a:bodyPr wrap="square" rtlCol="0" anchor="ctr"/>
          <a:lstStyle/>
          <a:p>
            <a:pPr indent="0" marL="0">
              <a:buNone/>
            </a:pPr>
            <a:r>
              <a:rPr lang="en-US" sz="1000" dirty="0">
                <a:solidFill>
                  <a:srgbClr val="5B6B7D"/>
                </a:solidFill>
              </a:rPr>
              <a:t>Hierarchical Clustering</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indent="0" marL="0">
              <a:buNone/>
            </a:pPr>
            <a:r>
              <a:rPr lang="en-US" sz="3200" b="1" dirty="0">
                <a:solidFill>
                  <a:srgbClr val="16305C"/>
                </a:solidFill>
                <a:latin typeface="Calibri" pitchFamily="34" charset="0"/>
                <a:ea typeface="Calibri" pitchFamily="34" charset="-122"/>
                <a:cs typeface="Calibri" pitchFamily="34" charset="-120"/>
              </a:rPr>
              <a:t>Metode Linkage</a:t>
            </a:r>
            <a:endParaRPr lang="en-US" sz="3200" dirty="0"/>
          </a:p>
        </p:txBody>
      </p:sp>
      <p:sp>
        <p:nvSpPr>
          <p:cNvPr id="3" name="Shape 1"/>
          <p:cNvSpPr/>
          <p:nvPr/>
        </p:nvSpPr>
        <p:spPr>
          <a:xfrm>
            <a:off x="548640" y="1600200"/>
            <a:ext cx="11091672" cy="1051560"/>
          </a:xfrm>
          <a:prstGeom prst="roundRect">
            <a:avLst>
              <a:gd name="adj" fmla="val 6087"/>
            </a:avLst>
          </a:prstGeom>
          <a:solidFill>
            <a:srgbClr val="F4F6F9"/>
          </a:solidFill>
          <a:ln/>
        </p:spPr>
      </p:sp>
      <p:sp>
        <p:nvSpPr>
          <p:cNvPr id="4" name="Text 2"/>
          <p:cNvSpPr/>
          <p:nvPr/>
        </p:nvSpPr>
        <p:spPr>
          <a:xfrm>
            <a:off x="777240" y="1691640"/>
            <a:ext cx="2377440" cy="868680"/>
          </a:xfrm>
          <a:prstGeom prst="rect">
            <a:avLst/>
          </a:prstGeom>
          <a:noFill/>
          <a:ln/>
        </p:spPr>
        <p:txBody>
          <a:bodyPr wrap="square" rtlCol="0" anchor="ctr"/>
          <a:lstStyle/>
          <a:p>
            <a:pPr indent="0" marL="0">
              <a:buNone/>
            </a:pPr>
            <a:r>
              <a:rPr lang="en-US" sz="1450" b="1" dirty="0">
                <a:solidFill>
                  <a:srgbClr val="16305C"/>
                </a:solidFill>
                <a:latin typeface="Calibri" pitchFamily="34" charset="0"/>
                <a:ea typeface="Calibri" pitchFamily="34" charset="-122"/>
                <a:cs typeface="Calibri" pitchFamily="34" charset="-120"/>
              </a:rPr>
              <a:t>Single Linkage</a:t>
            </a:r>
            <a:endParaRPr lang="en-US" sz="1450" dirty="0"/>
          </a:p>
        </p:txBody>
      </p:sp>
      <p:sp>
        <p:nvSpPr>
          <p:cNvPr id="5" name="Text 3"/>
          <p:cNvSpPr/>
          <p:nvPr/>
        </p:nvSpPr>
        <p:spPr>
          <a:xfrm>
            <a:off x="3291840" y="1691640"/>
            <a:ext cx="4206240" cy="868680"/>
          </a:xfrm>
          <a:prstGeom prst="rect">
            <a:avLst/>
          </a:prstGeom>
          <a:noFill/>
          <a:ln/>
        </p:spPr>
        <p:txBody>
          <a:bodyPr wrap="square" rtlCol="0" anchor="ctr"/>
          <a:lstStyle/>
          <a:p>
            <a:pPr indent="0" marL="0">
              <a:buNone/>
            </a:pPr>
            <a:r>
              <a:rPr lang="en-US" sz="1200" dirty="0">
                <a:solidFill>
                  <a:srgbClr val="22324A"/>
                </a:solidFill>
                <a:latin typeface="Calibri" pitchFamily="34" charset="0"/>
                <a:ea typeface="Calibri" pitchFamily="34" charset="-122"/>
                <a:cs typeface="Calibri" pitchFamily="34" charset="-120"/>
              </a:rPr>
              <a:t>Jarak minimum antar anggota kedua cluster.</a:t>
            </a:r>
            <a:endParaRPr lang="en-US" sz="1200" dirty="0"/>
          </a:p>
        </p:txBody>
      </p:sp>
      <p:pic>
        <p:nvPicPr>
          <p:cNvPr id="6" name="Image 0" descr="preencoded.png"/>
          <p:cNvPicPr>
            <a:picLocks noChangeAspect="1"/>
          </p:cNvPicPr>
          <p:nvPr/>
        </p:nvPicPr>
        <p:blipFill>
          <a:blip r:embed="rId1"/>
          <a:stretch>
            <a:fillRect/>
          </a:stretch>
        </p:blipFill>
        <p:spPr>
          <a:xfrm>
            <a:off x="7635240" y="1911096"/>
            <a:ext cx="292608" cy="292608"/>
          </a:xfrm>
          <a:prstGeom prst="rect">
            <a:avLst/>
          </a:prstGeom>
        </p:spPr>
      </p:pic>
      <p:sp>
        <p:nvSpPr>
          <p:cNvPr id="7" name="Text 4"/>
          <p:cNvSpPr/>
          <p:nvPr/>
        </p:nvSpPr>
        <p:spPr>
          <a:xfrm>
            <a:off x="8001000" y="1691640"/>
            <a:ext cx="1783080" cy="868680"/>
          </a:xfrm>
          <a:prstGeom prst="rect">
            <a:avLst/>
          </a:prstGeom>
          <a:noFill/>
          <a:ln/>
        </p:spPr>
        <p:txBody>
          <a:bodyPr wrap="square" rtlCol="0" anchor="ctr"/>
          <a:lstStyle/>
          <a:p>
            <a:pPr indent="0" marL="0">
              <a:buNone/>
            </a:pPr>
            <a:r>
              <a:rPr lang="en-US" sz="1100" dirty="0">
                <a:solidFill>
                  <a:srgbClr val="1E8E5A"/>
                </a:solidFill>
                <a:latin typeface="Calibri" pitchFamily="34" charset="0"/>
                <a:ea typeface="Calibri" pitchFamily="34" charset="-122"/>
                <a:cs typeface="Calibri" pitchFamily="34" charset="-120"/>
              </a:rPr>
              <a:t>Cepat, sederhana</a:t>
            </a:r>
            <a:endParaRPr lang="en-US" sz="1100" dirty="0"/>
          </a:p>
        </p:txBody>
      </p:sp>
      <p:pic>
        <p:nvPicPr>
          <p:cNvPr id="8" name="Image 1" descr="preencoded.png"/>
          <p:cNvPicPr>
            <a:picLocks noChangeAspect="1"/>
          </p:cNvPicPr>
          <p:nvPr/>
        </p:nvPicPr>
        <p:blipFill>
          <a:blip r:embed="rId2"/>
          <a:stretch>
            <a:fillRect/>
          </a:stretch>
        </p:blipFill>
        <p:spPr>
          <a:xfrm>
            <a:off x="9829800" y="1911096"/>
            <a:ext cx="292608" cy="292608"/>
          </a:xfrm>
          <a:prstGeom prst="rect">
            <a:avLst/>
          </a:prstGeom>
        </p:spPr>
      </p:pic>
      <p:sp>
        <p:nvSpPr>
          <p:cNvPr id="9" name="Text 5"/>
          <p:cNvSpPr/>
          <p:nvPr/>
        </p:nvSpPr>
        <p:spPr>
          <a:xfrm>
            <a:off x="10195560" y="1691640"/>
            <a:ext cx="1463040" cy="868680"/>
          </a:xfrm>
          <a:prstGeom prst="rect">
            <a:avLst/>
          </a:prstGeom>
          <a:noFill/>
          <a:ln/>
        </p:spPr>
        <p:txBody>
          <a:bodyPr wrap="square" rtlCol="0" anchor="ctr"/>
          <a:lstStyle/>
          <a:p>
            <a:pPr indent="0" marL="0">
              <a:buNone/>
            </a:pPr>
            <a:r>
              <a:rPr lang="en-US" sz="1100" dirty="0">
                <a:solidFill>
                  <a:srgbClr val="C0392B"/>
                </a:solidFill>
                <a:latin typeface="Calibri" pitchFamily="34" charset="0"/>
                <a:ea typeface="Calibri" pitchFamily="34" charset="-122"/>
                <a:cs typeface="Calibri" pitchFamily="34" charset="-120"/>
              </a:rPr>
              <a:t>Rentan chaining effect</a:t>
            </a:r>
            <a:endParaRPr lang="en-US" sz="1100" dirty="0"/>
          </a:p>
        </p:txBody>
      </p:sp>
      <p:sp>
        <p:nvSpPr>
          <p:cNvPr id="10" name="Shape 6"/>
          <p:cNvSpPr/>
          <p:nvPr/>
        </p:nvSpPr>
        <p:spPr>
          <a:xfrm>
            <a:off x="548640" y="2807208"/>
            <a:ext cx="11091672" cy="1051560"/>
          </a:xfrm>
          <a:prstGeom prst="roundRect">
            <a:avLst>
              <a:gd name="adj" fmla="val 6087"/>
            </a:avLst>
          </a:prstGeom>
          <a:solidFill>
            <a:srgbClr val="F4F6F9"/>
          </a:solidFill>
          <a:ln/>
        </p:spPr>
      </p:sp>
      <p:sp>
        <p:nvSpPr>
          <p:cNvPr id="11" name="Text 7"/>
          <p:cNvSpPr/>
          <p:nvPr/>
        </p:nvSpPr>
        <p:spPr>
          <a:xfrm>
            <a:off x="777240" y="2898648"/>
            <a:ext cx="2377440" cy="868680"/>
          </a:xfrm>
          <a:prstGeom prst="rect">
            <a:avLst/>
          </a:prstGeom>
          <a:noFill/>
          <a:ln/>
        </p:spPr>
        <p:txBody>
          <a:bodyPr wrap="square" rtlCol="0" anchor="ctr"/>
          <a:lstStyle/>
          <a:p>
            <a:pPr indent="0" marL="0">
              <a:buNone/>
            </a:pPr>
            <a:r>
              <a:rPr lang="en-US" sz="1450" b="1" dirty="0">
                <a:solidFill>
                  <a:srgbClr val="16305C"/>
                </a:solidFill>
                <a:latin typeface="Calibri" pitchFamily="34" charset="0"/>
                <a:ea typeface="Calibri" pitchFamily="34" charset="-122"/>
                <a:cs typeface="Calibri" pitchFamily="34" charset="-120"/>
              </a:rPr>
              <a:t>Complete Linkage</a:t>
            </a:r>
            <a:endParaRPr lang="en-US" sz="1450" dirty="0"/>
          </a:p>
        </p:txBody>
      </p:sp>
      <p:sp>
        <p:nvSpPr>
          <p:cNvPr id="12" name="Text 8"/>
          <p:cNvSpPr/>
          <p:nvPr/>
        </p:nvSpPr>
        <p:spPr>
          <a:xfrm>
            <a:off x="3291840" y="2898648"/>
            <a:ext cx="4206240" cy="868680"/>
          </a:xfrm>
          <a:prstGeom prst="rect">
            <a:avLst/>
          </a:prstGeom>
          <a:noFill/>
          <a:ln/>
        </p:spPr>
        <p:txBody>
          <a:bodyPr wrap="square" rtlCol="0" anchor="ctr"/>
          <a:lstStyle/>
          <a:p>
            <a:pPr indent="0" marL="0">
              <a:buNone/>
            </a:pPr>
            <a:r>
              <a:rPr lang="en-US" sz="1200" dirty="0">
                <a:solidFill>
                  <a:srgbClr val="22324A"/>
                </a:solidFill>
                <a:latin typeface="Calibri" pitchFamily="34" charset="0"/>
                <a:ea typeface="Calibri" pitchFamily="34" charset="-122"/>
                <a:cs typeface="Calibri" pitchFamily="34" charset="-120"/>
              </a:rPr>
              <a:t>Jarak maksimum antar anggota kedua cluster.</a:t>
            </a:r>
            <a:endParaRPr lang="en-US" sz="1200" dirty="0"/>
          </a:p>
        </p:txBody>
      </p:sp>
      <p:pic>
        <p:nvPicPr>
          <p:cNvPr id="13" name="Image 2" descr="preencoded.png"/>
          <p:cNvPicPr>
            <a:picLocks noChangeAspect="1"/>
          </p:cNvPicPr>
          <p:nvPr/>
        </p:nvPicPr>
        <p:blipFill>
          <a:blip r:embed="rId3"/>
          <a:stretch>
            <a:fillRect/>
          </a:stretch>
        </p:blipFill>
        <p:spPr>
          <a:xfrm>
            <a:off x="7635240" y="3118104"/>
            <a:ext cx="292608" cy="292608"/>
          </a:xfrm>
          <a:prstGeom prst="rect">
            <a:avLst/>
          </a:prstGeom>
        </p:spPr>
      </p:pic>
      <p:sp>
        <p:nvSpPr>
          <p:cNvPr id="14" name="Text 9"/>
          <p:cNvSpPr/>
          <p:nvPr/>
        </p:nvSpPr>
        <p:spPr>
          <a:xfrm>
            <a:off x="8001000" y="2898648"/>
            <a:ext cx="1783080" cy="868680"/>
          </a:xfrm>
          <a:prstGeom prst="rect">
            <a:avLst/>
          </a:prstGeom>
          <a:noFill/>
          <a:ln/>
        </p:spPr>
        <p:txBody>
          <a:bodyPr wrap="square" rtlCol="0" anchor="ctr"/>
          <a:lstStyle/>
          <a:p>
            <a:pPr indent="0" marL="0">
              <a:buNone/>
            </a:pPr>
            <a:r>
              <a:rPr lang="en-US" sz="1100" dirty="0">
                <a:solidFill>
                  <a:srgbClr val="1E8E5A"/>
                </a:solidFill>
                <a:latin typeface="Calibri" pitchFamily="34" charset="0"/>
                <a:ea typeface="Calibri" pitchFamily="34" charset="-122"/>
                <a:cs typeface="Calibri" pitchFamily="34" charset="-120"/>
              </a:rPr>
              <a:t>Cluster lebih kompak</a:t>
            </a:r>
            <a:endParaRPr lang="en-US" sz="1100" dirty="0"/>
          </a:p>
        </p:txBody>
      </p:sp>
      <p:pic>
        <p:nvPicPr>
          <p:cNvPr id="15" name="Image 3" descr="preencoded.png"/>
          <p:cNvPicPr>
            <a:picLocks noChangeAspect="1"/>
          </p:cNvPicPr>
          <p:nvPr/>
        </p:nvPicPr>
        <p:blipFill>
          <a:blip r:embed="rId4"/>
          <a:stretch>
            <a:fillRect/>
          </a:stretch>
        </p:blipFill>
        <p:spPr>
          <a:xfrm>
            <a:off x="9829800" y="3118104"/>
            <a:ext cx="292608" cy="292608"/>
          </a:xfrm>
          <a:prstGeom prst="rect">
            <a:avLst/>
          </a:prstGeom>
        </p:spPr>
      </p:pic>
      <p:sp>
        <p:nvSpPr>
          <p:cNvPr id="16" name="Text 10"/>
          <p:cNvSpPr/>
          <p:nvPr/>
        </p:nvSpPr>
        <p:spPr>
          <a:xfrm>
            <a:off x="10195560" y="2898648"/>
            <a:ext cx="1463040" cy="868680"/>
          </a:xfrm>
          <a:prstGeom prst="rect">
            <a:avLst/>
          </a:prstGeom>
          <a:noFill/>
          <a:ln/>
        </p:spPr>
        <p:txBody>
          <a:bodyPr wrap="square" rtlCol="0" anchor="ctr"/>
          <a:lstStyle/>
          <a:p>
            <a:pPr indent="0" marL="0">
              <a:buNone/>
            </a:pPr>
            <a:r>
              <a:rPr lang="en-US" sz="1100" dirty="0">
                <a:solidFill>
                  <a:srgbClr val="C0392B"/>
                </a:solidFill>
                <a:latin typeface="Calibri" pitchFamily="34" charset="0"/>
                <a:ea typeface="Calibri" pitchFamily="34" charset="-122"/>
                <a:cs typeface="Calibri" pitchFamily="34" charset="-120"/>
              </a:rPr>
              <a:t>Sensitif terhadap outlier</a:t>
            </a:r>
            <a:endParaRPr lang="en-US" sz="1100" dirty="0"/>
          </a:p>
        </p:txBody>
      </p:sp>
      <p:sp>
        <p:nvSpPr>
          <p:cNvPr id="17" name="Shape 11"/>
          <p:cNvSpPr/>
          <p:nvPr/>
        </p:nvSpPr>
        <p:spPr>
          <a:xfrm>
            <a:off x="548640" y="4014216"/>
            <a:ext cx="11091672" cy="1051560"/>
          </a:xfrm>
          <a:prstGeom prst="roundRect">
            <a:avLst>
              <a:gd name="adj" fmla="val 6087"/>
            </a:avLst>
          </a:prstGeom>
          <a:solidFill>
            <a:srgbClr val="F4F6F9"/>
          </a:solidFill>
          <a:ln/>
        </p:spPr>
      </p:sp>
      <p:sp>
        <p:nvSpPr>
          <p:cNvPr id="18" name="Text 12"/>
          <p:cNvSpPr/>
          <p:nvPr/>
        </p:nvSpPr>
        <p:spPr>
          <a:xfrm>
            <a:off x="777240" y="4105656"/>
            <a:ext cx="2377440" cy="868680"/>
          </a:xfrm>
          <a:prstGeom prst="rect">
            <a:avLst/>
          </a:prstGeom>
          <a:noFill/>
          <a:ln/>
        </p:spPr>
        <p:txBody>
          <a:bodyPr wrap="square" rtlCol="0" anchor="ctr"/>
          <a:lstStyle/>
          <a:p>
            <a:pPr indent="0" marL="0">
              <a:buNone/>
            </a:pPr>
            <a:r>
              <a:rPr lang="en-US" sz="1450" b="1" dirty="0">
                <a:solidFill>
                  <a:srgbClr val="16305C"/>
                </a:solidFill>
                <a:latin typeface="Calibri" pitchFamily="34" charset="0"/>
                <a:ea typeface="Calibri" pitchFamily="34" charset="-122"/>
                <a:cs typeface="Calibri" pitchFamily="34" charset="-120"/>
              </a:rPr>
              <a:t>Average Linkage</a:t>
            </a:r>
            <a:endParaRPr lang="en-US" sz="1450" dirty="0"/>
          </a:p>
        </p:txBody>
      </p:sp>
      <p:sp>
        <p:nvSpPr>
          <p:cNvPr id="19" name="Text 13"/>
          <p:cNvSpPr/>
          <p:nvPr/>
        </p:nvSpPr>
        <p:spPr>
          <a:xfrm>
            <a:off x="3291840" y="4105656"/>
            <a:ext cx="4206240" cy="868680"/>
          </a:xfrm>
          <a:prstGeom prst="rect">
            <a:avLst/>
          </a:prstGeom>
          <a:noFill/>
          <a:ln/>
        </p:spPr>
        <p:txBody>
          <a:bodyPr wrap="square" rtlCol="0" anchor="ctr"/>
          <a:lstStyle/>
          <a:p>
            <a:pPr indent="0" marL="0">
              <a:buNone/>
            </a:pPr>
            <a:r>
              <a:rPr lang="en-US" sz="1200" dirty="0">
                <a:solidFill>
                  <a:srgbClr val="22324A"/>
                </a:solidFill>
                <a:latin typeface="Calibri" pitchFamily="34" charset="0"/>
                <a:ea typeface="Calibri" pitchFamily="34" charset="-122"/>
                <a:cs typeface="Calibri" pitchFamily="34" charset="-120"/>
              </a:rPr>
              <a:t>Rata-rata jarak seluruh pasangan anggota.</a:t>
            </a:r>
            <a:endParaRPr lang="en-US" sz="1200" dirty="0"/>
          </a:p>
        </p:txBody>
      </p:sp>
      <p:pic>
        <p:nvPicPr>
          <p:cNvPr id="20" name="Image 4" descr="preencoded.png"/>
          <p:cNvPicPr>
            <a:picLocks noChangeAspect="1"/>
          </p:cNvPicPr>
          <p:nvPr/>
        </p:nvPicPr>
        <p:blipFill>
          <a:blip r:embed="rId5"/>
          <a:stretch>
            <a:fillRect/>
          </a:stretch>
        </p:blipFill>
        <p:spPr>
          <a:xfrm>
            <a:off x="7635240" y="4325112"/>
            <a:ext cx="292608" cy="292608"/>
          </a:xfrm>
          <a:prstGeom prst="rect">
            <a:avLst/>
          </a:prstGeom>
        </p:spPr>
      </p:pic>
      <p:sp>
        <p:nvSpPr>
          <p:cNvPr id="21" name="Text 14"/>
          <p:cNvSpPr/>
          <p:nvPr/>
        </p:nvSpPr>
        <p:spPr>
          <a:xfrm>
            <a:off x="8001000" y="4105656"/>
            <a:ext cx="1783080" cy="868680"/>
          </a:xfrm>
          <a:prstGeom prst="rect">
            <a:avLst/>
          </a:prstGeom>
          <a:noFill/>
          <a:ln/>
        </p:spPr>
        <p:txBody>
          <a:bodyPr wrap="square" rtlCol="0" anchor="ctr"/>
          <a:lstStyle/>
          <a:p>
            <a:pPr indent="0" marL="0">
              <a:buNone/>
            </a:pPr>
            <a:r>
              <a:rPr lang="en-US" sz="1100" dirty="0">
                <a:solidFill>
                  <a:srgbClr val="1E8E5A"/>
                </a:solidFill>
                <a:latin typeface="Calibri" pitchFamily="34" charset="0"/>
                <a:ea typeface="Calibri" pitchFamily="34" charset="-122"/>
                <a:cs typeface="Calibri" pitchFamily="34" charset="-120"/>
              </a:rPr>
              <a:t>Seimbang &amp; stabil</a:t>
            </a:r>
            <a:endParaRPr lang="en-US" sz="1100" dirty="0"/>
          </a:p>
        </p:txBody>
      </p:sp>
      <p:pic>
        <p:nvPicPr>
          <p:cNvPr id="22" name="Image 5" descr="preencoded.png"/>
          <p:cNvPicPr>
            <a:picLocks noChangeAspect="1"/>
          </p:cNvPicPr>
          <p:nvPr/>
        </p:nvPicPr>
        <p:blipFill>
          <a:blip r:embed="rId6"/>
          <a:stretch>
            <a:fillRect/>
          </a:stretch>
        </p:blipFill>
        <p:spPr>
          <a:xfrm>
            <a:off x="9829800" y="4325112"/>
            <a:ext cx="292608" cy="292608"/>
          </a:xfrm>
          <a:prstGeom prst="rect">
            <a:avLst/>
          </a:prstGeom>
        </p:spPr>
      </p:pic>
      <p:sp>
        <p:nvSpPr>
          <p:cNvPr id="23" name="Text 15"/>
          <p:cNvSpPr/>
          <p:nvPr/>
        </p:nvSpPr>
        <p:spPr>
          <a:xfrm>
            <a:off x="10195560" y="4105656"/>
            <a:ext cx="1463040" cy="868680"/>
          </a:xfrm>
          <a:prstGeom prst="rect">
            <a:avLst/>
          </a:prstGeom>
          <a:noFill/>
          <a:ln/>
        </p:spPr>
        <p:txBody>
          <a:bodyPr wrap="square" rtlCol="0" anchor="ctr"/>
          <a:lstStyle/>
          <a:p>
            <a:pPr indent="0" marL="0">
              <a:buNone/>
            </a:pPr>
            <a:r>
              <a:rPr lang="en-US" sz="1100" dirty="0">
                <a:solidFill>
                  <a:srgbClr val="C0392B"/>
                </a:solidFill>
                <a:latin typeface="Calibri" pitchFamily="34" charset="0"/>
                <a:ea typeface="Calibri" pitchFamily="34" charset="-122"/>
                <a:cs typeface="Calibri" pitchFamily="34" charset="-120"/>
              </a:rPr>
              <a:t>Perhitungan lebih berat</a:t>
            </a:r>
            <a:endParaRPr lang="en-US" sz="1100" dirty="0"/>
          </a:p>
        </p:txBody>
      </p:sp>
      <p:sp>
        <p:nvSpPr>
          <p:cNvPr id="24" name="Shape 16"/>
          <p:cNvSpPr/>
          <p:nvPr/>
        </p:nvSpPr>
        <p:spPr>
          <a:xfrm>
            <a:off x="548640" y="5221224"/>
            <a:ext cx="11091672" cy="1051560"/>
          </a:xfrm>
          <a:prstGeom prst="roundRect">
            <a:avLst>
              <a:gd name="adj" fmla="val 6087"/>
            </a:avLst>
          </a:prstGeom>
          <a:solidFill>
            <a:srgbClr val="F4F6F9"/>
          </a:solidFill>
          <a:ln/>
        </p:spPr>
      </p:sp>
      <p:sp>
        <p:nvSpPr>
          <p:cNvPr id="25" name="Text 17"/>
          <p:cNvSpPr/>
          <p:nvPr/>
        </p:nvSpPr>
        <p:spPr>
          <a:xfrm>
            <a:off x="777240" y="5312664"/>
            <a:ext cx="2377440" cy="868680"/>
          </a:xfrm>
          <a:prstGeom prst="rect">
            <a:avLst/>
          </a:prstGeom>
          <a:noFill/>
          <a:ln/>
        </p:spPr>
        <p:txBody>
          <a:bodyPr wrap="square" rtlCol="0" anchor="ctr"/>
          <a:lstStyle/>
          <a:p>
            <a:pPr indent="0" marL="0">
              <a:buNone/>
            </a:pPr>
            <a:r>
              <a:rPr lang="en-US" sz="1450" b="1" dirty="0">
                <a:solidFill>
                  <a:srgbClr val="16305C"/>
                </a:solidFill>
                <a:latin typeface="Calibri" pitchFamily="34" charset="0"/>
                <a:ea typeface="Calibri" pitchFamily="34" charset="-122"/>
                <a:cs typeface="Calibri" pitchFamily="34" charset="-120"/>
              </a:rPr>
              <a:t>Ward Linkage</a:t>
            </a:r>
            <a:endParaRPr lang="en-US" sz="1450" dirty="0"/>
          </a:p>
        </p:txBody>
      </p:sp>
      <p:sp>
        <p:nvSpPr>
          <p:cNvPr id="26" name="Text 18"/>
          <p:cNvSpPr/>
          <p:nvPr/>
        </p:nvSpPr>
        <p:spPr>
          <a:xfrm>
            <a:off x="3291840" y="5312664"/>
            <a:ext cx="4206240" cy="868680"/>
          </a:xfrm>
          <a:prstGeom prst="rect">
            <a:avLst/>
          </a:prstGeom>
          <a:noFill/>
          <a:ln/>
        </p:spPr>
        <p:txBody>
          <a:bodyPr wrap="square" rtlCol="0" anchor="ctr"/>
          <a:lstStyle/>
          <a:p>
            <a:pPr indent="0" marL="0">
              <a:buNone/>
            </a:pPr>
            <a:r>
              <a:rPr lang="en-US" sz="1200" dirty="0">
                <a:solidFill>
                  <a:srgbClr val="22324A"/>
                </a:solidFill>
                <a:latin typeface="Calibri" pitchFamily="34" charset="0"/>
                <a:ea typeface="Calibri" pitchFamily="34" charset="-122"/>
                <a:cs typeface="Calibri" pitchFamily="34" charset="-120"/>
              </a:rPr>
              <a:t>Minimisasi peningkatan variansi dalam cluster.</a:t>
            </a:r>
            <a:endParaRPr lang="en-US" sz="1200" dirty="0"/>
          </a:p>
        </p:txBody>
      </p:sp>
      <p:pic>
        <p:nvPicPr>
          <p:cNvPr id="27" name="Image 6" descr="preencoded.png"/>
          <p:cNvPicPr>
            <a:picLocks noChangeAspect="1"/>
          </p:cNvPicPr>
          <p:nvPr/>
        </p:nvPicPr>
        <p:blipFill>
          <a:blip r:embed="rId7"/>
          <a:stretch>
            <a:fillRect/>
          </a:stretch>
        </p:blipFill>
        <p:spPr>
          <a:xfrm>
            <a:off x="7635240" y="5532120"/>
            <a:ext cx="292608" cy="292608"/>
          </a:xfrm>
          <a:prstGeom prst="rect">
            <a:avLst/>
          </a:prstGeom>
        </p:spPr>
      </p:pic>
      <p:sp>
        <p:nvSpPr>
          <p:cNvPr id="28" name="Text 19"/>
          <p:cNvSpPr/>
          <p:nvPr/>
        </p:nvSpPr>
        <p:spPr>
          <a:xfrm>
            <a:off x="8001000" y="5312664"/>
            <a:ext cx="1783080" cy="868680"/>
          </a:xfrm>
          <a:prstGeom prst="rect">
            <a:avLst/>
          </a:prstGeom>
          <a:noFill/>
          <a:ln/>
        </p:spPr>
        <p:txBody>
          <a:bodyPr wrap="square" rtlCol="0" anchor="ctr"/>
          <a:lstStyle/>
          <a:p>
            <a:pPr indent="0" marL="0">
              <a:buNone/>
            </a:pPr>
            <a:r>
              <a:rPr lang="en-US" sz="1100" dirty="0">
                <a:solidFill>
                  <a:srgbClr val="1E8E5A"/>
                </a:solidFill>
                <a:latin typeface="Calibri" pitchFamily="34" charset="0"/>
                <a:ea typeface="Calibri" pitchFamily="34" charset="-122"/>
                <a:cs typeface="Calibri" pitchFamily="34" charset="-120"/>
              </a:rPr>
              <a:t>Cluster seimbang &amp; kompak</a:t>
            </a:r>
            <a:endParaRPr lang="en-US" sz="1100" dirty="0"/>
          </a:p>
        </p:txBody>
      </p:sp>
      <p:pic>
        <p:nvPicPr>
          <p:cNvPr id="29" name="Image 7" descr="preencoded.png"/>
          <p:cNvPicPr>
            <a:picLocks noChangeAspect="1"/>
          </p:cNvPicPr>
          <p:nvPr/>
        </p:nvPicPr>
        <p:blipFill>
          <a:blip r:embed="rId8"/>
          <a:stretch>
            <a:fillRect/>
          </a:stretch>
        </p:blipFill>
        <p:spPr>
          <a:xfrm>
            <a:off x="9829800" y="5532120"/>
            <a:ext cx="292608" cy="292608"/>
          </a:xfrm>
          <a:prstGeom prst="rect">
            <a:avLst/>
          </a:prstGeom>
        </p:spPr>
      </p:pic>
      <p:sp>
        <p:nvSpPr>
          <p:cNvPr id="30" name="Text 20"/>
          <p:cNvSpPr/>
          <p:nvPr/>
        </p:nvSpPr>
        <p:spPr>
          <a:xfrm>
            <a:off x="10195560" y="5312664"/>
            <a:ext cx="1463040" cy="868680"/>
          </a:xfrm>
          <a:prstGeom prst="rect">
            <a:avLst/>
          </a:prstGeom>
          <a:noFill/>
          <a:ln/>
        </p:spPr>
        <p:txBody>
          <a:bodyPr wrap="square" rtlCol="0" anchor="ctr"/>
          <a:lstStyle/>
          <a:p>
            <a:pPr indent="0" marL="0">
              <a:buNone/>
            </a:pPr>
            <a:r>
              <a:rPr lang="en-US" sz="1100" dirty="0">
                <a:solidFill>
                  <a:srgbClr val="C0392B"/>
                </a:solidFill>
                <a:latin typeface="Calibri" pitchFamily="34" charset="0"/>
                <a:ea typeface="Calibri" pitchFamily="34" charset="-122"/>
                <a:cs typeface="Calibri" pitchFamily="34" charset="-120"/>
              </a:rPr>
              <a:t>Kurang cocok data non-globular</a:t>
            </a:r>
            <a:endParaRPr lang="en-US" sz="1100" dirty="0"/>
          </a:p>
        </p:txBody>
      </p:sp>
      <p:sp>
        <p:nvSpPr>
          <p:cNvPr id="31" name="Text 21"/>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B7D"/>
                </a:solidFill>
              </a:rPr>
              <a:t>6</a:t>
            </a:r>
            <a:endParaRPr lang="en-US" sz="1000" dirty="0"/>
          </a:p>
        </p:txBody>
      </p:sp>
      <p:sp>
        <p:nvSpPr>
          <p:cNvPr id="32" name="Text 22"/>
          <p:cNvSpPr/>
          <p:nvPr/>
        </p:nvSpPr>
        <p:spPr>
          <a:xfrm>
            <a:off x="457200" y="6446520"/>
            <a:ext cx="3657600" cy="274320"/>
          </a:xfrm>
          <a:prstGeom prst="rect">
            <a:avLst/>
          </a:prstGeom>
          <a:noFill/>
          <a:ln/>
        </p:spPr>
        <p:txBody>
          <a:bodyPr wrap="square" rtlCol="0" anchor="ctr"/>
          <a:lstStyle/>
          <a:p>
            <a:pPr indent="0" marL="0">
              <a:buNone/>
            </a:pPr>
            <a:r>
              <a:rPr lang="en-US" sz="1000" dirty="0">
                <a:solidFill>
                  <a:srgbClr val="5B6B7D"/>
                </a:solidFill>
              </a:rPr>
              <a:t>Hierarchical Clustering</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indent="0" marL="0">
              <a:buNone/>
            </a:pPr>
            <a:r>
              <a:rPr lang="en-US" sz="3200" b="1" dirty="0">
                <a:solidFill>
                  <a:srgbClr val="16305C"/>
                </a:solidFill>
                <a:latin typeface="Calibri" pitchFamily="34" charset="0"/>
                <a:ea typeface="Calibri" pitchFamily="34" charset="-122"/>
                <a:cs typeface="Calibri" pitchFamily="34" charset="-120"/>
              </a:rPr>
              <a:t>Dendrogram</a:t>
            </a:r>
            <a:endParaRPr lang="en-US" sz="3200" dirty="0"/>
          </a:p>
        </p:txBody>
      </p:sp>
      <p:sp>
        <p:nvSpPr>
          <p:cNvPr id="3" name="Text 1"/>
          <p:cNvSpPr/>
          <p:nvPr/>
        </p:nvSpPr>
        <p:spPr>
          <a:xfrm>
            <a:off x="548640" y="1554480"/>
            <a:ext cx="4846320" cy="4389120"/>
          </a:xfrm>
          <a:prstGeom prst="rect">
            <a:avLst/>
          </a:prstGeom>
          <a:noFill/>
          <a:ln/>
        </p:spPr>
        <p:txBody>
          <a:bodyPr wrap="square" rtlCol="0" anchor="ctr"/>
          <a:lstStyle/>
          <a:p>
            <a:pPr indent="0" marL="0">
              <a:buNone/>
            </a:pPr>
            <a:r>
              <a:rPr lang="en-US" sz="1500" b="1" dirty="0">
                <a:solidFill>
                  <a:srgbClr val="16305C"/>
                </a:solidFill>
                <a:latin typeface="Calibri" pitchFamily="34" charset="0"/>
                <a:ea typeface="Calibri" pitchFamily="34" charset="-122"/>
                <a:cs typeface="Calibri" pitchFamily="34" charset="-120"/>
              </a:rPr>
              <a:t>Pengertian</a:t>
            </a:r>
            <a:endParaRPr lang="en-US" sz="1500" dirty="0"/>
          </a:p>
          <a:p>
            <a:pPr marL="342900" indent="-342900">
              <a:spcAft>
                <a:spcPts val="600"/>
              </a:spcAft>
              <a:buSzPct val="100000"/>
              <a:buChar char="•"/>
            </a:pPr>
            <a:r>
              <a:rPr lang="en-US" sz="1300" dirty="0">
                <a:solidFill>
                  <a:srgbClr val="22324A"/>
                </a:solidFill>
                <a:latin typeface="Calibri" pitchFamily="34" charset="0"/>
                <a:ea typeface="Calibri" pitchFamily="34" charset="-122"/>
                <a:cs typeface="Calibri" pitchFamily="34" charset="-120"/>
              </a:rPr>
              <a:t>Diagram pohon yang menggambarkan urutan &amp; tingkat kemiripan penggabungan cluster.</a:t>
            </a:r>
            <a:endParaRPr lang="en-US" sz="1500" dirty="0"/>
          </a:p>
          <a:p>
            <a:pPr indent="0" marL="0">
              <a:buNone/>
            </a:pPr>
            <a:r>
              <a:rPr lang="en-US" sz="1500" b="1" dirty="0">
                <a:solidFill>
                  <a:srgbClr val="16305C"/>
                </a:solidFill>
                <a:latin typeface="Calibri" pitchFamily="34" charset="0"/>
                <a:ea typeface="Calibri" pitchFamily="34" charset="-122"/>
                <a:cs typeface="Calibri" pitchFamily="34" charset="-120"/>
              </a:rPr>
              <a:t>Cara Membaca</a:t>
            </a:r>
            <a:endParaRPr lang="en-US" sz="1500" dirty="0"/>
          </a:p>
          <a:p>
            <a:pPr marL="342900" indent="-342900">
              <a:spcAft>
                <a:spcPts val="400"/>
              </a:spcAft>
              <a:buSzPct val="100000"/>
              <a:buChar char="•"/>
            </a:pPr>
            <a:r>
              <a:rPr lang="en-US" sz="1300" dirty="0">
                <a:solidFill>
                  <a:srgbClr val="22324A"/>
                </a:solidFill>
                <a:latin typeface="Calibri" pitchFamily="34" charset="0"/>
                <a:ea typeface="Calibri" pitchFamily="34" charset="-122"/>
                <a:cs typeface="Calibri" pitchFamily="34" charset="-120"/>
              </a:rPr>
              <a:t>Sumbu vertikal = jarak (dissimilarity) saat cluster digabung</a:t>
            </a:r>
            <a:endParaRPr lang="en-US" sz="1500" dirty="0"/>
          </a:p>
          <a:p>
            <a:pPr marL="342900" indent="-342900">
              <a:spcAft>
                <a:spcPts val="400"/>
              </a:spcAft>
              <a:buSzPct val="100000"/>
              <a:buChar char="•"/>
            </a:pPr>
            <a:r>
              <a:rPr lang="en-US" sz="1300" dirty="0">
                <a:solidFill>
                  <a:srgbClr val="22324A"/>
                </a:solidFill>
                <a:latin typeface="Calibri" pitchFamily="34" charset="0"/>
                <a:ea typeface="Calibri" pitchFamily="34" charset="-122"/>
                <a:cs typeface="Calibri" pitchFamily="34" charset="-120"/>
              </a:rPr>
              <a:t>Sumbu horizontal = objek data / cluster</a:t>
            </a:r>
            <a:endParaRPr lang="en-US" sz="1500" dirty="0"/>
          </a:p>
          <a:p>
            <a:pPr marL="342900" indent="-342900">
              <a:buSzPct val="100000"/>
              <a:buChar char="•"/>
            </a:pPr>
            <a:r>
              <a:rPr lang="en-US" sz="1300" dirty="0">
                <a:solidFill>
                  <a:srgbClr val="22324A"/>
                </a:solidFill>
                <a:latin typeface="Calibri" pitchFamily="34" charset="0"/>
                <a:ea typeface="Calibri" pitchFamily="34" charset="-122"/>
                <a:cs typeface="Calibri" pitchFamily="34" charset="-120"/>
              </a:rPr>
              <a:t>Garis potong (cut) pada ketinggian tertentu menentukan jumlah cluster</a:t>
            </a:r>
            <a:endParaRPr lang="en-US" sz="1500" dirty="0"/>
          </a:p>
        </p:txBody>
      </p:sp>
      <p:sp>
        <p:nvSpPr>
          <p:cNvPr id="4" name="Shape 2"/>
          <p:cNvSpPr/>
          <p:nvPr/>
        </p:nvSpPr>
        <p:spPr>
          <a:xfrm>
            <a:off x="5852160" y="1828800"/>
            <a:ext cx="5760720" cy="3931920"/>
          </a:xfrm>
          <a:prstGeom prst="roundRect">
            <a:avLst>
              <a:gd name="adj" fmla="val 1395"/>
            </a:avLst>
          </a:prstGeom>
          <a:solidFill>
            <a:srgbClr val="F4F6F9"/>
          </a:solidFill>
          <a:ln/>
        </p:spPr>
      </p:sp>
      <p:sp>
        <p:nvSpPr>
          <p:cNvPr id="5" name="Shape 3"/>
          <p:cNvSpPr/>
          <p:nvPr/>
        </p:nvSpPr>
        <p:spPr>
          <a:xfrm>
            <a:off x="6400800" y="5303520"/>
            <a:ext cx="0" cy="320040"/>
          </a:xfrm>
          <a:prstGeom prst="line">
            <a:avLst/>
          </a:prstGeom>
          <a:noFill/>
          <a:ln w="25400">
            <a:solidFill>
              <a:srgbClr val="2E6FCC"/>
            </a:solidFill>
            <a:prstDash val="solid"/>
          </a:ln>
        </p:spPr>
      </p:sp>
      <p:sp>
        <p:nvSpPr>
          <p:cNvPr id="6" name="Shape 4"/>
          <p:cNvSpPr/>
          <p:nvPr/>
        </p:nvSpPr>
        <p:spPr>
          <a:xfrm>
            <a:off x="6345936" y="5623560"/>
            <a:ext cx="109728" cy="109728"/>
          </a:xfrm>
          <a:prstGeom prst="ellipse">
            <a:avLst/>
          </a:prstGeom>
          <a:solidFill>
            <a:srgbClr val="16305C"/>
          </a:solidFill>
          <a:ln/>
        </p:spPr>
      </p:sp>
      <p:sp>
        <p:nvSpPr>
          <p:cNvPr id="7" name="Shape 5"/>
          <p:cNvSpPr/>
          <p:nvPr/>
        </p:nvSpPr>
        <p:spPr>
          <a:xfrm>
            <a:off x="7223760" y="5303520"/>
            <a:ext cx="0" cy="320040"/>
          </a:xfrm>
          <a:prstGeom prst="line">
            <a:avLst/>
          </a:prstGeom>
          <a:noFill/>
          <a:ln w="25400">
            <a:solidFill>
              <a:srgbClr val="2E6FCC"/>
            </a:solidFill>
            <a:prstDash val="solid"/>
          </a:ln>
        </p:spPr>
      </p:sp>
      <p:sp>
        <p:nvSpPr>
          <p:cNvPr id="8" name="Shape 6"/>
          <p:cNvSpPr/>
          <p:nvPr/>
        </p:nvSpPr>
        <p:spPr>
          <a:xfrm>
            <a:off x="7168896" y="5623560"/>
            <a:ext cx="109728" cy="109728"/>
          </a:xfrm>
          <a:prstGeom prst="ellipse">
            <a:avLst/>
          </a:prstGeom>
          <a:solidFill>
            <a:srgbClr val="16305C"/>
          </a:solidFill>
          <a:ln/>
        </p:spPr>
      </p:sp>
      <p:sp>
        <p:nvSpPr>
          <p:cNvPr id="9" name="Shape 7"/>
          <p:cNvSpPr/>
          <p:nvPr/>
        </p:nvSpPr>
        <p:spPr>
          <a:xfrm>
            <a:off x="8046720" y="5303520"/>
            <a:ext cx="0" cy="320040"/>
          </a:xfrm>
          <a:prstGeom prst="line">
            <a:avLst/>
          </a:prstGeom>
          <a:noFill/>
          <a:ln w="25400">
            <a:solidFill>
              <a:srgbClr val="2E6FCC"/>
            </a:solidFill>
            <a:prstDash val="solid"/>
          </a:ln>
        </p:spPr>
      </p:sp>
      <p:sp>
        <p:nvSpPr>
          <p:cNvPr id="10" name="Shape 8"/>
          <p:cNvSpPr/>
          <p:nvPr/>
        </p:nvSpPr>
        <p:spPr>
          <a:xfrm>
            <a:off x="7991856" y="5623560"/>
            <a:ext cx="109728" cy="109728"/>
          </a:xfrm>
          <a:prstGeom prst="ellipse">
            <a:avLst/>
          </a:prstGeom>
          <a:solidFill>
            <a:srgbClr val="16305C"/>
          </a:solidFill>
          <a:ln/>
        </p:spPr>
      </p:sp>
      <p:sp>
        <p:nvSpPr>
          <p:cNvPr id="11" name="Shape 9"/>
          <p:cNvSpPr/>
          <p:nvPr/>
        </p:nvSpPr>
        <p:spPr>
          <a:xfrm>
            <a:off x="8869680" y="5303520"/>
            <a:ext cx="0" cy="320040"/>
          </a:xfrm>
          <a:prstGeom prst="line">
            <a:avLst/>
          </a:prstGeom>
          <a:noFill/>
          <a:ln w="25400">
            <a:solidFill>
              <a:srgbClr val="2E6FCC"/>
            </a:solidFill>
            <a:prstDash val="solid"/>
          </a:ln>
        </p:spPr>
      </p:sp>
      <p:sp>
        <p:nvSpPr>
          <p:cNvPr id="12" name="Shape 10"/>
          <p:cNvSpPr/>
          <p:nvPr/>
        </p:nvSpPr>
        <p:spPr>
          <a:xfrm>
            <a:off x="8814816" y="5623560"/>
            <a:ext cx="109728" cy="109728"/>
          </a:xfrm>
          <a:prstGeom prst="ellipse">
            <a:avLst/>
          </a:prstGeom>
          <a:solidFill>
            <a:srgbClr val="16305C"/>
          </a:solidFill>
          <a:ln/>
        </p:spPr>
      </p:sp>
      <p:sp>
        <p:nvSpPr>
          <p:cNvPr id="13" name="Shape 11"/>
          <p:cNvSpPr/>
          <p:nvPr/>
        </p:nvSpPr>
        <p:spPr>
          <a:xfrm>
            <a:off x="9692640" y="5303520"/>
            <a:ext cx="0" cy="320040"/>
          </a:xfrm>
          <a:prstGeom prst="line">
            <a:avLst/>
          </a:prstGeom>
          <a:noFill/>
          <a:ln w="25400">
            <a:solidFill>
              <a:srgbClr val="2E6FCC"/>
            </a:solidFill>
            <a:prstDash val="solid"/>
          </a:ln>
        </p:spPr>
      </p:sp>
      <p:sp>
        <p:nvSpPr>
          <p:cNvPr id="14" name="Shape 12"/>
          <p:cNvSpPr/>
          <p:nvPr/>
        </p:nvSpPr>
        <p:spPr>
          <a:xfrm>
            <a:off x="9637776" y="5623560"/>
            <a:ext cx="109728" cy="109728"/>
          </a:xfrm>
          <a:prstGeom prst="ellipse">
            <a:avLst/>
          </a:prstGeom>
          <a:solidFill>
            <a:srgbClr val="16305C"/>
          </a:solidFill>
          <a:ln/>
        </p:spPr>
      </p:sp>
      <p:sp>
        <p:nvSpPr>
          <p:cNvPr id="15" name="Shape 13"/>
          <p:cNvSpPr/>
          <p:nvPr/>
        </p:nvSpPr>
        <p:spPr>
          <a:xfrm>
            <a:off x="10515600" y="5303520"/>
            <a:ext cx="0" cy="320040"/>
          </a:xfrm>
          <a:prstGeom prst="line">
            <a:avLst/>
          </a:prstGeom>
          <a:noFill/>
          <a:ln w="25400">
            <a:solidFill>
              <a:srgbClr val="2E6FCC"/>
            </a:solidFill>
            <a:prstDash val="solid"/>
          </a:ln>
        </p:spPr>
      </p:sp>
      <p:sp>
        <p:nvSpPr>
          <p:cNvPr id="16" name="Shape 14"/>
          <p:cNvSpPr/>
          <p:nvPr/>
        </p:nvSpPr>
        <p:spPr>
          <a:xfrm>
            <a:off x="10460736" y="5623560"/>
            <a:ext cx="109728" cy="109728"/>
          </a:xfrm>
          <a:prstGeom prst="ellipse">
            <a:avLst/>
          </a:prstGeom>
          <a:solidFill>
            <a:srgbClr val="16305C"/>
          </a:solidFill>
          <a:ln/>
        </p:spPr>
      </p:sp>
      <p:sp>
        <p:nvSpPr>
          <p:cNvPr id="17" name="Shape 15"/>
          <p:cNvSpPr/>
          <p:nvPr/>
        </p:nvSpPr>
        <p:spPr>
          <a:xfrm>
            <a:off x="6400800" y="4846320"/>
            <a:ext cx="822960" cy="0"/>
          </a:xfrm>
          <a:prstGeom prst="line">
            <a:avLst/>
          </a:prstGeom>
          <a:noFill/>
          <a:ln w="25400">
            <a:solidFill>
              <a:srgbClr val="2E6FCC"/>
            </a:solidFill>
            <a:prstDash val="solid"/>
          </a:ln>
        </p:spPr>
      </p:sp>
      <p:sp>
        <p:nvSpPr>
          <p:cNvPr id="18" name="Shape 16"/>
          <p:cNvSpPr/>
          <p:nvPr/>
        </p:nvSpPr>
        <p:spPr>
          <a:xfrm>
            <a:off x="6812280" y="4846320"/>
            <a:ext cx="0" cy="457200"/>
          </a:xfrm>
          <a:prstGeom prst="line">
            <a:avLst/>
          </a:prstGeom>
          <a:noFill/>
          <a:ln w="25400">
            <a:solidFill>
              <a:srgbClr val="2E6FCC"/>
            </a:solidFill>
            <a:prstDash val="solid"/>
          </a:ln>
        </p:spPr>
      </p:sp>
      <p:sp>
        <p:nvSpPr>
          <p:cNvPr id="19" name="Shape 17"/>
          <p:cNvSpPr/>
          <p:nvPr/>
        </p:nvSpPr>
        <p:spPr>
          <a:xfrm>
            <a:off x="8046720" y="4846320"/>
            <a:ext cx="822960" cy="0"/>
          </a:xfrm>
          <a:prstGeom prst="line">
            <a:avLst/>
          </a:prstGeom>
          <a:noFill/>
          <a:ln w="25400">
            <a:solidFill>
              <a:srgbClr val="2E6FCC"/>
            </a:solidFill>
            <a:prstDash val="solid"/>
          </a:ln>
        </p:spPr>
      </p:sp>
      <p:sp>
        <p:nvSpPr>
          <p:cNvPr id="20" name="Shape 18"/>
          <p:cNvSpPr/>
          <p:nvPr/>
        </p:nvSpPr>
        <p:spPr>
          <a:xfrm>
            <a:off x="8458200" y="4846320"/>
            <a:ext cx="0" cy="457200"/>
          </a:xfrm>
          <a:prstGeom prst="line">
            <a:avLst/>
          </a:prstGeom>
          <a:noFill/>
          <a:ln w="25400">
            <a:solidFill>
              <a:srgbClr val="2E6FCC"/>
            </a:solidFill>
            <a:prstDash val="solid"/>
          </a:ln>
        </p:spPr>
      </p:sp>
      <p:sp>
        <p:nvSpPr>
          <p:cNvPr id="21" name="Shape 19"/>
          <p:cNvSpPr/>
          <p:nvPr/>
        </p:nvSpPr>
        <p:spPr>
          <a:xfrm>
            <a:off x="9692640" y="4846320"/>
            <a:ext cx="822960" cy="0"/>
          </a:xfrm>
          <a:prstGeom prst="line">
            <a:avLst/>
          </a:prstGeom>
          <a:noFill/>
          <a:ln w="25400">
            <a:solidFill>
              <a:srgbClr val="2E6FCC"/>
            </a:solidFill>
            <a:prstDash val="solid"/>
          </a:ln>
        </p:spPr>
      </p:sp>
      <p:sp>
        <p:nvSpPr>
          <p:cNvPr id="22" name="Shape 20"/>
          <p:cNvSpPr/>
          <p:nvPr/>
        </p:nvSpPr>
        <p:spPr>
          <a:xfrm>
            <a:off x="10104120" y="4846320"/>
            <a:ext cx="0" cy="457200"/>
          </a:xfrm>
          <a:prstGeom prst="line">
            <a:avLst/>
          </a:prstGeom>
          <a:noFill/>
          <a:ln w="25400">
            <a:solidFill>
              <a:srgbClr val="2E6FCC"/>
            </a:solidFill>
            <a:prstDash val="solid"/>
          </a:ln>
        </p:spPr>
      </p:sp>
      <p:sp>
        <p:nvSpPr>
          <p:cNvPr id="23" name="Shape 21"/>
          <p:cNvSpPr/>
          <p:nvPr/>
        </p:nvSpPr>
        <p:spPr>
          <a:xfrm>
            <a:off x="6812280" y="4206240"/>
            <a:ext cx="1645920" cy="0"/>
          </a:xfrm>
          <a:prstGeom prst="line">
            <a:avLst/>
          </a:prstGeom>
          <a:noFill/>
          <a:ln w="25400">
            <a:solidFill>
              <a:srgbClr val="2E6FCC"/>
            </a:solidFill>
            <a:prstDash val="solid"/>
          </a:ln>
        </p:spPr>
      </p:sp>
      <p:sp>
        <p:nvSpPr>
          <p:cNvPr id="24" name="Shape 22"/>
          <p:cNvSpPr/>
          <p:nvPr/>
        </p:nvSpPr>
        <p:spPr>
          <a:xfrm>
            <a:off x="7635240" y="4206240"/>
            <a:ext cx="0" cy="640080"/>
          </a:xfrm>
          <a:prstGeom prst="line">
            <a:avLst/>
          </a:prstGeom>
          <a:noFill/>
          <a:ln w="25400">
            <a:solidFill>
              <a:srgbClr val="2E6FCC"/>
            </a:solidFill>
            <a:prstDash val="solid"/>
          </a:ln>
        </p:spPr>
      </p:sp>
      <p:sp>
        <p:nvSpPr>
          <p:cNvPr id="25" name="Shape 23"/>
          <p:cNvSpPr/>
          <p:nvPr/>
        </p:nvSpPr>
        <p:spPr>
          <a:xfrm>
            <a:off x="10104120" y="4206240"/>
            <a:ext cx="0" cy="640080"/>
          </a:xfrm>
          <a:prstGeom prst="line">
            <a:avLst/>
          </a:prstGeom>
          <a:noFill/>
          <a:ln w="25400">
            <a:solidFill>
              <a:srgbClr val="2E6FCC"/>
            </a:solidFill>
            <a:prstDash val="solid"/>
          </a:ln>
        </p:spPr>
      </p:sp>
      <p:sp>
        <p:nvSpPr>
          <p:cNvPr id="26" name="Shape 24"/>
          <p:cNvSpPr/>
          <p:nvPr/>
        </p:nvSpPr>
        <p:spPr>
          <a:xfrm>
            <a:off x="7635240" y="3566160"/>
            <a:ext cx="2468880" cy="0"/>
          </a:xfrm>
          <a:prstGeom prst="line">
            <a:avLst/>
          </a:prstGeom>
          <a:noFill/>
          <a:ln w="25400">
            <a:solidFill>
              <a:srgbClr val="2E6FCC"/>
            </a:solidFill>
            <a:prstDash val="solid"/>
          </a:ln>
        </p:spPr>
      </p:sp>
      <p:sp>
        <p:nvSpPr>
          <p:cNvPr id="27" name="Shape 25"/>
          <p:cNvSpPr/>
          <p:nvPr/>
        </p:nvSpPr>
        <p:spPr>
          <a:xfrm>
            <a:off x="8869680" y="3566160"/>
            <a:ext cx="0" cy="640080"/>
          </a:xfrm>
          <a:prstGeom prst="line">
            <a:avLst/>
          </a:prstGeom>
          <a:noFill/>
          <a:ln w="25400">
            <a:solidFill>
              <a:srgbClr val="2E6FCC"/>
            </a:solidFill>
            <a:prstDash val="solid"/>
          </a:ln>
        </p:spPr>
      </p:sp>
      <p:sp>
        <p:nvSpPr>
          <p:cNvPr id="28" name="Shape 26"/>
          <p:cNvSpPr/>
          <p:nvPr/>
        </p:nvSpPr>
        <p:spPr>
          <a:xfrm>
            <a:off x="8869680" y="3291840"/>
            <a:ext cx="0" cy="274320"/>
          </a:xfrm>
          <a:prstGeom prst="line">
            <a:avLst/>
          </a:prstGeom>
          <a:noFill/>
          <a:ln w="25400">
            <a:solidFill>
              <a:srgbClr val="2E6FCC"/>
            </a:solidFill>
            <a:prstDash val="solid"/>
          </a:ln>
        </p:spPr>
      </p:sp>
      <p:sp>
        <p:nvSpPr>
          <p:cNvPr id="29" name="Shape 27"/>
          <p:cNvSpPr/>
          <p:nvPr/>
        </p:nvSpPr>
        <p:spPr>
          <a:xfrm>
            <a:off x="6126480" y="4983480"/>
            <a:ext cx="5212080" cy="0"/>
          </a:xfrm>
          <a:prstGeom prst="line">
            <a:avLst/>
          </a:prstGeom>
          <a:noFill/>
          <a:ln w="19050">
            <a:solidFill>
              <a:srgbClr val="C0392B"/>
            </a:solidFill>
            <a:prstDash val="dash"/>
          </a:ln>
        </p:spPr>
      </p:sp>
      <p:sp>
        <p:nvSpPr>
          <p:cNvPr id="30" name="Text 28"/>
          <p:cNvSpPr/>
          <p:nvPr/>
        </p:nvSpPr>
        <p:spPr>
          <a:xfrm>
            <a:off x="6126480" y="5029200"/>
            <a:ext cx="2926080" cy="274320"/>
          </a:xfrm>
          <a:prstGeom prst="rect">
            <a:avLst/>
          </a:prstGeom>
          <a:noFill/>
          <a:ln/>
        </p:spPr>
        <p:txBody>
          <a:bodyPr wrap="square" rtlCol="0" anchor="ctr"/>
          <a:lstStyle/>
          <a:p>
            <a:pPr indent="0" marL="0">
              <a:buNone/>
            </a:pPr>
            <a:r>
              <a:rPr lang="en-US" sz="1000" i="1" dirty="0">
                <a:solidFill>
                  <a:srgbClr val="C0392B"/>
                </a:solidFill>
                <a:latin typeface="Calibri" pitchFamily="34" charset="0"/>
                <a:ea typeface="Calibri" pitchFamily="34" charset="-122"/>
                <a:cs typeface="Calibri" pitchFamily="34" charset="-120"/>
              </a:rPr>
              <a:t>Garis potong → 3 cluster</a:t>
            </a:r>
            <a:endParaRPr lang="en-US" sz="1000" dirty="0"/>
          </a:p>
        </p:txBody>
      </p:sp>
      <p:sp>
        <p:nvSpPr>
          <p:cNvPr id="31" name="Text 29"/>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B7D"/>
                </a:solidFill>
              </a:rPr>
              <a:t>7</a:t>
            </a:r>
            <a:endParaRPr lang="en-US" sz="1000" dirty="0"/>
          </a:p>
        </p:txBody>
      </p:sp>
      <p:sp>
        <p:nvSpPr>
          <p:cNvPr id="32" name="Text 30"/>
          <p:cNvSpPr/>
          <p:nvPr/>
        </p:nvSpPr>
        <p:spPr>
          <a:xfrm>
            <a:off x="457200" y="6446520"/>
            <a:ext cx="3657600" cy="274320"/>
          </a:xfrm>
          <a:prstGeom prst="rect">
            <a:avLst/>
          </a:prstGeom>
          <a:noFill/>
          <a:ln/>
        </p:spPr>
        <p:txBody>
          <a:bodyPr wrap="square" rtlCol="0" anchor="ctr"/>
          <a:lstStyle/>
          <a:p>
            <a:pPr indent="0" marL="0">
              <a:buNone/>
            </a:pPr>
            <a:r>
              <a:rPr lang="en-US" sz="1000" dirty="0">
                <a:solidFill>
                  <a:srgbClr val="5B6B7D"/>
                </a:solidFill>
              </a:rPr>
              <a:t>Hierarchical Clustering</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indent="0" marL="0">
              <a:buNone/>
            </a:pPr>
            <a:r>
              <a:rPr lang="en-US" sz="3200" b="1" dirty="0">
                <a:solidFill>
                  <a:srgbClr val="16305C"/>
                </a:solidFill>
                <a:latin typeface="Calibri" pitchFamily="34" charset="0"/>
                <a:ea typeface="Calibri" pitchFamily="34" charset="-122"/>
                <a:cs typeface="Calibri" pitchFamily="34" charset="-120"/>
              </a:rPr>
              <a:t>Dataset</a:t>
            </a:r>
            <a:endParaRPr lang="en-US" sz="3200" dirty="0"/>
          </a:p>
        </p:txBody>
      </p:sp>
      <p:sp>
        <p:nvSpPr>
          <p:cNvPr id="3" name="Text 1"/>
          <p:cNvSpPr/>
          <p:nvPr/>
        </p:nvSpPr>
        <p:spPr>
          <a:xfrm>
            <a:off x="548640" y="1005840"/>
            <a:ext cx="11091672" cy="365760"/>
          </a:xfrm>
          <a:prstGeom prst="rect">
            <a:avLst/>
          </a:prstGeom>
          <a:noFill/>
          <a:ln/>
        </p:spPr>
        <p:txBody>
          <a:bodyPr wrap="square" rtlCol="0" anchor="ctr"/>
          <a:lstStyle/>
          <a:p>
            <a:pPr indent="0" marL="0">
              <a:buNone/>
            </a:pPr>
            <a:r>
              <a:rPr lang="en-US" sz="1500" i="1" dirty="0">
                <a:solidFill>
                  <a:srgbClr val="5B6B7D"/>
                </a:solidFill>
                <a:latin typeface="Calibri" pitchFamily="34" charset="0"/>
                <a:ea typeface="Calibri" pitchFamily="34" charset="-122"/>
                <a:cs typeface="Calibri" pitchFamily="34" charset="-120"/>
              </a:rPr>
              <a:t>Wine Dataset</a:t>
            </a:r>
            <a:endParaRPr lang="en-US" sz="1500" dirty="0"/>
          </a:p>
        </p:txBody>
      </p:sp>
      <p:sp>
        <p:nvSpPr>
          <p:cNvPr id="4" name="Shape 2"/>
          <p:cNvSpPr/>
          <p:nvPr/>
        </p:nvSpPr>
        <p:spPr>
          <a:xfrm>
            <a:off x="548640" y="1645920"/>
            <a:ext cx="3657600" cy="3657600"/>
          </a:xfrm>
          <a:prstGeom prst="roundRect">
            <a:avLst>
              <a:gd name="adj" fmla="val 2000"/>
            </a:avLst>
          </a:prstGeom>
          <a:solidFill>
            <a:srgbClr val="EAF1FB"/>
          </a:solidFill>
          <a:ln/>
        </p:spPr>
      </p:sp>
      <p:sp>
        <p:nvSpPr>
          <p:cNvPr id="5" name="Shape 3"/>
          <p:cNvSpPr/>
          <p:nvPr/>
        </p:nvSpPr>
        <p:spPr>
          <a:xfrm>
            <a:off x="1965960" y="1965960"/>
            <a:ext cx="1188720" cy="1188720"/>
          </a:xfrm>
          <a:prstGeom prst="ellipse">
            <a:avLst/>
          </a:prstGeom>
          <a:solidFill>
            <a:srgbClr val="FFFFFF"/>
          </a:solidFill>
          <a:ln/>
        </p:spPr>
      </p:sp>
      <p:pic>
        <p:nvPicPr>
          <p:cNvPr id="6" name="Image 0" descr="preencoded.png"/>
          <p:cNvPicPr>
            <a:picLocks noChangeAspect="1"/>
          </p:cNvPicPr>
          <p:nvPr/>
        </p:nvPicPr>
        <p:blipFill>
          <a:blip r:embed="rId1"/>
          <a:stretch>
            <a:fillRect/>
          </a:stretch>
        </p:blipFill>
        <p:spPr>
          <a:xfrm>
            <a:off x="2120494" y="2120494"/>
            <a:ext cx="879653" cy="879653"/>
          </a:xfrm>
          <a:prstGeom prst="rect">
            <a:avLst/>
          </a:prstGeom>
        </p:spPr>
      </p:pic>
      <p:sp>
        <p:nvSpPr>
          <p:cNvPr id="7" name="Text 4"/>
          <p:cNvSpPr/>
          <p:nvPr/>
        </p:nvSpPr>
        <p:spPr>
          <a:xfrm>
            <a:off x="731520" y="3337560"/>
            <a:ext cx="3291840" cy="365760"/>
          </a:xfrm>
          <a:prstGeom prst="rect">
            <a:avLst/>
          </a:prstGeom>
          <a:noFill/>
          <a:ln/>
        </p:spPr>
        <p:txBody>
          <a:bodyPr wrap="square" rtlCol="0" anchor="ctr"/>
          <a:lstStyle/>
          <a:p>
            <a:pPr algn="ctr" indent="0" marL="0">
              <a:buNone/>
            </a:pPr>
            <a:r>
              <a:rPr lang="en-US" sz="1600" b="1" dirty="0">
                <a:solidFill>
                  <a:srgbClr val="16305C"/>
                </a:solidFill>
                <a:latin typeface="Calibri" pitchFamily="34" charset="0"/>
                <a:ea typeface="Calibri" pitchFamily="34" charset="-122"/>
                <a:cs typeface="Calibri" pitchFamily="34" charset="-120"/>
              </a:rPr>
              <a:t>Wine Dataset</a:t>
            </a:r>
            <a:endParaRPr lang="en-US" sz="1600" dirty="0"/>
          </a:p>
        </p:txBody>
      </p:sp>
      <p:sp>
        <p:nvSpPr>
          <p:cNvPr id="8" name="Text 5"/>
          <p:cNvSpPr/>
          <p:nvPr/>
        </p:nvSpPr>
        <p:spPr>
          <a:xfrm>
            <a:off x="777240" y="3749040"/>
            <a:ext cx="3200400" cy="1280160"/>
          </a:xfrm>
          <a:prstGeom prst="rect">
            <a:avLst/>
          </a:prstGeom>
          <a:noFill/>
          <a:ln/>
        </p:spPr>
        <p:txBody>
          <a:bodyPr wrap="square" rtlCol="0" anchor="ctr"/>
          <a:lstStyle/>
          <a:p>
            <a:pPr algn="ctr" indent="0" marL="0">
              <a:buNone/>
            </a:pPr>
            <a:r>
              <a:rPr lang="en-US" sz="1150" dirty="0">
                <a:solidFill>
                  <a:srgbClr val="22324A"/>
                </a:solidFill>
                <a:latin typeface="Calibri" pitchFamily="34" charset="0"/>
                <a:ea typeface="Calibri" pitchFamily="34" charset="-122"/>
                <a:cs typeface="Calibri" pitchFamily="34" charset="-120"/>
              </a:rPr>
              <a:t>Dataset klasik wine untuk studi klasifikasi &amp; clustering</a:t>
            </a:r>
            <a:endParaRPr lang="en-US" sz="1150" dirty="0"/>
          </a:p>
        </p:txBody>
      </p:sp>
      <p:sp>
        <p:nvSpPr>
          <p:cNvPr id="9" name="Shape 6"/>
          <p:cNvSpPr/>
          <p:nvPr/>
        </p:nvSpPr>
        <p:spPr>
          <a:xfrm>
            <a:off x="4572000" y="1691640"/>
            <a:ext cx="7040880" cy="841248"/>
          </a:xfrm>
          <a:prstGeom prst="roundRect">
            <a:avLst>
              <a:gd name="adj" fmla="val 6522"/>
            </a:avLst>
          </a:prstGeom>
          <a:solidFill>
            <a:srgbClr val="F4F6F9"/>
          </a:solidFill>
          <a:ln/>
        </p:spPr>
      </p:sp>
      <p:sp>
        <p:nvSpPr>
          <p:cNvPr id="10" name="Text 7"/>
          <p:cNvSpPr/>
          <p:nvPr/>
        </p:nvSpPr>
        <p:spPr>
          <a:xfrm>
            <a:off x="4800600" y="1764792"/>
            <a:ext cx="1920240" cy="694944"/>
          </a:xfrm>
          <a:prstGeom prst="rect">
            <a:avLst/>
          </a:prstGeom>
          <a:noFill/>
          <a:ln/>
        </p:spPr>
        <p:txBody>
          <a:bodyPr wrap="square" rtlCol="0" anchor="ctr"/>
          <a:lstStyle/>
          <a:p>
            <a:pPr indent="0" marL="0">
              <a:buNone/>
            </a:pPr>
            <a:r>
              <a:rPr lang="en-US" sz="1250" b="1" dirty="0">
                <a:solidFill>
                  <a:srgbClr val="2E6FCC"/>
                </a:solidFill>
                <a:latin typeface="Calibri" pitchFamily="34" charset="0"/>
                <a:ea typeface="Calibri" pitchFamily="34" charset="-122"/>
                <a:cs typeface="Calibri" pitchFamily="34" charset="-120"/>
              </a:rPr>
              <a:t>Jumlah Data</a:t>
            </a:r>
            <a:endParaRPr lang="en-US" sz="1250" dirty="0"/>
          </a:p>
        </p:txBody>
      </p:sp>
      <p:sp>
        <p:nvSpPr>
          <p:cNvPr id="11" name="Text 8"/>
          <p:cNvSpPr/>
          <p:nvPr/>
        </p:nvSpPr>
        <p:spPr>
          <a:xfrm>
            <a:off x="6766560" y="1764792"/>
            <a:ext cx="4709160" cy="694944"/>
          </a:xfrm>
          <a:prstGeom prst="rect">
            <a:avLst/>
          </a:prstGeom>
          <a:noFill/>
          <a:ln/>
        </p:spPr>
        <p:txBody>
          <a:bodyPr wrap="square" rtlCol="0" anchor="ctr"/>
          <a:lstStyle/>
          <a:p>
            <a:pPr indent="0" marL="0">
              <a:buNone/>
            </a:pPr>
            <a:r>
              <a:rPr lang="en-US" sz="1200" dirty="0">
                <a:solidFill>
                  <a:srgbClr val="22324A"/>
                </a:solidFill>
                <a:latin typeface="Calibri" pitchFamily="34" charset="0"/>
                <a:ea typeface="Calibri" pitchFamily="34" charset="-122"/>
                <a:cs typeface="Calibri" pitchFamily="34" charset="-120"/>
              </a:rPr>
              <a:t>178 sampel wine</a:t>
            </a:r>
            <a:endParaRPr lang="en-US" sz="1200" dirty="0"/>
          </a:p>
        </p:txBody>
      </p:sp>
      <p:sp>
        <p:nvSpPr>
          <p:cNvPr id="12" name="Shape 9"/>
          <p:cNvSpPr/>
          <p:nvPr/>
        </p:nvSpPr>
        <p:spPr>
          <a:xfrm>
            <a:off x="4572000" y="2624328"/>
            <a:ext cx="7040880" cy="841248"/>
          </a:xfrm>
          <a:prstGeom prst="roundRect">
            <a:avLst>
              <a:gd name="adj" fmla="val 6522"/>
            </a:avLst>
          </a:prstGeom>
          <a:solidFill>
            <a:srgbClr val="F4F6F9"/>
          </a:solidFill>
          <a:ln/>
        </p:spPr>
      </p:sp>
      <p:sp>
        <p:nvSpPr>
          <p:cNvPr id="13" name="Text 10"/>
          <p:cNvSpPr/>
          <p:nvPr/>
        </p:nvSpPr>
        <p:spPr>
          <a:xfrm>
            <a:off x="4800600" y="2697480"/>
            <a:ext cx="1920240" cy="694944"/>
          </a:xfrm>
          <a:prstGeom prst="rect">
            <a:avLst/>
          </a:prstGeom>
          <a:noFill/>
          <a:ln/>
        </p:spPr>
        <p:txBody>
          <a:bodyPr wrap="square" rtlCol="0" anchor="ctr"/>
          <a:lstStyle/>
          <a:p>
            <a:pPr indent="0" marL="0">
              <a:buNone/>
            </a:pPr>
            <a:r>
              <a:rPr lang="en-US" sz="1250" b="1" dirty="0">
                <a:solidFill>
                  <a:srgbClr val="2E6FCC"/>
                </a:solidFill>
                <a:latin typeface="Calibri" pitchFamily="34" charset="0"/>
                <a:ea typeface="Calibri" pitchFamily="34" charset="-122"/>
                <a:cs typeface="Calibri" pitchFamily="34" charset="-120"/>
              </a:rPr>
              <a:t>Jumlah Atribut</a:t>
            </a:r>
            <a:endParaRPr lang="en-US" sz="1250" dirty="0"/>
          </a:p>
        </p:txBody>
      </p:sp>
      <p:sp>
        <p:nvSpPr>
          <p:cNvPr id="14" name="Text 11"/>
          <p:cNvSpPr/>
          <p:nvPr/>
        </p:nvSpPr>
        <p:spPr>
          <a:xfrm>
            <a:off x="6766560" y="2697480"/>
            <a:ext cx="4709160" cy="694944"/>
          </a:xfrm>
          <a:prstGeom prst="rect">
            <a:avLst/>
          </a:prstGeom>
          <a:noFill/>
          <a:ln/>
        </p:spPr>
        <p:txBody>
          <a:bodyPr wrap="square" rtlCol="0" anchor="ctr"/>
          <a:lstStyle/>
          <a:p>
            <a:pPr indent="0" marL="0">
              <a:buNone/>
            </a:pPr>
            <a:r>
              <a:rPr lang="en-US" sz="1200" dirty="0">
                <a:solidFill>
                  <a:srgbClr val="22324A"/>
                </a:solidFill>
                <a:latin typeface="Calibri" pitchFamily="34" charset="0"/>
                <a:ea typeface="Calibri" pitchFamily="34" charset="-122"/>
                <a:cs typeface="Calibri" pitchFamily="34" charset="-120"/>
              </a:rPr>
              <a:t>13 atribut numerik</a:t>
            </a:r>
            <a:endParaRPr lang="en-US" sz="1200" dirty="0"/>
          </a:p>
        </p:txBody>
      </p:sp>
      <p:sp>
        <p:nvSpPr>
          <p:cNvPr id="15" name="Shape 12"/>
          <p:cNvSpPr/>
          <p:nvPr/>
        </p:nvSpPr>
        <p:spPr>
          <a:xfrm>
            <a:off x="4572000" y="3557016"/>
            <a:ext cx="7040880" cy="841248"/>
          </a:xfrm>
          <a:prstGeom prst="roundRect">
            <a:avLst>
              <a:gd name="adj" fmla="val 6522"/>
            </a:avLst>
          </a:prstGeom>
          <a:solidFill>
            <a:srgbClr val="F4F6F9"/>
          </a:solidFill>
          <a:ln/>
        </p:spPr>
      </p:sp>
      <p:sp>
        <p:nvSpPr>
          <p:cNvPr id="16" name="Text 13"/>
          <p:cNvSpPr/>
          <p:nvPr/>
        </p:nvSpPr>
        <p:spPr>
          <a:xfrm>
            <a:off x="4800600" y="3630168"/>
            <a:ext cx="1920240" cy="694944"/>
          </a:xfrm>
          <a:prstGeom prst="rect">
            <a:avLst/>
          </a:prstGeom>
          <a:noFill/>
          <a:ln/>
        </p:spPr>
        <p:txBody>
          <a:bodyPr wrap="square" rtlCol="0" anchor="ctr"/>
          <a:lstStyle/>
          <a:p>
            <a:pPr indent="0" marL="0">
              <a:buNone/>
            </a:pPr>
            <a:r>
              <a:rPr lang="en-US" sz="1250" b="1" dirty="0">
                <a:solidFill>
                  <a:srgbClr val="2E6FCC"/>
                </a:solidFill>
                <a:latin typeface="Calibri" pitchFamily="34" charset="0"/>
                <a:ea typeface="Calibri" pitchFamily="34" charset="-122"/>
                <a:cs typeface="Calibri" pitchFamily="34" charset="-120"/>
              </a:rPr>
              <a:t>Nama Atribut</a:t>
            </a:r>
            <a:endParaRPr lang="en-US" sz="1250" dirty="0"/>
          </a:p>
        </p:txBody>
      </p:sp>
      <p:sp>
        <p:nvSpPr>
          <p:cNvPr id="17" name="Text 14"/>
          <p:cNvSpPr/>
          <p:nvPr/>
        </p:nvSpPr>
        <p:spPr>
          <a:xfrm>
            <a:off x="6766560" y="3630168"/>
            <a:ext cx="4709160" cy="694944"/>
          </a:xfrm>
          <a:prstGeom prst="rect">
            <a:avLst/>
          </a:prstGeom>
          <a:noFill/>
          <a:ln/>
        </p:spPr>
        <p:txBody>
          <a:bodyPr wrap="square" rtlCol="0" anchor="ctr"/>
          <a:lstStyle/>
          <a:p>
            <a:pPr indent="0" marL="0">
              <a:buNone/>
            </a:pPr>
            <a:r>
              <a:rPr lang="en-US" sz="1200" dirty="0">
                <a:solidFill>
                  <a:srgbClr val="22324A"/>
                </a:solidFill>
                <a:latin typeface="Calibri" pitchFamily="34" charset="0"/>
                <a:ea typeface="Calibri" pitchFamily="34" charset="-122"/>
                <a:cs typeface="Calibri" pitchFamily="34" charset="-120"/>
              </a:rPr>
              <a:t>Alcohol, malic acid, ash, magnesium, flavanoids, color intensity, hue, proline, dll</a:t>
            </a:r>
            <a:endParaRPr lang="en-US" sz="1200" dirty="0"/>
          </a:p>
        </p:txBody>
      </p:sp>
      <p:sp>
        <p:nvSpPr>
          <p:cNvPr id="18" name="Shape 15"/>
          <p:cNvSpPr/>
          <p:nvPr/>
        </p:nvSpPr>
        <p:spPr>
          <a:xfrm>
            <a:off x="4572000" y="4489704"/>
            <a:ext cx="7040880" cy="841248"/>
          </a:xfrm>
          <a:prstGeom prst="roundRect">
            <a:avLst>
              <a:gd name="adj" fmla="val 6522"/>
            </a:avLst>
          </a:prstGeom>
          <a:solidFill>
            <a:srgbClr val="F4F6F9"/>
          </a:solidFill>
          <a:ln/>
        </p:spPr>
      </p:sp>
      <p:sp>
        <p:nvSpPr>
          <p:cNvPr id="19" name="Text 16"/>
          <p:cNvSpPr/>
          <p:nvPr/>
        </p:nvSpPr>
        <p:spPr>
          <a:xfrm>
            <a:off x="4800600" y="4562856"/>
            <a:ext cx="1920240" cy="694944"/>
          </a:xfrm>
          <a:prstGeom prst="rect">
            <a:avLst/>
          </a:prstGeom>
          <a:noFill/>
          <a:ln/>
        </p:spPr>
        <p:txBody>
          <a:bodyPr wrap="square" rtlCol="0" anchor="ctr"/>
          <a:lstStyle/>
          <a:p>
            <a:pPr indent="0" marL="0">
              <a:buNone/>
            </a:pPr>
            <a:r>
              <a:rPr lang="en-US" sz="1250" b="1" dirty="0">
                <a:solidFill>
                  <a:srgbClr val="2E6FCC"/>
                </a:solidFill>
                <a:latin typeface="Calibri" pitchFamily="34" charset="0"/>
                <a:ea typeface="Calibri" pitchFamily="34" charset="-122"/>
                <a:cs typeface="Calibri" pitchFamily="34" charset="-120"/>
              </a:rPr>
              <a:t>Tujuan Penggunaan</a:t>
            </a:r>
            <a:endParaRPr lang="en-US" sz="1250" dirty="0"/>
          </a:p>
        </p:txBody>
      </p:sp>
      <p:sp>
        <p:nvSpPr>
          <p:cNvPr id="20" name="Text 17"/>
          <p:cNvSpPr/>
          <p:nvPr/>
        </p:nvSpPr>
        <p:spPr>
          <a:xfrm>
            <a:off x="6766560" y="4562856"/>
            <a:ext cx="4709160" cy="694944"/>
          </a:xfrm>
          <a:prstGeom prst="rect">
            <a:avLst/>
          </a:prstGeom>
          <a:noFill/>
          <a:ln/>
        </p:spPr>
        <p:txBody>
          <a:bodyPr wrap="square" rtlCol="0" anchor="ctr"/>
          <a:lstStyle/>
          <a:p>
            <a:pPr indent="0" marL="0">
              <a:buNone/>
            </a:pPr>
            <a:r>
              <a:rPr lang="en-US" sz="1200" dirty="0">
                <a:solidFill>
                  <a:srgbClr val="22324A"/>
                </a:solidFill>
                <a:latin typeface="Calibri" pitchFamily="34" charset="0"/>
                <a:ea typeface="Calibri" pitchFamily="34" charset="-122"/>
                <a:cs typeface="Calibri" pitchFamily="34" charset="-120"/>
              </a:rPr>
              <a:t>Menguji &amp; mendemonstrasikan proses Hierarchical Clustering pada data numerik nyata</a:t>
            </a:r>
            <a:endParaRPr lang="en-US" sz="1200" dirty="0"/>
          </a:p>
        </p:txBody>
      </p:sp>
      <p:sp>
        <p:nvSpPr>
          <p:cNvPr id="21" name="Text 18"/>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B7D"/>
                </a:solidFill>
              </a:rPr>
              <a:t>8</a:t>
            </a:r>
            <a:endParaRPr lang="en-US" sz="1000" dirty="0"/>
          </a:p>
        </p:txBody>
      </p:sp>
      <p:sp>
        <p:nvSpPr>
          <p:cNvPr id="22" name="Text 19"/>
          <p:cNvSpPr/>
          <p:nvPr/>
        </p:nvSpPr>
        <p:spPr>
          <a:xfrm>
            <a:off x="457200" y="6446520"/>
            <a:ext cx="3657600" cy="274320"/>
          </a:xfrm>
          <a:prstGeom prst="rect">
            <a:avLst/>
          </a:prstGeom>
          <a:noFill/>
          <a:ln/>
        </p:spPr>
        <p:txBody>
          <a:bodyPr wrap="square" rtlCol="0" anchor="ctr"/>
          <a:lstStyle/>
          <a:p>
            <a:pPr indent="0" marL="0">
              <a:buNone/>
            </a:pPr>
            <a:r>
              <a:rPr lang="en-US" sz="1000" dirty="0">
                <a:solidFill>
                  <a:srgbClr val="5B6B7D"/>
                </a:solidFill>
              </a:rPr>
              <a:t>Hierarchical Clustering</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305C"/>
        </a:solidFill>
      </p:bgPr>
    </p:bg>
    <p:spTree>
      <p:nvGrpSpPr>
        <p:cNvPr id="1" name=""/>
        <p:cNvGrpSpPr/>
        <p:nvPr/>
      </p:nvGrpSpPr>
      <p:grpSpPr>
        <a:xfrm>
          <a:off x="0" y="0"/>
          <a:ext cx="0" cy="0"/>
          <a:chOff x="0" y="0"/>
          <a:chExt cx="0" cy="0"/>
        </a:xfrm>
      </p:grpSpPr>
      <p:sp>
        <p:nvSpPr>
          <p:cNvPr id="2" name="Text 0"/>
          <p:cNvSpPr/>
          <p:nvPr/>
        </p:nvSpPr>
        <p:spPr>
          <a:xfrm>
            <a:off x="548640" y="365760"/>
            <a:ext cx="10972800" cy="54864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Implementasi Menggunakan Python</a:t>
            </a:r>
            <a:endParaRPr lang="en-US" sz="2800" dirty="0"/>
          </a:p>
        </p:txBody>
      </p:sp>
      <p:sp>
        <p:nvSpPr>
          <p:cNvPr id="3" name="Shape 1"/>
          <p:cNvSpPr/>
          <p:nvPr/>
        </p:nvSpPr>
        <p:spPr>
          <a:xfrm>
            <a:off x="10607040" y="320040"/>
            <a:ext cx="640080" cy="640080"/>
          </a:xfrm>
          <a:prstGeom prst="ellipse">
            <a:avLst/>
          </a:prstGeom>
          <a:solidFill>
            <a:srgbClr val="1F4585"/>
          </a:solidFill>
          <a:ln/>
        </p:spPr>
      </p:sp>
      <p:pic>
        <p:nvPicPr>
          <p:cNvPr id="4" name="Image 0" descr="preencoded.png"/>
          <p:cNvPicPr>
            <a:picLocks noChangeAspect="1"/>
          </p:cNvPicPr>
          <p:nvPr/>
        </p:nvPicPr>
        <p:blipFill>
          <a:blip r:embed="rId1"/>
          <a:stretch>
            <a:fillRect/>
          </a:stretch>
        </p:blipFill>
        <p:spPr>
          <a:xfrm>
            <a:off x="10690250" y="403250"/>
            <a:ext cx="473659" cy="473659"/>
          </a:xfrm>
          <a:prstGeom prst="rect">
            <a:avLst/>
          </a:prstGeom>
        </p:spPr>
      </p:pic>
      <p:sp>
        <p:nvSpPr>
          <p:cNvPr id="5" name="Shape 2"/>
          <p:cNvSpPr/>
          <p:nvPr/>
        </p:nvSpPr>
        <p:spPr>
          <a:xfrm>
            <a:off x="548640" y="1143000"/>
            <a:ext cx="11064240" cy="5349240"/>
          </a:xfrm>
          <a:prstGeom prst="roundRect">
            <a:avLst>
              <a:gd name="adj" fmla="val 1026"/>
            </a:avLst>
          </a:prstGeom>
          <a:solidFill>
            <a:srgbClr val="0E2444"/>
          </a:solidFill>
          <a:ln/>
        </p:spPr>
      </p:sp>
      <p:sp>
        <p:nvSpPr>
          <p:cNvPr id="6" name="Text 3"/>
          <p:cNvSpPr/>
          <p:nvPr/>
        </p:nvSpPr>
        <p:spPr>
          <a:xfrm>
            <a:off x="822960" y="1325880"/>
            <a:ext cx="10515600" cy="5029200"/>
          </a:xfrm>
          <a:prstGeom prst="rect">
            <a:avLst/>
          </a:prstGeom>
          <a:noFill/>
          <a:ln/>
        </p:spPr>
        <p:txBody>
          <a:bodyPr wrap="square" rtlCol="0" anchor="t"/>
          <a:lstStyle/>
          <a:p>
            <a:pPr indent="0" marL="0">
              <a:buNone/>
            </a:pPr>
            <a:r>
              <a:rPr lang="en-US" sz="1250" dirty="0">
                <a:solidFill>
                  <a:srgbClr val="D7E4FA"/>
                </a:solidFill>
                <a:latin typeface="Courier New" pitchFamily="34" charset="0"/>
                <a:ea typeface="Courier New" pitchFamily="34" charset="-122"/>
                <a:cs typeface="Courier New" pitchFamily="34" charset="-120"/>
              </a:rPr>
              <a:t>import pandas as pd</a:t>
            </a:r>
            <a:endParaRPr lang="en-US" sz="1250" dirty="0"/>
          </a:p>
          <a:p>
            <a:pPr indent="0" marL="0">
              <a:buNone/>
            </a:pPr>
            <a:r>
              <a:rPr lang="en-US" sz="1250" dirty="0">
                <a:solidFill>
                  <a:srgbClr val="D7E4FA"/>
                </a:solidFill>
                <a:latin typeface="Courier New" pitchFamily="34" charset="0"/>
                <a:ea typeface="Courier New" pitchFamily="34" charset="-122"/>
                <a:cs typeface="Courier New" pitchFamily="34" charset="-120"/>
              </a:rPr>
              <a:t>from sklearn.preprocessing import StandardScaler</a:t>
            </a:r>
            <a:endParaRPr lang="en-US" sz="1250" dirty="0"/>
          </a:p>
          <a:p>
            <a:pPr indent="0" marL="0">
              <a:buNone/>
            </a:pPr>
            <a:r>
              <a:rPr lang="en-US" sz="1250" dirty="0">
                <a:solidFill>
                  <a:srgbClr val="D7E4FA"/>
                </a:solidFill>
                <a:latin typeface="Courier New" pitchFamily="34" charset="0"/>
                <a:ea typeface="Courier New" pitchFamily="34" charset="-122"/>
                <a:cs typeface="Courier New" pitchFamily="34" charset="-120"/>
              </a:rPr>
              <a:t>from scipy.cluster.hierarchy import linkage, dendrogram, fcluster</a:t>
            </a:r>
            <a:endParaRPr lang="en-US" sz="1250" dirty="0"/>
          </a:p>
          <a:p>
            <a:pPr indent="0" marL="0">
              <a:buNone/>
            </a:pPr>
            <a:r>
              <a:rPr lang="en-US" sz="1250" dirty="0">
                <a:solidFill>
                  <a:srgbClr val="D7E4FA"/>
                </a:solidFill>
                <a:latin typeface="Courier New" pitchFamily="34" charset="0"/>
                <a:ea typeface="Courier New" pitchFamily="34" charset="-122"/>
                <a:cs typeface="Courier New" pitchFamily="34" charset="-120"/>
              </a:rPr>
              <a:t>import matplotlib.pyplot as plt</a:t>
            </a:r>
            <a:endParaRPr lang="en-US" sz="1250" dirty="0"/>
          </a:p>
          <a:p>
            <a:pPr indent="0" marL="0">
              <a:buNone/>
            </a:pPr>
            <a:endParaRPr lang="en-US" sz="1250" dirty="0"/>
          </a:p>
          <a:p>
            <a:pPr indent="0" marL="0">
              <a:buNone/>
            </a:pPr>
            <a:r>
              <a:rPr lang="en-US" sz="1250" dirty="0">
                <a:solidFill>
                  <a:srgbClr val="D7E4FA"/>
                </a:solidFill>
                <a:latin typeface="Courier New" pitchFamily="34" charset="0"/>
                <a:ea typeface="Courier New" pitchFamily="34" charset="-122"/>
                <a:cs typeface="Courier New" pitchFamily="34" charset="-120"/>
              </a:rPr>
              <a:t># 1. Membaca dataset</a:t>
            </a:r>
            <a:endParaRPr lang="en-US" sz="1250" dirty="0"/>
          </a:p>
          <a:p>
            <a:pPr indent="0" marL="0">
              <a:buNone/>
            </a:pPr>
            <a:r>
              <a:rPr lang="en-US" sz="1250" dirty="0">
                <a:solidFill>
                  <a:srgbClr val="D7E4FA"/>
                </a:solidFill>
                <a:latin typeface="Courier New" pitchFamily="34" charset="0"/>
                <a:ea typeface="Courier New" pitchFamily="34" charset="-122"/>
                <a:cs typeface="Courier New" pitchFamily="34" charset="-120"/>
              </a:rPr>
              <a:t>df = pd.read_csv("wine_dataset.csv")</a:t>
            </a:r>
            <a:endParaRPr lang="en-US" sz="1250" dirty="0"/>
          </a:p>
          <a:p>
            <a:pPr indent="0" marL="0">
              <a:buNone/>
            </a:pPr>
            <a:r>
              <a:rPr lang="en-US" sz="1250" dirty="0">
                <a:solidFill>
                  <a:srgbClr val="D7E4FA"/>
                </a:solidFill>
                <a:latin typeface="Courier New" pitchFamily="34" charset="0"/>
                <a:ea typeface="Courier New" pitchFamily="34" charset="-122"/>
                <a:cs typeface="Courier New" pitchFamily="34" charset="-120"/>
              </a:rPr>
              <a:t>X = df.drop(columns=["target"])</a:t>
            </a:r>
            <a:endParaRPr lang="en-US" sz="1250" dirty="0"/>
          </a:p>
          <a:p>
            <a:pPr indent="0" marL="0">
              <a:buNone/>
            </a:pPr>
            <a:endParaRPr lang="en-US" sz="1250" dirty="0"/>
          </a:p>
          <a:p>
            <a:pPr indent="0" marL="0">
              <a:buNone/>
            </a:pPr>
            <a:r>
              <a:rPr lang="en-US" sz="1250" dirty="0">
                <a:solidFill>
                  <a:srgbClr val="D7E4FA"/>
                </a:solidFill>
                <a:latin typeface="Courier New" pitchFamily="34" charset="0"/>
                <a:ea typeface="Courier New" pitchFamily="34" charset="-122"/>
                <a:cs typeface="Courier New" pitchFamily="34" charset="-120"/>
              </a:rPr>
              <a:t># 2. Standardisasi data (Z-score)</a:t>
            </a:r>
            <a:endParaRPr lang="en-US" sz="1250" dirty="0"/>
          </a:p>
          <a:p>
            <a:pPr indent="0" marL="0">
              <a:buNone/>
            </a:pPr>
            <a:r>
              <a:rPr lang="en-US" sz="1250" dirty="0">
                <a:solidFill>
                  <a:srgbClr val="D7E4FA"/>
                </a:solidFill>
                <a:latin typeface="Courier New" pitchFamily="34" charset="0"/>
                <a:ea typeface="Courier New" pitchFamily="34" charset="-122"/>
                <a:cs typeface="Courier New" pitchFamily="34" charset="-120"/>
              </a:rPr>
              <a:t>X_scaled = StandardScaler().fit_transform(X)</a:t>
            </a:r>
            <a:endParaRPr lang="en-US" sz="1250" dirty="0"/>
          </a:p>
          <a:p>
            <a:pPr indent="0" marL="0">
              <a:buNone/>
            </a:pPr>
            <a:endParaRPr lang="en-US" sz="1250" dirty="0"/>
          </a:p>
          <a:p>
            <a:pPr indent="0" marL="0">
              <a:buNone/>
            </a:pPr>
            <a:r>
              <a:rPr lang="en-US" sz="1250" dirty="0">
                <a:solidFill>
                  <a:srgbClr val="D7E4FA"/>
                </a:solidFill>
                <a:latin typeface="Courier New" pitchFamily="34" charset="0"/>
                <a:ea typeface="Courier New" pitchFamily="34" charset="-122"/>
                <a:cs typeface="Courier New" pitchFamily="34" charset="-120"/>
              </a:rPr>
              <a:t># 3. Membuat Hierarchical Clustering (Ward Linkage)</a:t>
            </a:r>
            <a:endParaRPr lang="en-US" sz="1250" dirty="0"/>
          </a:p>
          <a:p>
            <a:pPr indent="0" marL="0">
              <a:buNone/>
            </a:pPr>
            <a:r>
              <a:rPr lang="en-US" sz="1250" dirty="0">
                <a:solidFill>
                  <a:srgbClr val="D7E4FA"/>
                </a:solidFill>
                <a:latin typeface="Courier New" pitchFamily="34" charset="0"/>
                <a:ea typeface="Courier New" pitchFamily="34" charset="-122"/>
                <a:cs typeface="Courier New" pitchFamily="34" charset="-120"/>
              </a:rPr>
              <a:t>Z = linkage(X_scaled, method="ward")</a:t>
            </a:r>
            <a:endParaRPr lang="en-US" sz="1250" dirty="0"/>
          </a:p>
          <a:p>
            <a:pPr indent="0" marL="0">
              <a:buNone/>
            </a:pPr>
            <a:endParaRPr lang="en-US" sz="1250" dirty="0"/>
          </a:p>
          <a:p>
            <a:pPr indent="0" marL="0">
              <a:buNone/>
            </a:pPr>
            <a:r>
              <a:rPr lang="en-US" sz="1250" dirty="0">
                <a:solidFill>
                  <a:srgbClr val="D7E4FA"/>
                </a:solidFill>
                <a:latin typeface="Courier New" pitchFamily="34" charset="0"/>
                <a:ea typeface="Courier New" pitchFamily="34" charset="-122"/>
                <a:cs typeface="Courier New" pitchFamily="34" charset="-120"/>
              </a:rPr>
              <a:t># 4. Menampilkan dendrogram</a:t>
            </a:r>
            <a:endParaRPr lang="en-US" sz="1250" dirty="0"/>
          </a:p>
          <a:p>
            <a:pPr indent="0" marL="0">
              <a:buNone/>
            </a:pPr>
            <a:r>
              <a:rPr lang="en-US" sz="1250" dirty="0">
                <a:solidFill>
                  <a:srgbClr val="D7E4FA"/>
                </a:solidFill>
                <a:latin typeface="Courier New" pitchFamily="34" charset="0"/>
                <a:ea typeface="Courier New" pitchFamily="34" charset="-122"/>
                <a:cs typeface="Courier New" pitchFamily="34" charset="-120"/>
              </a:rPr>
              <a:t>dendrogram(Z)</a:t>
            </a:r>
            <a:endParaRPr lang="en-US" sz="1250" dirty="0"/>
          </a:p>
          <a:p>
            <a:pPr indent="0" marL="0">
              <a:buNone/>
            </a:pPr>
            <a:r>
              <a:rPr lang="en-US" sz="1250" dirty="0">
                <a:solidFill>
                  <a:srgbClr val="D7E4FA"/>
                </a:solidFill>
                <a:latin typeface="Courier New" pitchFamily="34" charset="0"/>
                <a:ea typeface="Courier New" pitchFamily="34" charset="-122"/>
                <a:cs typeface="Courier New" pitchFamily="34" charset="-120"/>
              </a:rPr>
              <a:t>plt.title("Dendrogram - Wine Dataset")</a:t>
            </a:r>
            <a:endParaRPr lang="en-US" sz="1250" dirty="0"/>
          </a:p>
          <a:p>
            <a:pPr indent="0" marL="0">
              <a:buNone/>
            </a:pPr>
            <a:r>
              <a:rPr lang="en-US" sz="1250" dirty="0">
                <a:solidFill>
                  <a:srgbClr val="D7E4FA"/>
                </a:solidFill>
                <a:latin typeface="Courier New" pitchFamily="34" charset="0"/>
                <a:ea typeface="Courier New" pitchFamily="34" charset="-122"/>
                <a:cs typeface="Courier New" pitchFamily="34" charset="-120"/>
              </a:rPr>
              <a:t>plt.show()</a:t>
            </a:r>
            <a:endParaRPr lang="en-US" sz="1250" dirty="0"/>
          </a:p>
          <a:p>
            <a:pPr indent="0" marL="0">
              <a:buNone/>
            </a:pPr>
            <a:endParaRPr lang="en-US" sz="1250" dirty="0"/>
          </a:p>
          <a:p>
            <a:pPr indent="0" marL="0">
              <a:buNone/>
            </a:pPr>
            <a:r>
              <a:rPr lang="en-US" sz="1250" dirty="0">
                <a:solidFill>
                  <a:srgbClr val="D7E4FA"/>
                </a:solidFill>
                <a:latin typeface="Courier New" pitchFamily="34" charset="0"/>
                <a:ea typeface="Courier New" pitchFamily="34" charset="-122"/>
                <a:cs typeface="Courier New" pitchFamily="34" charset="-120"/>
              </a:rPr>
              <a:t># 5. Menampilkan hasil clustering (k=3)</a:t>
            </a:r>
            <a:endParaRPr lang="en-US" sz="1250" dirty="0"/>
          </a:p>
          <a:p>
            <a:pPr indent="0" marL="0">
              <a:buNone/>
            </a:pPr>
            <a:r>
              <a:rPr lang="en-US" sz="1250" dirty="0">
                <a:solidFill>
                  <a:srgbClr val="D7E4FA"/>
                </a:solidFill>
                <a:latin typeface="Courier New" pitchFamily="34" charset="0"/>
                <a:ea typeface="Courier New" pitchFamily="34" charset="-122"/>
                <a:cs typeface="Courier New" pitchFamily="34" charset="-120"/>
              </a:rPr>
              <a:t>clusters = fcluster(Z, t=3, criterion="maxclust")</a:t>
            </a:r>
            <a:endParaRPr lang="en-US" sz="1250" dirty="0"/>
          </a:p>
          <a:p>
            <a:pPr indent="0" marL="0">
              <a:buNone/>
            </a:pPr>
            <a:r>
              <a:rPr lang="en-US" sz="1250" dirty="0">
                <a:solidFill>
                  <a:srgbClr val="D7E4FA"/>
                </a:solidFill>
                <a:latin typeface="Courier New" pitchFamily="34" charset="0"/>
                <a:ea typeface="Courier New" pitchFamily="34" charset="-122"/>
                <a:cs typeface="Courier New" pitchFamily="34" charset="-120"/>
              </a:rPr>
              <a:t>df["cluster"] = clusters</a:t>
            </a:r>
            <a:endParaRPr lang="en-US" sz="1250" dirty="0"/>
          </a:p>
          <a:p>
            <a:pPr indent="0" marL="0">
              <a:buNone/>
            </a:pPr>
            <a:r>
              <a:rPr lang="en-US" sz="1250" dirty="0">
                <a:solidFill>
                  <a:srgbClr val="D7E4FA"/>
                </a:solidFill>
                <a:latin typeface="Courier New" pitchFamily="34" charset="0"/>
                <a:ea typeface="Courier New" pitchFamily="34" charset="-122"/>
                <a:cs typeface="Courier New" pitchFamily="34" charset="-120"/>
              </a:rPr>
              <a:t>print(df.head())</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indent="0" marL="0">
              <a:buNone/>
            </a:pPr>
            <a:r>
              <a:rPr lang="en-US" sz="3200" b="1" dirty="0">
                <a:solidFill>
                  <a:srgbClr val="16305C"/>
                </a:solidFill>
                <a:latin typeface="Calibri" pitchFamily="34" charset="0"/>
                <a:ea typeface="Calibri" pitchFamily="34" charset="-122"/>
                <a:cs typeface="Calibri" pitchFamily="34" charset="-120"/>
              </a:rPr>
              <a:t>Hasil Clustering</a:t>
            </a:r>
            <a:endParaRPr lang="en-US" sz="3200" dirty="0"/>
          </a:p>
        </p:txBody>
      </p:sp>
      <p:graphicFrame>
        <p:nvGraphicFramePr>
          <p:cNvPr id="3" name="Chart 0" descr=""/>
          <p:cNvGraphicFramePr/>
          <p:nvPr/>
        </p:nvGraphicFramePr>
        <p:xfrm>
          <a:off x="548640" y="1554480"/>
          <a:ext cx="6035040" cy="38404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p:nvPr/>
        </p:nvSpPr>
        <p:spPr>
          <a:xfrm>
            <a:off x="6858000" y="1691640"/>
            <a:ext cx="4754880" cy="3840480"/>
          </a:xfrm>
          <a:prstGeom prst="rect">
            <a:avLst/>
          </a:prstGeom>
          <a:noFill/>
          <a:ln/>
        </p:spPr>
        <p:txBody>
          <a:bodyPr wrap="square" rtlCol="0" anchor="ctr"/>
          <a:lstStyle/>
          <a:p>
            <a:pPr indent="0" marL="0">
              <a:buNone/>
            </a:pPr>
            <a:r>
              <a:rPr lang="en-US" sz="1500" b="1" dirty="0">
                <a:solidFill>
                  <a:srgbClr val="16305C"/>
                </a:solidFill>
                <a:latin typeface="Calibri" pitchFamily="34" charset="0"/>
                <a:ea typeface="Calibri" pitchFamily="34" charset="-122"/>
                <a:cs typeface="Calibri" pitchFamily="34" charset="-120"/>
              </a:rPr>
              <a:t>Jumlah Cluster</a:t>
            </a:r>
            <a:endParaRPr lang="en-US" sz="1500" dirty="0"/>
          </a:p>
          <a:p>
            <a:pPr marL="342900" indent="-342900">
              <a:spcAft>
                <a:spcPts val="1000"/>
              </a:spcAft>
              <a:buSzPct val="100000"/>
              <a:buChar char="•"/>
            </a:pPr>
            <a:r>
              <a:rPr lang="en-US" sz="1300" dirty="0">
                <a:solidFill>
                  <a:srgbClr val="22324A"/>
                </a:solidFill>
                <a:latin typeface="Calibri" pitchFamily="34" charset="0"/>
                <a:ea typeface="Calibri" pitchFamily="34" charset="-122"/>
                <a:cs typeface="Calibri" pitchFamily="34" charset="-120"/>
              </a:rPr>
              <a:t>k = 3 cluster (dipilih dari evaluasi Silhouette Score)</a:t>
            </a:r>
            <a:endParaRPr lang="en-US" sz="1500" dirty="0"/>
          </a:p>
          <a:p>
            <a:pPr indent="0" marL="0">
              <a:buNone/>
            </a:pPr>
            <a:r>
              <a:rPr lang="en-US" sz="1500" b="1" dirty="0">
                <a:solidFill>
                  <a:srgbClr val="16305C"/>
                </a:solidFill>
                <a:latin typeface="Calibri" pitchFamily="34" charset="0"/>
                <a:ea typeface="Calibri" pitchFamily="34" charset="-122"/>
                <a:cs typeface="Calibri" pitchFamily="34" charset="-120"/>
              </a:rPr>
              <a:t>Interpretasi</a:t>
            </a:r>
            <a:endParaRPr lang="en-US" sz="1500" dirty="0"/>
          </a:p>
          <a:p>
            <a:pPr marL="342900" indent="-342900">
              <a:spcAft>
                <a:spcPts val="400"/>
              </a:spcAft>
              <a:buSzPct val="100000"/>
              <a:buChar char="•"/>
            </a:pPr>
            <a:r>
              <a:rPr lang="en-US" sz="1250" dirty="0">
                <a:solidFill>
                  <a:srgbClr val="22324A"/>
                </a:solidFill>
                <a:latin typeface="Calibri" pitchFamily="34" charset="0"/>
                <a:ea typeface="Calibri" pitchFamily="34" charset="-122"/>
                <a:cs typeface="Calibri" pitchFamily="34" charset="-120"/>
              </a:rPr>
              <a:t>Setiap cluster merepresentasikan kelompok data dengan karakteristik atribut yang mirip</a:t>
            </a:r>
            <a:endParaRPr lang="en-US" sz="1500" dirty="0"/>
          </a:p>
          <a:p>
            <a:pPr marL="342900" indent="-342900">
              <a:spcAft>
                <a:spcPts val="400"/>
              </a:spcAft>
              <a:buSzPct val="100000"/>
              <a:buChar char="•"/>
            </a:pPr>
            <a:r>
              <a:rPr lang="en-US" sz="1250" dirty="0">
                <a:solidFill>
                  <a:srgbClr val="22324A"/>
                </a:solidFill>
                <a:latin typeface="Calibri" pitchFamily="34" charset="0"/>
                <a:ea typeface="Calibri" pitchFamily="34" charset="-122"/>
                <a:cs typeface="Calibri" pitchFamily="34" charset="-120"/>
              </a:rPr>
              <a:t>Cluster yang terpisah jelas menandakan pengelompokan yang baik</a:t>
            </a:r>
            <a:endParaRPr lang="en-US" sz="1500" dirty="0"/>
          </a:p>
          <a:p>
            <a:pPr marL="342900" indent="-342900">
              <a:buSzPct val="100000"/>
              <a:buChar char="•"/>
            </a:pPr>
            <a:r>
              <a:rPr lang="en-US" sz="1250" dirty="0">
                <a:solidFill>
                  <a:srgbClr val="22324A"/>
                </a:solidFill>
                <a:latin typeface="Calibri" pitchFamily="34" charset="0"/>
                <a:ea typeface="Calibri" pitchFamily="34" charset="-122"/>
                <a:cs typeface="Calibri" pitchFamily="34" charset="-120"/>
              </a:rPr>
              <a:t>Sedikit tumpang tindih antar cluster masih wajar terjadi pada data nyata</a:t>
            </a:r>
            <a:endParaRPr lang="en-US" sz="1500" dirty="0"/>
          </a:p>
        </p:txBody>
      </p:sp>
      <p:sp>
        <p:nvSpPr>
          <p:cNvPr id="5" name="Text 2"/>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B7D"/>
                </a:solidFill>
              </a:rPr>
              <a:t>10</a:t>
            </a:r>
            <a:endParaRPr lang="en-US" sz="1000" dirty="0"/>
          </a:p>
        </p:txBody>
      </p:sp>
      <p:sp>
        <p:nvSpPr>
          <p:cNvPr id="6" name="Text 3"/>
          <p:cNvSpPr/>
          <p:nvPr/>
        </p:nvSpPr>
        <p:spPr>
          <a:xfrm>
            <a:off x="457200" y="6446520"/>
            <a:ext cx="3657600" cy="274320"/>
          </a:xfrm>
          <a:prstGeom prst="rect">
            <a:avLst/>
          </a:prstGeom>
          <a:noFill/>
          <a:ln/>
        </p:spPr>
        <p:txBody>
          <a:bodyPr wrap="square" rtlCol="0" anchor="ctr"/>
          <a:lstStyle/>
          <a:p>
            <a:pPr indent="0" marL="0">
              <a:buNone/>
            </a:pPr>
            <a:r>
              <a:rPr lang="en-US" sz="1000" dirty="0">
                <a:solidFill>
                  <a:srgbClr val="5B6B7D"/>
                </a:solidFill>
              </a:rPr>
              <a:t>Hierarchical Clustering</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indent="0" marL="0">
              <a:buNone/>
            </a:pPr>
            <a:r>
              <a:rPr lang="en-US" sz="3200" b="1" dirty="0">
                <a:solidFill>
                  <a:srgbClr val="16305C"/>
                </a:solidFill>
                <a:latin typeface="Calibri" pitchFamily="34" charset="0"/>
                <a:ea typeface="Calibri" pitchFamily="34" charset="-122"/>
                <a:cs typeface="Calibri" pitchFamily="34" charset="-120"/>
              </a:rPr>
              <a:t>Kelebihan dan Kekurangan</a:t>
            </a:r>
            <a:endParaRPr lang="en-US" sz="3200" dirty="0"/>
          </a:p>
        </p:txBody>
      </p:sp>
      <p:sp>
        <p:nvSpPr>
          <p:cNvPr id="3" name="Shape 1"/>
          <p:cNvSpPr/>
          <p:nvPr/>
        </p:nvSpPr>
        <p:spPr>
          <a:xfrm>
            <a:off x="548640" y="1554480"/>
            <a:ext cx="5440680" cy="4023360"/>
          </a:xfrm>
          <a:prstGeom prst="roundRect">
            <a:avLst>
              <a:gd name="adj" fmla="val 1818"/>
            </a:avLst>
          </a:prstGeom>
          <a:solidFill>
            <a:srgbClr val="EAF7EF"/>
          </a:solidFill>
          <a:ln/>
        </p:spPr>
      </p:sp>
      <p:sp>
        <p:nvSpPr>
          <p:cNvPr id="4" name="Shape 2"/>
          <p:cNvSpPr/>
          <p:nvPr/>
        </p:nvSpPr>
        <p:spPr>
          <a:xfrm>
            <a:off x="777240" y="1737360"/>
            <a:ext cx="502920" cy="502920"/>
          </a:xfrm>
          <a:prstGeom prst="ellipse">
            <a:avLst/>
          </a:prstGeom>
          <a:solidFill>
            <a:srgbClr val="FFFFFF"/>
          </a:solidFill>
          <a:ln/>
        </p:spPr>
      </p:sp>
      <p:pic>
        <p:nvPicPr>
          <p:cNvPr id="5" name="Image 0" descr="preencoded.png"/>
          <p:cNvPicPr>
            <a:picLocks noChangeAspect="1"/>
          </p:cNvPicPr>
          <p:nvPr/>
        </p:nvPicPr>
        <p:blipFill>
          <a:blip r:embed="rId1"/>
          <a:stretch>
            <a:fillRect/>
          </a:stretch>
        </p:blipFill>
        <p:spPr>
          <a:xfrm>
            <a:off x="842620" y="1802740"/>
            <a:ext cx="372161" cy="372161"/>
          </a:xfrm>
          <a:prstGeom prst="rect">
            <a:avLst/>
          </a:prstGeom>
        </p:spPr>
      </p:pic>
      <p:sp>
        <p:nvSpPr>
          <p:cNvPr id="6" name="Text 3"/>
          <p:cNvSpPr/>
          <p:nvPr/>
        </p:nvSpPr>
        <p:spPr>
          <a:xfrm>
            <a:off x="1417320" y="1783080"/>
            <a:ext cx="4114800" cy="457200"/>
          </a:xfrm>
          <a:prstGeom prst="rect">
            <a:avLst/>
          </a:prstGeom>
          <a:noFill/>
          <a:ln/>
        </p:spPr>
        <p:txBody>
          <a:bodyPr wrap="square" rtlCol="0" anchor="ctr"/>
          <a:lstStyle/>
          <a:p>
            <a:pPr indent="0" marL="0">
              <a:buNone/>
            </a:pPr>
            <a:r>
              <a:rPr lang="en-US" sz="1700" b="1" dirty="0">
                <a:solidFill>
                  <a:srgbClr val="1E8E5A"/>
                </a:solidFill>
                <a:latin typeface="Calibri" pitchFamily="34" charset="0"/>
                <a:ea typeface="Calibri" pitchFamily="34" charset="-122"/>
                <a:cs typeface="Calibri" pitchFamily="34" charset="-120"/>
              </a:rPr>
              <a:t>Kelebihan</a:t>
            </a:r>
            <a:endParaRPr lang="en-US" sz="1700" dirty="0"/>
          </a:p>
        </p:txBody>
      </p:sp>
      <p:sp>
        <p:nvSpPr>
          <p:cNvPr id="7" name="Text 4"/>
          <p:cNvSpPr/>
          <p:nvPr/>
        </p:nvSpPr>
        <p:spPr>
          <a:xfrm>
            <a:off x="822960" y="2331720"/>
            <a:ext cx="4892040" cy="3108960"/>
          </a:xfrm>
          <a:prstGeom prst="rect">
            <a:avLst/>
          </a:prstGeom>
          <a:noFill/>
          <a:ln/>
        </p:spPr>
        <p:txBody>
          <a:bodyPr wrap="square" rtlCol="0" anchor="ctr"/>
          <a:lstStyle/>
          <a:p>
            <a:pPr marL="342900" indent="-342900">
              <a:spcAft>
                <a:spcPts val="800"/>
              </a:spcAft>
              <a:buSzPct val="100000"/>
              <a:buChar char="•"/>
            </a:pPr>
            <a:r>
              <a:rPr lang="en-US" sz="1300" dirty="0">
                <a:solidFill>
                  <a:srgbClr val="22324A"/>
                </a:solidFill>
                <a:latin typeface="Calibri" pitchFamily="34" charset="0"/>
                <a:ea typeface="Calibri" pitchFamily="34" charset="-122"/>
                <a:cs typeface="Calibri" pitchFamily="34" charset="-120"/>
              </a:rPr>
              <a:t>Tidak perlu menentukan jumlah cluster di awal</a:t>
            </a:r>
            <a:endParaRPr lang="en-US" sz="1300" dirty="0"/>
          </a:p>
          <a:p>
            <a:pPr marL="342900" indent="-342900">
              <a:spcAft>
                <a:spcPts val="800"/>
              </a:spcAft>
              <a:buSzPct val="100000"/>
              <a:buChar char="•"/>
            </a:pPr>
            <a:r>
              <a:rPr lang="en-US" sz="1300" dirty="0">
                <a:solidFill>
                  <a:srgbClr val="22324A"/>
                </a:solidFill>
                <a:latin typeface="Calibri" pitchFamily="34" charset="0"/>
                <a:ea typeface="Calibri" pitchFamily="34" charset="-122"/>
                <a:cs typeface="Calibri" pitchFamily="34" charset="-120"/>
              </a:rPr>
              <a:t>Menghasilkan visualisasi dendrogram yang mudah diinterpretasi</a:t>
            </a:r>
            <a:endParaRPr lang="en-US" sz="1300" dirty="0"/>
          </a:p>
          <a:p>
            <a:pPr marL="342900" indent="-342900">
              <a:spcAft>
                <a:spcPts val="800"/>
              </a:spcAft>
              <a:buSzPct val="100000"/>
              <a:buChar char="•"/>
            </a:pPr>
            <a:r>
              <a:rPr lang="en-US" sz="1300" dirty="0">
                <a:solidFill>
                  <a:srgbClr val="22324A"/>
                </a:solidFill>
                <a:latin typeface="Calibri" pitchFamily="34" charset="0"/>
                <a:ea typeface="Calibri" pitchFamily="34" charset="-122"/>
                <a:cs typeface="Calibri" pitchFamily="34" charset="-120"/>
              </a:rPr>
              <a:t>Fleksibel untuk berbagai metode jarak &amp; linkage</a:t>
            </a:r>
            <a:endParaRPr lang="en-US" sz="1300" dirty="0"/>
          </a:p>
          <a:p>
            <a:pPr marL="342900" indent="-342900">
              <a:spcAft>
                <a:spcPts val="800"/>
              </a:spcAft>
              <a:buSzPct val="100000"/>
              <a:buChar char="•"/>
            </a:pPr>
            <a:r>
              <a:rPr lang="en-US" sz="1300" dirty="0">
                <a:solidFill>
                  <a:srgbClr val="22324A"/>
                </a:solidFill>
                <a:latin typeface="Calibri" pitchFamily="34" charset="0"/>
                <a:ea typeface="Calibri" pitchFamily="34" charset="-122"/>
                <a:cs typeface="Calibri" pitchFamily="34" charset="-120"/>
              </a:rPr>
              <a:t>Cocok untuk dataset berukuran kecil-menengah</a:t>
            </a:r>
            <a:endParaRPr lang="en-US" sz="1300" dirty="0"/>
          </a:p>
          <a:p>
            <a:pPr marL="342900" indent="-342900">
              <a:spcAft>
                <a:spcPts val="800"/>
              </a:spcAft>
              <a:buSzPct val="100000"/>
              <a:buChar char="•"/>
            </a:pPr>
            <a:r>
              <a:rPr lang="en-US" sz="1300" dirty="0">
                <a:solidFill>
                  <a:srgbClr val="22324A"/>
                </a:solidFill>
                <a:latin typeface="Calibri" pitchFamily="34" charset="0"/>
                <a:ea typeface="Calibri" pitchFamily="34" charset="-122"/>
                <a:cs typeface="Calibri" pitchFamily="34" charset="-120"/>
              </a:rPr>
              <a:t>Dapat menunjukkan struktur hubungan antar data secara detail</a:t>
            </a:r>
            <a:endParaRPr lang="en-US" sz="1300" dirty="0"/>
          </a:p>
        </p:txBody>
      </p:sp>
      <p:sp>
        <p:nvSpPr>
          <p:cNvPr id="8" name="Shape 5"/>
          <p:cNvSpPr/>
          <p:nvPr/>
        </p:nvSpPr>
        <p:spPr>
          <a:xfrm>
            <a:off x="6172200" y="1554480"/>
            <a:ext cx="5440680" cy="4023360"/>
          </a:xfrm>
          <a:prstGeom prst="roundRect">
            <a:avLst>
              <a:gd name="adj" fmla="val 1818"/>
            </a:avLst>
          </a:prstGeom>
          <a:solidFill>
            <a:srgbClr val="FBEAEA"/>
          </a:solidFill>
          <a:ln/>
        </p:spPr>
      </p:sp>
      <p:sp>
        <p:nvSpPr>
          <p:cNvPr id="9" name="Shape 6"/>
          <p:cNvSpPr/>
          <p:nvPr/>
        </p:nvSpPr>
        <p:spPr>
          <a:xfrm>
            <a:off x="6400800" y="1737360"/>
            <a:ext cx="502920" cy="502920"/>
          </a:xfrm>
          <a:prstGeom prst="ellipse">
            <a:avLst/>
          </a:prstGeom>
          <a:solidFill>
            <a:srgbClr val="FFFFFF"/>
          </a:solidFill>
          <a:ln/>
        </p:spPr>
      </p:sp>
      <p:pic>
        <p:nvPicPr>
          <p:cNvPr id="10" name="Image 1" descr="preencoded.png"/>
          <p:cNvPicPr>
            <a:picLocks noChangeAspect="1"/>
          </p:cNvPicPr>
          <p:nvPr/>
        </p:nvPicPr>
        <p:blipFill>
          <a:blip r:embed="rId2"/>
          <a:stretch>
            <a:fillRect/>
          </a:stretch>
        </p:blipFill>
        <p:spPr>
          <a:xfrm>
            <a:off x="6466180" y="1802740"/>
            <a:ext cx="372161" cy="372161"/>
          </a:xfrm>
          <a:prstGeom prst="rect">
            <a:avLst/>
          </a:prstGeom>
        </p:spPr>
      </p:pic>
      <p:sp>
        <p:nvSpPr>
          <p:cNvPr id="11" name="Text 7"/>
          <p:cNvSpPr/>
          <p:nvPr/>
        </p:nvSpPr>
        <p:spPr>
          <a:xfrm>
            <a:off x="7040880" y="1783080"/>
            <a:ext cx="4114800" cy="457200"/>
          </a:xfrm>
          <a:prstGeom prst="rect">
            <a:avLst/>
          </a:prstGeom>
          <a:noFill/>
          <a:ln/>
        </p:spPr>
        <p:txBody>
          <a:bodyPr wrap="square" rtlCol="0" anchor="ctr"/>
          <a:lstStyle/>
          <a:p>
            <a:pPr indent="0" marL="0">
              <a:buNone/>
            </a:pPr>
            <a:r>
              <a:rPr lang="en-US" sz="1700" b="1" dirty="0">
                <a:solidFill>
                  <a:srgbClr val="C0392B"/>
                </a:solidFill>
                <a:latin typeface="Calibri" pitchFamily="34" charset="0"/>
                <a:ea typeface="Calibri" pitchFamily="34" charset="-122"/>
                <a:cs typeface="Calibri" pitchFamily="34" charset="-120"/>
              </a:rPr>
              <a:t>Kekurangan</a:t>
            </a:r>
            <a:endParaRPr lang="en-US" sz="1700" dirty="0"/>
          </a:p>
        </p:txBody>
      </p:sp>
      <p:sp>
        <p:nvSpPr>
          <p:cNvPr id="12" name="Text 8"/>
          <p:cNvSpPr/>
          <p:nvPr/>
        </p:nvSpPr>
        <p:spPr>
          <a:xfrm>
            <a:off x="6446520" y="2331720"/>
            <a:ext cx="4892040" cy="3108960"/>
          </a:xfrm>
          <a:prstGeom prst="rect">
            <a:avLst/>
          </a:prstGeom>
          <a:noFill/>
          <a:ln/>
        </p:spPr>
        <p:txBody>
          <a:bodyPr wrap="square" rtlCol="0" anchor="ctr"/>
          <a:lstStyle/>
          <a:p>
            <a:pPr marL="342900" indent="-342900">
              <a:spcAft>
                <a:spcPts val="800"/>
              </a:spcAft>
              <a:buSzPct val="100000"/>
              <a:buChar char="•"/>
            </a:pPr>
            <a:r>
              <a:rPr lang="en-US" sz="1300" dirty="0">
                <a:solidFill>
                  <a:srgbClr val="22324A"/>
                </a:solidFill>
                <a:latin typeface="Calibri" pitchFamily="34" charset="0"/>
                <a:ea typeface="Calibri" pitchFamily="34" charset="-122"/>
                <a:cs typeface="Calibri" pitchFamily="34" charset="-120"/>
              </a:rPr>
              <a:t>Komputasi berat untuk dataset besar (kompleksitas tinggi)</a:t>
            </a:r>
            <a:endParaRPr lang="en-US" sz="1300" dirty="0"/>
          </a:p>
          <a:p>
            <a:pPr marL="342900" indent="-342900">
              <a:spcAft>
                <a:spcPts val="800"/>
              </a:spcAft>
              <a:buSzPct val="100000"/>
              <a:buChar char="•"/>
            </a:pPr>
            <a:r>
              <a:rPr lang="en-US" sz="1300" dirty="0">
                <a:solidFill>
                  <a:srgbClr val="22324A"/>
                </a:solidFill>
                <a:latin typeface="Calibri" pitchFamily="34" charset="0"/>
                <a:ea typeface="Calibri" pitchFamily="34" charset="-122"/>
                <a:cs typeface="Calibri" pitchFamily="34" charset="-120"/>
              </a:rPr>
              <a:t>Sensitif terhadap outlier &amp; noise pada beberapa linkage</a:t>
            </a:r>
            <a:endParaRPr lang="en-US" sz="1300" dirty="0"/>
          </a:p>
          <a:p>
            <a:pPr marL="342900" indent="-342900">
              <a:spcAft>
                <a:spcPts val="800"/>
              </a:spcAft>
              <a:buSzPct val="100000"/>
              <a:buChar char="•"/>
            </a:pPr>
            <a:r>
              <a:rPr lang="en-US" sz="1300" dirty="0">
                <a:solidFill>
                  <a:srgbClr val="22324A"/>
                </a:solidFill>
                <a:latin typeface="Calibri" pitchFamily="34" charset="0"/>
                <a:ea typeface="Calibri" pitchFamily="34" charset="-122"/>
                <a:cs typeface="Calibri" pitchFamily="34" charset="-120"/>
              </a:rPr>
              <a:t>Keputusan penggabungan bersifat permanen (tidak bisa dibatalkan)</a:t>
            </a:r>
            <a:endParaRPr lang="en-US" sz="1300" dirty="0"/>
          </a:p>
          <a:p>
            <a:pPr marL="342900" indent="-342900">
              <a:spcAft>
                <a:spcPts val="800"/>
              </a:spcAft>
              <a:buSzPct val="100000"/>
              <a:buChar char="•"/>
            </a:pPr>
            <a:r>
              <a:rPr lang="en-US" sz="1300" dirty="0">
                <a:solidFill>
                  <a:srgbClr val="22324A"/>
                </a:solidFill>
                <a:latin typeface="Calibri" pitchFamily="34" charset="0"/>
                <a:ea typeface="Calibri" pitchFamily="34" charset="-122"/>
                <a:cs typeface="Calibri" pitchFamily="34" charset="-120"/>
              </a:rPr>
              <a:t>Pemilihan titik potong dendrogram cukup subjektif</a:t>
            </a:r>
            <a:endParaRPr lang="en-US" sz="1300" dirty="0"/>
          </a:p>
          <a:p>
            <a:pPr marL="342900" indent="-342900">
              <a:spcAft>
                <a:spcPts val="800"/>
              </a:spcAft>
              <a:buSzPct val="100000"/>
              <a:buChar char="•"/>
            </a:pPr>
            <a:r>
              <a:rPr lang="en-US" sz="1300" dirty="0">
                <a:solidFill>
                  <a:srgbClr val="22324A"/>
                </a:solidFill>
                <a:latin typeface="Calibri" pitchFamily="34" charset="0"/>
                <a:ea typeface="Calibri" pitchFamily="34" charset="-122"/>
                <a:cs typeface="Calibri" pitchFamily="34" charset="-120"/>
              </a:rPr>
              <a:t>Kurang efisien dibanding metode partisi seperti K-Means</a:t>
            </a:r>
            <a:endParaRPr lang="en-US" sz="1300" dirty="0"/>
          </a:p>
        </p:txBody>
      </p:sp>
      <p:sp>
        <p:nvSpPr>
          <p:cNvPr id="13" name="Text 9"/>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B7D"/>
                </a:solidFill>
              </a:rPr>
              <a:t>11</a:t>
            </a:r>
            <a:endParaRPr lang="en-US" sz="1000" dirty="0"/>
          </a:p>
        </p:txBody>
      </p:sp>
      <p:sp>
        <p:nvSpPr>
          <p:cNvPr id="14" name="Text 10"/>
          <p:cNvSpPr/>
          <p:nvPr/>
        </p:nvSpPr>
        <p:spPr>
          <a:xfrm>
            <a:off x="457200" y="6446520"/>
            <a:ext cx="3657600" cy="274320"/>
          </a:xfrm>
          <a:prstGeom prst="rect">
            <a:avLst/>
          </a:prstGeom>
          <a:noFill/>
          <a:ln/>
        </p:spPr>
        <p:txBody>
          <a:bodyPr wrap="square" rtlCol="0" anchor="ctr"/>
          <a:lstStyle/>
          <a:p>
            <a:pPr indent="0" marL="0">
              <a:buNone/>
            </a:pPr>
            <a:r>
              <a:rPr lang="en-US" sz="1000" dirty="0">
                <a:solidFill>
                  <a:srgbClr val="5B6B7D"/>
                </a:solidFill>
              </a:rPr>
              <a:t>Hierarchical Clustering</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indent="0" marL="0">
              <a:buNone/>
            </a:pPr>
            <a:r>
              <a:rPr lang="en-US" sz="3200" b="1" dirty="0">
                <a:solidFill>
                  <a:srgbClr val="16305C"/>
                </a:solidFill>
                <a:latin typeface="Calibri" pitchFamily="34" charset="0"/>
                <a:ea typeface="Calibri" pitchFamily="34" charset="-122"/>
                <a:cs typeface="Calibri" pitchFamily="34" charset="-120"/>
              </a:rPr>
              <a:t>Penerapan Hierarchical Clustering</a:t>
            </a:r>
            <a:endParaRPr lang="en-US" sz="3200" dirty="0"/>
          </a:p>
        </p:txBody>
      </p:sp>
      <p:sp>
        <p:nvSpPr>
          <p:cNvPr id="3" name="Shape 1"/>
          <p:cNvSpPr/>
          <p:nvPr/>
        </p:nvSpPr>
        <p:spPr>
          <a:xfrm>
            <a:off x="548640" y="1600200"/>
            <a:ext cx="3453384" cy="2103120"/>
          </a:xfrm>
          <a:prstGeom prst="roundRect">
            <a:avLst>
              <a:gd name="adj" fmla="val 3478"/>
            </a:avLst>
          </a:prstGeom>
          <a:solidFill>
            <a:srgbClr val="F4F6F9"/>
          </a:solidFill>
          <a:ln/>
          <a:effectLst>
            <a:outerShdw sx="100000" sy="100000" kx="0" ky="0" algn="bl" rotWithShape="0" blurRad="76200" dist="25400" dir="5400000">
              <a:srgbClr val="000000">
                <a:alpha val="8000"/>
              </a:srgbClr>
            </a:outerShdw>
          </a:effectLst>
        </p:spPr>
      </p:sp>
      <p:sp>
        <p:nvSpPr>
          <p:cNvPr id="4" name="Shape 2"/>
          <p:cNvSpPr/>
          <p:nvPr/>
        </p:nvSpPr>
        <p:spPr>
          <a:xfrm>
            <a:off x="1909572" y="1828800"/>
            <a:ext cx="731520" cy="731520"/>
          </a:xfrm>
          <a:prstGeom prst="ellipse">
            <a:avLst/>
          </a:prstGeom>
          <a:solidFill>
            <a:srgbClr val="EAF1FB"/>
          </a:solidFill>
          <a:ln/>
        </p:spPr>
      </p:sp>
      <p:pic>
        <p:nvPicPr>
          <p:cNvPr id="5" name="Image 0" descr="preencoded.png"/>
          <p:cNvPicPr>
            <a:picLocks noChangeAspect="1"/>
          </p:cNvPicPr>
          <p:nvPr/>
        </p:nvPicPr>
        <p:blipFill>
          <a:blip r:embed="rId1"/>
          <a:stretch>
            <a:fillRect/>
          </a:stretch>
        </p:blipFill>
        <p:spPr>
          <a:xfrm>
            <a:off x="2004670" y="1923898"/>
            <a:ext cx="541325" cy="541325"/>
          </a:xfrm>
          <a:prstGeom prst="rect">
            <a:avLst/>
          </a:prstGeom>
        </p:spPr>
      </p:pic>
      <p:sp>
        <p:nvSpPr>
          <p:cNvPr id="6" name="Text 3"/>
          <p:cNvSpPr/>
          <p:nvPr/>
        </p:nvSpPr>
        <p:spPr>
          <a:xfrm>
            <a:off x="685800" y="2651760"/>
            <a:ext cx="3179064" cy="365760"/>
          </a:xfrm>
          <a:prstGeom prst="rect">
            <a:avLst/>
          </a:prstGeom>
          <a:noFill/>
          <a:ln/>
        </p:spPr>
        <p:txBody>
          <a:bodyPr wrap="square" rtlCol="0" anchor="ctr"/>
          <a:lstStyle/>
          <a:p>
            <a:pPr algn="ctr" indent="0" marL="0">
              <a:buNone/>
            </a:pPr>
            <a:r>
              <a:rPr lang="en-US" sz="1450" b="1" dirty="0">
                <a:solidFill>
                  <a:srgbClr val="16305C"/>
                </a:solidFill>
                <a:latin typeface="Calibri" pitchFamily="34" charset="0"/>
                <a:ea typeface="Calibri" pitchFamily="34" charset="-122"/>
                <a:cs typeface="Calibri" pitchFamily="34" charset="-120"/>
              </a:rPr>
              <a:t>Kesehatan</a:t>
            </a:r>
            <a:endParaRPr lang="en-US" sz="1450" dirty="0"/>
          </a:p>
        </p:txBody>
      </p:sp>
      <p:sp>
        <p:nvSpPr>
          <p:cNvPr id="7" name="Text 4"/>
          <p:cNvSpPr/>
          <p:nvPr/>
        </p:nvSpPr>
        <p:spPr>
          <a:xfrm>
            <a:off x="777240" y="3017520"/>
            <a:ext cx="2996184" cy="640080"/>
          </a:xfrm>
          <a:prstGeom prst="rect">
            <a:avLst/>
          </a:prstGeom>
          <a:noFill/>
          <a:ln/>
        </p:spPr>
        <p:txBody>
          <a:bodyPr wrap="square" rtlCol="0" anchor="ctr"/>
          <a:lstStyle/>
          <a:p>
            <a:pPr algn="ctr" indent="0" marL="0">
              <a:buNone/>
            </a:pPr>
            <a:r>
              <a:rPr lang="en-US" sz="1050" dirty="0">
                <a:solidFill>
                  <a:srgbClr val="22324A"/>
                </a:solidFill>
                <a:latin typeface="Calibri" pitchFamily="34" charset="0"/>
                <a:ea typeface="Calibri" pitchFamily="34" charset="-122"/>
                <a:cs typeface="Calibri" pitchFamily="34" charset="-120"/>
              </a:rPr>
              <a:t>Mengelompokkan pasien berdasarkan gejala atau data rekam medis</a:t>
            </a:r>
            <a:endParaRPr lang="en-US" sz="1050" dirty="0"/>
          </a:p>
        </p:txBody>
      </p:sp>
      <p:sp>
        <p:nvSpPr>
          <p:cNvPr id="8" name="Shape 5"/>
          <p:cNvSpPr/>
          <p:nvPr/>
        </p:nvSpPr>
        <p:spPr>
          <a:xfrm>
            <a:off x="4367784" y="1600200"/>
            <a:ext cx="3453384" cy="2103120"/>
          </a:xfrm>
          <a:prstGeom prst="roundRect">
            <a:avLst>
              <a:gd name="adj" fmla="val 3478"/>
            </a:avLst>
          </a:prstGeom>
          <a:solidFill>
            <a:srgbClr val="F4F6F9"/>
          </a:solidFill>
          <a:ln/>
          <a:effectLst>
            <a:outerShdw sx="100000" sy="100000" kx="0" ky="0" algn="bl" rotWithShape="0" blurRad="76200" dist="25400" dir="5400000">
              <a:srgbClr val="000000">
                <a:alpha val="8000"/>
              </a:srgbClr>
            </a:outerShdw>
          </a:effectLst>
        </p:spPr>
      </p:sp>
      <p:sp>
        <p:nvSpPr>
          <p:cNvPr id="9" name="Shape 6"/>
          <p:cNvSpPr/>
          <p:nvPr/>
        </p:nvSpPr>
        <p:spPr>
          <a:xfrm>
            <a:off x="5728716" y="1828800"/>
            <a:ext cx="731520" cy="731520"/>
          </a:xfrm>
          <a:prstGeom prst="ellipse">
            <a:avLst/>
          </a:prstGeom>
          <a:solidFill>
            <a:srgbClr val="EAF1FB"/>
          </a:solidFill>
          <a:ln/>
        </p:spPr>
      </p:sp>
      <p:pic>
        <p:nvPicPr>
          <p:cNvPr id="10" name="Image 1" descr="preencoded.png"/>
          <p:cNvPicPr>
            <a:picLocks noChangeAspect="1"/>
          </p:cNvPicPr>
          <p:nvPr/>
        </p:nvPicPr>
        <p:blipFill>
          <a:blip r:embed="rId2"/>
          <a:stretch>
            <a:fillRect/>
          </a:stretch>
        </p:blipFill>
        <p:spPr>
          <a:xfrm>
            <a:off x="5823814" y="1923898"/>
            <a:ext cx="541325" cy="541325"/>
          </a:xfrm>
          <a:prstGeom prst="rect">
            <a:avLst/>
          </a:prstGeom>
        </p:spPr>
      </p:pic>
      <p:sp>
        <p:nvSpPr>
          <p:cNvPr id="11" name="Text 7"/>
          <p:cNvSpPr/>
          <p:nvPr/>
        </p:nvSpPr>
        <p:spPr>
          <a:xfrm>
            <a:off x="4504944" y="2651760"/>
            <a:ext cx="3179064" cy="365760"/>
          </a:xfrm>
          <a:prstGeom prst="rect">
            <a:avLst/>
          </a:prstGeom>
          <a:noFill/>
          <a:ln/>
        </p:spPr>
        <p:txBody>
          <a:bodyPr wrap="square" rtlCol="0" anchor="ctr"/>
          <a:lstStyle/>
          <a:p>
            <a:pPr algn="ctr" indent="0" marL="0">
              <a:buNone/>
            </a:pPr>
            <a:r>
              <a:rPr lang="en-US" sz="1450" b="1" dirty="0">
                <a:solidFill>
                  <a:srgbClr val="16305C"/>
                </a:solidFill>
                <a:latin typeface="Calibri" pitchFamily="34" charset="0"/>
                <a:ea typeface="Calibri" pitchFamily="34" charset="-122"/>
                <a:cs typeface="Calibri" pitchFamily="34" charset="-120"/>
              </a:rPr>
              <a:t>Pendidikan</a:t>
            </a:r>
            <a:endParaRPr lang="en-US" sz="1450" dirty="0"/>
          </a:p>
        </p:txBody>
      </p:sp>
      <p:sp>
        <p:nvSpPr>
          <p:cNvPr id="12" name="Text 8"/>
          <p:cNvSpPr/>
          <p:nvPr/>
        </p:nvSpPr>
        <p:spPr>
          <a:xfrm>
            <a:off x="4596384" y="3017520"/>
            <a:ext cx="2996184" cy="640080"/>
          </a:xfrm>
          <a:prstGeom prst="rect">
            <a:avLst/>
          </a:prstGeom>
          <a:noFill/>
          <a:ln/>
        </p:spPr>
        <p:txBody>
          <a:bodyPr wrap="square" rtlCol="0" anchor="ctr"/>
          <a:lstStyle/>
          <a:p>
            <a:pPr algn="ctr" indent="0" marL="0">
              <a:buNone/>
            </a:pPr>
            <a:r>
              <a:rPr lang="en-US" sz="1050" dirty="0">
                <a:solidFill>
                  <a:srgbClr val="22324A"/>
                </a:solidFill>
                <a:latin typeface="Calibri" pitchFamily="34" charset="0"/>
                <a:ea typeface="Calibri" pitchFamily="34" charset="-122"/>
                <a:cs typeface="Calibri" pitchFamily="34" charset="-120"/>
              </a:rPr>
              <a:t>Mengelompokkan siswa berdasarkan pola nilai atau gaya belajar</a:t>
            </a:r>
            <a:endParaRPr lang="en-US" sz="1050" dirty="0"/>
          </a:p>
        </p:txBody>
      </p:sp>
      <p:sp>
        <p:nvSpPr>
          <p:cNvPr id="13" name="Shape 9"/>
          <p:cNvSpPr/>
          <p:nvPr/>
        </p:nvSpPr>
        <p:spPr>
          <a:xfrm>
            <a:off x="8186928" y="1600200"/>
            <a:ext cx="3453384" cy="2103120"/>
          </a:xfrm>
          <a:prstGeom prst="roundRect">
            <a:avLst>
              <a:gd name="adj" fmla="val 3478"/>
            </a:avLst>
          </a:prstGeom>
          <a:solidFill>
            <a:srgbClr val="F4F6F9"/>
          </a:solidFill>
          <a:ln/>
          <a:effectLst>
            <a:outerShdw sx="100000" sy="100000" kx="0" ky="0" algn="bl" rotWithShape="0" blurRad="76200" dist="25400" dir="5400000">
              <a:srgbClr val="000000">
                <a:alpha val="8000"/>
              </a:srgbClr>
            </a:outerShdw>
          </a:effectLst>
        </p:spPr>
      </p:sp>
      <p:sp>
        <p:nvSpPr>
          <p:cNvPr id="14" name="Shape 10"/>
          <p:cNvSpPr/>
          <p:nvPr/>
        </p:nvSpPr>
        <p:spPr>
          <a:xfrm>
            <a:off x="9547860" y="1828800"/>
            <a:ext cx="731520" cy="731520"/>
          </a:xfrm>
          <a:prstGeom prst="ellipse">
            <a:avLst/>
          </a:prstGeom>
          <a:solidFill>
            <a:srgbClr val="EAF1FB"/>
          </a:solidFill>
          <a:ln/>
        </p:spPr>
      </p:sp>
      <p:pic>
        <p:nvPicPr>
          <p:cNvPr id="15" name="Image 2" descr="preencoded.png"/>
          <p:cNvPicPr>
            <a:picLocks noChangeAspect="1"/>
          </p:cNvPicPr>
          <p:nvPr/>
        </p:nvPicPr>
        <p:blipFill>
          <a:blip r:embed="rId3"/>
          <a:stretch>
            <a:fillRect/>
          </a:stretch>
        </p:blipFill>
        <p:spPr>
          <a:xfrm>
            <a:off x="9642958" y="1923898"/>
            <a:ext cx="541325" cy="541325"/>
          </a:xfrm>
          <a:prstGeom prst="rect">
            <a:avLst/>
          </a:prstGeom>
        </p:spPr>
      </p:pic>
      <p:sp>
        <p:nvSpPr>
          <p:cNvPr id="16" name="Text 11"/>
          <p:cNvSpPr/>
          <p:nvPr/>
        </p:nvSpPr>
        <p:spPr>
          <a:xfrm>
            <a:off x="8324088" y="2651760"/>
            <a:ext cx="3179064" cy="365760"/>
          </a:xfrm>
          <a:prstGeom prst="rect">
            <a:avLst/>
          </a:prstGeom>
          <a:noFill/>
          <a:ln/>
        </p:spPr>
        <p:txBody>
          <a:bodyPr wrap="square" rtlCol="0" anchor="ctr"/>
          <a:lstStyle/>
          <a:p>
            <a:pPr algn="ctr" indent="0" marL="0">
              <a:buNone/>
            </a:pPr>
            <a:r>
              <a:rPr lang="en-US" sz="1450" b="1" dirty="0">
                <a:solidFill>
                  <a:srgbClr val="16305C"/>
                </a:solidFill>
                <a:latin typeface="Calibri" pitchFamily="34" charset="0"/>
                <a:ea typeface="Calibri" pitchFamily="34" charset="-122"/>
                <a:cs typeface="Calibri" pitchFamily="34" charset="-120"/>
              </a:rPr>
              <a:t>Bisnis</a:t>
            </a:r>
            <a:endParaRPr lang="en-US" sz="1450" dirty="0"/>
          </a:p>
        </p:txBody>
      </p:sp>
      <p:sp>
        <p:nvSpPr>
          <p:cNvPr id="17" name="Text 12"/>
          <p:cNvSpPr/>
          <p:nvPr/>
        </p:nvSpPr>
        <p:spPr>
          <a:xfrm>
            <a:off x="8415528" y="3017520"/>
            <a:ext cx="2996184" cy="640080"/>
          </a:xfrm>
          <a:prstGeom prst="rect">
            <a:avLst/>
          </a:prstGeom>
          <a:noFill/>
          <a:ln/>
        </p:spPr>
        <p:txBody>
          <a:bodyPr wrap="square" rtlCol="0" anchor="ctr"/>
          <a:lstStyle/>
          <a:p>
            <a:pPr algn="ctr" indent="0" marL="0">
              <a:buNone/>
            </a:pPr>
            <a:r>
              <a:rPr lang="en-US" sz="1050" dirty="0">
                <a:solidFill>
                  <a:srgbClr val="22324A"/>
                </a:solidFill>
                <a:latin typeface="Calibri" pitchFamily="34" charset="0"/>
                <a:ea typeface="Calibri" pitchFamily="34" charset="-122"/>
                <a:cs typeface="Calibri" pitchFamily="34" charset="-120"/>
              </a:rPr>
              <a:t>Segmentasi produk atau efisiensi rantai pasok berdasarkan data operasional</a:t>
            </a:r>
            <a:endParaRPr lang="en-US" sz="1050" dirty="0"/>
          </a:p>
        </p:txBody>
      </p:sp>
      <p:sp>
        <p:nvSpPr>
          <p:cNvPr id="18" name="Shape 13"/>
          <p:cNvSpPr/>
          <p:nvPr/>
        </p:nvSpPr>
        <p:spPr>
          <a:xfrm>
            <a:off x="548640" y="3931920"/>
            <a:ext cx="3453384" cy="2103120"/>
          </a:xfrm>
          <a:prstGeom prst="roundRect">
            <a:avLst>
              <a:gd name="adj" fmla="val 3478"/>
            </a:avLst>
          </a:prstGeom>
          <a:solidFill>
            <a:srgbClr val="F4F6F9"/>
          </a:solidFill>
          <a:ln/>
          <a:effectLst>
            <a:outerShdw sx="100000" sy="100000" kx="0" ky="0" algn="bl" rotWithShape="0" blurRad="76200" dist="25400" dir="5400000">
              <a:srgbClr val="000000">
                <a:alpha val="8000"/>
              </a:srgbClr>
            </a:outerShdw>
          </a:effectLst>
        </p:spPr>
      </p:sp>
      <p:sp>
        <p:nvSpPr>
          <p:cNvPr id="19" name="Shape 14"/>
          <p:cNvSpPr/>
          <p:nvPr/>
        </p:nvSpPr>
        <p:spPr>
          <a:xfrm>
            <a:off x="1909572" y="4160520"/>
            <a:ext cx="731520" cy="731520"/>
          </a:xfrm>
          <a:prstGeom prst="ellipse">
            <a:avLst/>
          </a:prstGeom>
          <a:solidFill>
            <a:srgbClr val="EAF1FB"/>
          </a:solidFill>
          <a:ln/>
        </p:spPr>
      </p:sp>
      <p:pic>
        <p:nvPicPr>
          <p:cNvPr id="20" name="Image 3" descr="preencoded.png"/>
          <p:cNvPicPr>
            <a:picLocks noChangeAspect="1"/>
          </p:cNvPicPr>
          <p:nvPr/>
        </p:nvPicPr>
        <p:blipFill>
          <a:blip r:embed="rId4"/>
          <a:stretch>
            <a:fillRect/>
          </a:stretch>
        </p:blipFill>
        <p:spPr>
          <a:xfrm>
            <a:off x="2004670" y="4255618"/>
            <a:ext cx="541325" cy="541325"/>
          </a:xfrm>
          <a:prstGeom prst="rect">
            <a:avLst/>
          </a:prstGeom>
        </p:spPr>
      </p:pic>
      <p:sp>
        <p:nvSpPr>
          <p:cNvPr id="21" name="Text 15"/>
          <p:cNvSpPr/>
          <p:nvPr/>
        </p:nvSpPr>
        <p:spPr>
          <a:xfrm>
            <a:off x="685800" y="4983480"/>
            <a:ext cx="3179064" cy="365760"/>
          </a:xfrm>
          <a:prstGeom prst="rect">
            <a:avLst/>
          </a:prstGeom>
          <a:noFill/>
          <a:ln/>
        </p:spPr>
        <p:txBody>
          <a:bodyPr wrap="square" rtlCol="0" anchor="ctr"/>
          <a:lstStyle/>
          <a:p>
            <a:pPr algn="ctr" indent="0" marL="0">
              <a:buNone/>
            </a:pPr>
            <a:r>
              <a:rPr lang="en-US" sz="1450" b="1" dirty="0">
                <a:solidFill>
                  <a:srgbClr val="16305C"/>
                </a:solidFill>
                <a:latin typeface="Calibri" pitchFamily="34" charset="0"/>
                <a:ea typeface="Calibri" pitchFamily="34" charset="-122"/>
                <a:cs typeface="Calibri" pitchFamily="34" charset="-120"/>
              </a:rPr>
              <a:t>Market Segmentation</a:t>
            </a:r>
            <a:endParaRPr lang="en-US" sz="1450" dirty="0"/>
          </a:p>
        </p:txBody>
      </p:sp>
      <p:sp>
        <p:nvSpPr>
          <p:cNvPr id="22" name="Text 16"/>
          <p:cNvSpPr/>
          <p:nvPr/>
        </p:nvSpPr>
        <p:spPr>
          <a:xfrm>
            <a:off x="777240" y="5349240"/>
            <a:ext cx="2996184" cy="640080"/>
          </a:xfrm>
          <a:prstGeom prst="rect">
            <a:avLst/>
          </a:prstGeom>
          <a:noFill/>
          <a:ln/>
        </p:spPr>
        <p:txBody>
          <a:bodyPr wrap="square" rtlCol="0" anchor="ctr"/>
          <a:lstStyle/>
          <a:p>
            <a:pPr algn="ctr" indent="0" marL="0">
              <a:buNone/>
            </a:pPr>
            <a:r>
              <a:rPr lang="en-US" sz="1050" dirty="0">
                <a:solidFill>
                  <a:srgbClr val="22324A"/>
                </a:solidFill>
                <a:latin typeface="Calibri" pitchFamily="34" charset="0"/>
                <a:ea typeface="Calibri" pitchFamily="34" charset="-122"/>
                <a:cs typeface="Calibri" pitchFamily="34" charset="-120"/>
              </a:rPr>
              <a:t>Mengelompokkan pasar berdasarkan karakteristik produk &amp; perilaku pembelian</a:t>
            </a:r>
            <a:endParaRPr lang="en-US" sz="1050" dirty="0"/>
          </a:p>
        </p:txBody>
      </p:sp>
      <p:sp>
        <p:nvSpPr>
          <p:cNvPr id="23" name="Shape 17"/>
          <p:cNvSpPr/>
          <p:nvPr/>
        </p:nvSpPr>
        <p:spPr>
          <a:xfrm>
            <a:off x="4367784" y="3931920"/>
            <a:ext cx="3453384" cy="2103120"/>
          </a:xfrm>
          <a:prstGeom prst="roundRect">
            <a:avLst>
              <a:gd name="adj" fmla="val 3478"/>
            </a:avLst>
          </a:prstGeom>
          <a:solidFill>
            <a:srgbClr val="F4F6F9"/>
          </a:solidFill>
          <a:ln/>
          <a:effectLst>
            <a:outerShdw sx="100000" sy="100000" kx="0" ky="0" algn="bl" rotWithShape="0" blurRad="76200" dist="25400" dir="5400000">
              <a:srgbClr val="000000">
                <a:alpha val="8000"/>
              </a:srgbClr>
            </a:outerShdw>
          </a:effectLst>
        </p:spPr>
      </p:sp>
      <p:sp>
        <p:nvSpPr>
          <p:cNvPr id="24" name="Shape 18"/>
          <p:cNvSpPr/>
          <p:nvPr/>
        </p:nvSpPr>
        <p:spPr>
          <a:xfrm>
            <a:off x="5728716" y="4160520"/>
            <a:ext cx="731520" cy="731520"/>
          </a:xfrm>
          <a:prstGeom prst="ellipse">
            <a:avLst/>
          </a:prstGeom>
          <a:solidFill>
            <a:srgbClr val="EAF1FB"/>
          </a:solidFill>
          <a:ln/>
        </p:spPr>
      </p:sp>
      <p:pic>
        <p:nvPicPr>
          <p:cNvPr id="25" name="Image 4" descr="preencoded.png"/>
          <p:cNvPicPr>
            <a:picLocks noChangeAspect="1"/>
          </p:cNvPicPr>
          <p:nvPr/>
        </p:nvPicPr>
        <p:blipFill>
          <a:blip r:embed="rId5"/>
          <a:stretch>
            <a:fillRect/>
          </a:stretch>
        </p:blipFill>
        <p:spPr>
          <a:xfrm>
            <a:off x="5823814" y="4255618"/>
            <a:ext cx="541325" cy="541325"/>
          </a:xfrm>
          <a:prstGeom prst="rect">
            <a:avLst/>
          </a:prstGeom>
        </p:spPr>
      </p:pic>
      <p:sp>
        <p:nvSpPr>
          <p:cNvPr id="26" name="Text 19"/>
          <p:cNvSpPr/>
          <p:nvPr/>
        </p:nvSpPr>
        <p:spPr>
          <a:xfrm>
            <a:off x="4504944" y="4983480"/>
            <a:ext cx="3179064" cy="365760"/>
          </a:xfrm>
          <a:prstGeom prst="rect">
            <a:avLst/>
          </a:prstGeom>
          <a:noFill/>
          <a:ln/>
        </p:spPr>
        <p:txBody>
          <a:bodyPr wrap="square" rtlCol="0" anchor="ctr"/>
          <a:lstStyle/>
          <a:p>
            <a:pPr algn="ctr" indent="0" marL="0">
              <a:buNone/>
            </a:pPr>
            <a:r>
              <a:rPr lang="en-US" sz="1450" b="1" dirty="0">
                <a:solidFill>
                  <a:srgbClr val="16305C"/>
                </a:solidFill>
                <a:latin typeface="Calibri" pitchFamily="34" charset="0"/>
                <a:ea typeface="Calibri" pitchFamily="34" charset="-122"/>
                <a:cs typeface="Calibri" pitchFamily="34" charset="-120"/>
              </a:rPr>
              <a:t>Analisis Pelanggan</a:t>
            </a:r>
            <a:endParaRPr lang="en-US" sz="1450" dirty="0"/>
          </a:p>
        </p:txBody>
      </p:sp>
      <p:sp>
        <p:nvSpPr>
          <p:cNvPr id="27" name="Text 20"/>
          <p:cNvSpPr/>
          <p:nvPr/>
        </p:nvSpPr>
        <p:spPr>
          <a:xfrm>
            <a:off x="4596384" y="5349240"/>
            <a:ext cx="2996184" cy="640080"/>
          </a:xfrm>
          <a:prstGeom prst="rect">
            <a:avLst/>
          </a:prstGeom>
          <a:noFill/>
          <a:ln/>
        </p:spPr>
        <p:txBody>
          <a:bodyPr wrap="square" rtlCol="0" anchor="ctr"/>
          <a:lstStyle/>
          <a:p>
            <a:pPr algn="ctr" indent="0" marL="0">
              <a:buNone/>
            </a:pPr>
            <a:r>
              <a:rPr lang="en-US" sz="1050" dirty="0">
                <a:solidFill>
                  <a:srgbClr val="22324A"/>
                </a:solidFill>
                <a:latin typeface="Calibri" pitchFamily="34" charset="0"/>
                <a:ea typeface="Calibri" pitchFamily="34" charset="-122"/>
                <a:cs typeface="Calibri" pitchFamily="34" charset="-120"/>
              </a:rPr>
              <a:t>Mengelompokkan pelanggan berdasarkan preferensi &amp; kebiasaan transaksi</a:t>
            </a:r>
            <a:endParaRPr lang="en-US" sz="1050" dirty="0"/>
          </a:p>
        </p:txBody>
      </p:sp>
      <p:sp>
        <p:nvSpPr>
          <p:cNvPr id="28" name="Text 21"/>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B7D"/>
                </a:solidFill>
              </a:rPr>
              <a:t>12</a:t>
            </a:r>
            <a:endParaRPr lang="en-US" sz="1000" dirty="0"/>
          </a:p>
        </p:txBody>
      </p:sp>
      <p:sp>
        <p:nvSpPr>
          <p:cNvPr id="29" name="Text 22"/>
          <p:cNvSpPr/>
          <p:nvPr/>
        </p:nvSpPr>
        <p:spPr>
          <a:xfrm>
            <a:off x="457200" y="6446520"/>
            <a:ext cx="3657600" cy="274320"/>
          </a:xfrm>
          <a:prstGeom prst="rect">
            <a:avLst/>
          </a:prstGeom>
          <a:noFill/>
          <a:ln/>
        </p:spPr>
        <p:txBody>
          <a:bodyPr wrap="square" rtlCol="0" anchor="ctr"/>
          <a:lstStyle/>
          <a:p>
            <a:pPr indent="0" marL="0">
              <a:buNone/>
            </a:pPr>
            <a:r>
              <a:rPr lang="en-US" sz="1000" dirty="0">
                <a:solidFill>
                  <a:srgbClr val="5B6B7D"/>
                </a:solidFill>
              </a:rPr>
              <a:t>Hierarchical Clustering</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305C"/>
        </a:solidFill>
      </p:bgPr>
    </p:bg>
    <p:spTree>
      <p:nvGrpSpPr>
        <p:cNvPr id="1" name=""/>
        <p:cNvGrpSpPr/>
        <p:nvPr/>
      </p:nvGrpSpPr>
      <p:grpSpPr>
        <a:xfrm>
          <a:off x="0" y="0"/>
          <a:ext cx="0" cy="0"/>
          <a:chOff x="0" y="0"/>
          <a:chExt cx="0" cy="0"/>
        </a:xfrm>
      </p:grpSpPr>
      <p:sp>
        <p:nvSpPr>
          <p:cNvPr id="2" name="Shape 0"/>
          <p:cNvSpPr/>
          <p:nvPr/>
        </p:nvSpPr>
        <p:spPr>
          <a:xfrm>
            <a:off x="9445752" y="-1371600"/>
            <a:ext cx="4114800" cy="4114800"/>
          </a:xfrm>
          <a:prstGeom prst="ellipse">
            <a:avLst/>
          </a:prstGeom>
          <a:solidFill>
            <a:srgbClr val="2E6FCC">
              <a:alpha val="20000"/>
            </a:srgbClr>
          </a:solidFill>
          <a:ln/>
        </p:spPr>
      </p:sp>
      <p:sp>
        <p:nvSpPr>
          <p:cNvPr id="3" name="Text 1"/>
          <p:cNvSpPr/>
          <p:nvPr/>
        </p:nvSpPr>
        <p:spPr>
          <a:xfrm>
            <a:off x="548640" y="457200"/>
            <a:ext cx="9144000" cy="64008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Kesimpulan</a:t>
            </a:r>
            <a:endParaRPr lang="en-US" sz="3200" dirty="0"/>
          </a:p>
        </p:txBody>
      </p:sp>
      <p:sp>
        <p:nvSpPr>
          <p:cNvPr id="4" name="Text 2"/>
          <p:cNvSpPr/>
          <p:nvPr/>
        </p:nvSpPr>
        <p:spPr>
          <a:xfrm>
            <a:off x="548640" y="1463040"/>
            <a:ext cx="10607040" cy="4754880"/>
          </a:xfrm>
          <a:prstGeom prst="rect">
            <a:avLst/>
          </a:prstGeom>
          <a:noFill/>
          <a:ln/>
        </p:spPr>
        <p:txBody>
          <a:bodyPr wrap="square" rtlCol="0" anchor="ctr"/>
          <a:lstStyle/>
          <a:p>
            <a:pPr indent="0" marL="0">
              <a:buNone/>
            </a:pPr>
            <a:r>
              <a:rPr lang="en-US" sz="1600" b="1" dirty="0">
                <a:solidFill>
                  <a:srgbClr val="9CC0F5"/>
                </a:solidFill>
                <a:latin typeface="Calibri" pitchFamily="34" charset="0"/>
                <a:ea typeface="Calibri" pitchFamily="34" charset="-122"/>
                <a:cs typeface="Calibri" pitchFamily="34" charset="-120"/>
              </a:rPr>
              <a:t>Ringkasan Materi</a:t>
            </a:r>
            <a:endParaRPr lang="en-US" sz="1600" dirty="0"/>
          </a:p>
          <a:p>
            <a:pPr marL="342900" indent="-342900">
              <a:spcAft>
                <a:spcPts val="1400"/>
              </a:spcAft>
              <a:buSzPct val="100000"/>
              <a:buChar char="•"/>
            </a:pPr>
            <a:r>
              <a:rPr lang="en-US" sz="1350" dirty="0">
                <a:solidFill>
                  <a:srgbClr val="E6EEFA"/>
                </a:solidFill>
                <a:latin typeface="Calibri" pitchFamily="34" charset="0"/>
                <a:ea typeface="Calibri" pitchFamily="34" charset="-122"/>
                <a:cs typeface="Calibri" pitchFamily="34" charset="-120"/>
              </a:rPr>
              <a:t>Hierarchical Clustering mengelompokkan data secara bertingkat tanpa perlu menentukan jumlah cluster di awal, direpresentasikan melalui dendrogram.</a:t>
            </a:r>
            <a:endParaRPr lang="en-US" sz="1600" dirty="0"/>
          </a:p>
          <a:p>
            <a:pPr indent="0" marL="0">
              <a:buNone/>
            </a:pPr>
            <a:r>
              <a:rPr lang="en-US" sz="1600" b="1" dirty="0">
                <a:solidFill>
                  <a:srgbClr val="9CC0F5"/>
                </a:solidFill>
                <a:latin typeface="Calibri" pitchFamily="34" charset="0"/>
                <a:ea typeface="Calibri" pitchFamily="34" charset="-122"/>
                <a:cs typeface="Calibri" pitchFamily="34" charset="-120"/>
              </a:rPr>
              <a:t>Manfaat</a:t>
            </a:r>
            <a:endParaRPr lang="en-US" sz="1600" dirty="0"/>
          </a:p>
          <a:p>
            <a:pPr marL="342900" indent="-342900">
              <a:spcAft>
                <a:spcPts val="1400"/>
              </a:spcAft>
              <a:buSzPct val="100000"/>
              <a:buChar char="•"/>
            </a:pPr>
            <a:r>
              <a:rPr lang="en-US" sz="1350" dirty="0">
                <a:solidFill>
                  <a:srgbClr val="E6EEFA"/>
                </a:solidFill>
                <a:latin typeface="Calibri" pitchFamily="34" charset="0"/>
                <a:ea typeface="Calibri" pitchFamily="34" charset="-122"/>
                <a:cs typeface="Calibri" pitchFamily="34" charset="-120"/>
              </a:rPr>
              <a:t>Membantu memahami struktur &amp; pola tersembunyi dalam data secara objektif dan transparan.</a:t>
            </a:r>
            <a:endParaRPr lang="en-US" sz="1600" dirty="0"/>
          </a:p>
          <a:p>
            <a:pPr indent="0" marL="0">
              <a:buNone/>
            </a:pPr>
            <a:r>
              <a:rPr lang="en-US" sz="1600" b="1" dirty="0">
                <a:solidFill>
                  <a:srgbClr val="9CC0F5"/>
                </a:solidFill>
                <a:latin typeface="Calibri" pitchFamily="34" charset="0"/>
                <a:ea typeface="Calibri" pitchFamily="34" charset="-122"/>
                <a:cs typeface="Calibri" pitchFamily="34" charset="-120"/>
              </a:rPr>
              <a:t>Saran Penggunaan</a:t>
            </a:r>
            <a:endParaRPr lang="en-US" sz="1600" dirty="0"/>
          </a:p>
          <a:p>
            <a:pPr marL="342900" indent="-342900">
              <a:buSzPct val="100000"/>
              <a:buChar char="•"/>
            </a:pPr>
            <a:r>
              <a:rPr lang="en-US" sz="1350" dirty="0">
                <a:solidFill>
                  <a:srgbClr val="E6EEFA"/>
                </a:solidFill>
                <a:latin typeface="Calibri" pitchFamily="34" charset="0"/>
                <a:ea typeface="Calibri" pitchFamily="34" charset="-122"/>
                <a:cs typeface="Calibri" pitchFamily="34" charset="-120"/>
              </a:rPr>
              <a:t>Gunakan pada dataset berukuran kecil-menengah, lakukan standardisasi data, dan pilih metode linkage sesuai karakteristik data.</a:t>
            </a:r>
            <a:endParaRPr lang="en-US" sz="1600" dirty="0"/>
          </a:p>
        </p:txBody>
      </p:sp>
      <p:sp>
        <p:nvSpPr>
          <p:cNvPr id="5" name="Text 3"/>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B7D"/>
                </a:solidFill>
              </a:rPr>
              <a:t>13</a:t>
            </a:r>
            <a:endParaRPr lang="en-US" sz="1000" dirty="0"/>
          </a:p>
        </p:txBody>
      </p:sp>
      <p:sp>
        <p:nvSpPr>
          <p:cNvPr id="6" name="Text 4"/>
          <p:cNvSpPr/>
          <p:nvPr/>
        </p:nvSpPr>
        <p:spPr>
          <a:xfrm>
            <a:off x="457200" y="6446520"/>
            <a:ext cx="3657600" cy="274320"/>
          </a:xfrm>
          <a:prstGeom prst="rect">
            <a:avLst/>
          </a:prstGeom>
          <a:noFill/>
          <a:ln/>
        </p:spPr>
        <p:txBody>
          <a:bodyPr wrap="square" rtlCol="0" anchor="ctr"/>
          <a:lstStyle/>
          <a:p>
            <a:pPr indent="0" marL="0">
              <a:buNone/>
            </a:pPr>
            <a:r>
              <a:rPr lang="en-US" sz="1000" dirty="0">
                <a:solidFill>
                  <a:srgbClr val="5B6B7D"/>
                </a:solidFill>
              </a:rPr>
              <a:t>Hierarchical Clustering</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rtlCol="0" anchor="ctr"/>
          <a:lstStyle/>
          <a:p>
            <a:pPr indent="0" marL="0">
              <a:buNone/>
            </a:pPr>
            <a:r>
              <a:rPr lang="en-US" sz="3200" b="1" dirty="0">
                <a:solidFill>
                  <a:srgbClr val="16305C"/>
                </a:solidFill>
                <a:latin typeface="Calibri" pitchFamily="34" charset="0"/>
                <a:ea typeface="Calibri" pitchFamily="34" charset="-122"/>
                <a:cs typeface="Calibri" pitchFamily="34" charset="-120"/>
              </a:rPr>
              <a:t>Daftar Pustaka</a:t>
            </a:r>
            <a:endParaRPr lang="en-US" sz="3200" dirty="0"/>
          </a:p>
        </p:txBody>
      </p:sp>
      <p:pic>
        <p:nvPicPr>
          <p:cNvPr id="3" name="Image 0" descr="preencoded.png"/>
          <p:cNvPicPr>
            <a:picLocks noChangeAspect="1"/>
          </p:cNvPicPr>
          <p:nvPr/>
        </p:nvPicPr>
        <p:blipFill>
          <a:blip r:embed="rId1"/>
          <a:stretch>
            <a:fillRect/>
          </a:stretch>
        </p:blipFill>
        <p:spPr>
          <a:xfrm>
            <a:off x="10725912" y="457200"/>
            <a:ext cx="731520" cy="731520"/>
          </a:xfrm>
          <a:prstGeom prst="rect">
            <a:avLst/>
          </a:prstGeom>
        </p:spPr>
      </p:pic>
      <p:sp>
        <p:nvSpPr>
          <p:cNvPr id="4" name="Shape 1"/>
          <p:cNvSpPr/>
          <p:nvPr/>
        </p:nvSpPr>
        <p:spPr>
          <a:xfrm>
            <a:off x="548640" y="1719072"/>
            <a:ext cx="91440" cy="91440"/>
          </a:xfrm>
          <a:prstGeom prst="ellipse">
            <a:avLst/>
          </a:prstGeom>
          <a:solidFill>
            <a:srgbClr val="2E6FCC"/>
          </a:solidFill>
          <a:ln/>
        </p:spPr>
      </p:sp>
      <p:sp>
        <p:nvSpPr>
          <p:cNvPr id="5" name="Text 2"/>
          <p:cNvSpPr/>
          <p:nvPr/>
        </p:nvSpPr>
        <p:spPr>
          <a:xfrm>
            <a:off x="822960" y="1645920"/>
            <a:ext cx="10515600" cy="685800"/>
          </a:xfrm>
          <a:prstGeom prst="rect">
            <a:avLst/>
          </a:prstGeom>
          <a:noFill/>
          <a:ln/>
        </p:spPr>
        <p:txBody>
          <a:bodyPr wrap="square" rtlCol="0" anchor="t"/>
          <a:lstStyle/>
          <a:p>
            <a:pPr indent="0" marL="0">
              <a:buNone/>
            </a:pPr>
            <a:r>
              <a:rPr lang="en-US" sz="1200" dirty="0">
                <a:solidFill>
                  <a:srgbClr val="22324A"/>
                </a:solidFill>
                <a:latin typeface="Calibri" pitchFamily="34" charset="0"/>
                <a:ea typeface="Calibri" pitchFamily="34" charset="-122"/>
                <a:cs typeface="Calibri" pitchFamily="34" charset="-120"/>
              </a:rPr>
              <a:t>Mukhtar, M., et al. (2024). Hierarchical Clustering Algorithm-Dendogram Using Euclidean and Manhattan Distance. Teknika: Jurnal Sains dan Teknologi, 20(1), 98–104.</a:t>
            </a:r>
            <a:endParaRPr lang="en-US" sz="1200" dirty="0"/>
          </a:p>
        </p:txBody>
      </p:sp>
      <p:sp>
        <p:nvSpPr>
          <p:cNvPr id="6" name="Shape 3"/>
          <p:cNvSpPr/>
          <p:nvPr/>
        </p:nvSpPr>
        <p:spPr>
          <a:xfrm>
            <a:off x="548640" y="2468880"/>
            <a:ext cx="91440" cy="91440"/>
          </a:xfrm>
          <a:prstGeom prst="ellipse">
            <a:avLst/>
          </a:prstGeom>
          <a:solidFill>
            <a:srgbClr val="2E6FCC"/>
          </a:solidFill>
          <a:ln/>
        </p:spPr>
      </p:sp>
      <p:sp>
        <p:nvSpPr>
          <p:cNvPr id="7" name="Text 4"/>
          <p:cNvSpPr/>
          <p:nvPr/>
        </p:nvSpPr>
        <p:spPr>
          <a:xfrm>
            <a:off x="822960" y="2395728"/>
            <a:ext cx="10515600" cy="685800"/>
          </a:xfrm>
          <a:prstGeom prst="rect">
            <a:avLst/>
          </a:prstGeom>
          <a:noFill/>
          <a:ln/>
        </p:spPr>
        <p:txBody>
          <a:bodyPr wrap="square" rtlCol="0" anchor="t"/>
          <a:lstStyle/>
          <a:p>
            <a:pPr indent="0" marL="0">
              <a:buNone/>
            </a:pPr>
            <a:r>
              <a:rPr lang="en-US" sz="1200" dirty="0">
                <a:solidFill>
                  <a:srgbClr val="22324A"/>
                </a:solidFill>
                <a:latin typeface="Calibri" pitchFamily="34" charset="0"/>
                <a:ea typeface="Calibri" pitchFamily="34" charset="-122"/>
                <a:cs typeface="Calibri" pitchFamily="34" charset="-120"/>
              </a:rPr>
              <a:t>Alamtaha, Z., Djakaria, I., &amp; Yahya, N. I. (2023). Implementasi Algoritma Hierarchical Clustering dan Non-Hierarchical Clustering untuk Pengelompokkan Pengguna Media Sosial. ESTIMASI: Journal of Statistics and Its Application, 4(1), 33–34.</a:t>
            </a:r>
            <a:endParaRPr lang="en-US" sz="1200" dirty="0"/>
          </a:p>
        </p:txBody>
      </p:sp>
      <p:sp>
        <p:nvSpPr>
          <p:cNvPr id="8" name="Shape 5"/>
          <p:cNvSpPr/>
          <p:nvPr/>
        </p:nvSpPr>
        <p:spPr>
          <a:xfrm>
            <a:off x="548640" y="3218688"/>
            <a:ext cx="91440" cy="91440"/>
          </a:xfrm>
          <a:prstGeom prst="ellipse">
            <a:avLst/>
          </a:prstGeom>
          <a:solidFill>
            <a:srgbClr val="2E6FCC"/>
          </a:solidFill>
          <a:ln/>
        </p:spPr>
      </p:sp>
      <p:sp>
        <p:nvSpPr>
          <p:cNvPr id="9" name="Text 6"/>
          <p:cNvSpPr/>
          <p:nvPr/>
        </p:nvSpPr>
        <p:spPr>
          <a:xfrm>
            <a:off x="822960" y="3145536"/>
            <a:ext cx="10515600" cy="685800"/>
          </a:xfrm>
          <a:prstGeom prst="rect">
            <a:avLst/>
          </a:prstGeom>
          <a:noFill/>
          <a:ln/>
        </p:spPr>
        <p:txBody>
          <a:bodyPr wrap="square" rtlCol="0" anchor="t"/>
          <a:lstStyle/>
          <a:p>
            <a:pPr indent="0" marL="0">
              <a:buNone/>
            </a:pPr>
            <a:r>
              <a:rPr lang="en-US" sz="1200" dirty="0">
                <a:solidFill>
                  <a:srgbClr val="22324A"/>
                </a:solidFill>
                <a:latin typeface="Calibri" pitchFamily="34" charset="0"/>
                <a:ea typeface="Calibri" pitchFamily="34" charset="-122"/>
                <a:cs typeface="Calibri" pitchFamily="34" charset="-120"/>
              </a:rPr>
              <a:t>Wardani, S. D. K., et al. (2023). Perbandingan Hasil Metode Clustering K-Means, DB Scanner &amp; Hierarchical untuk Analisa Segmentasi Pasar. JIKO, 7(2).</a:t>
            </a:r>
            <a:endParaRPr lang="en-US" sz="1200" dirty="0"/>
          </a:p>
        </p:txBody>
      </p:sp>
      <p:sp>
        <p:nvSpPr>
          <p:cNvPr id="10" name="Shape 7"/>
          <p:cNvSpPr/>
          <p:nvPr/>
        </p:nvSpPr>
        <p:spPr>
          <a:xfrm>
            <a:off x="548640" y="3968496"/>
            <a:ext cx="91440" cy="91440"/>
          </a:xfrm>
          <a:prstGeom prst="ellipse">
            <a:avLst/>
          </a:prstGeom>
          <a:solidFill>
            <a:srgbClr val="2E6FCC"/>
          </a:solidFill>
          <a:ln/>
        </p:spPr>
      </p:sp>
      <p:sp>
        <p:nvSpPr>
          <p:cNvPr id="11" name="Text 8"/>
          <p:cNvSpPr/>
          <p:nvPr/>
        </p:nvSpPr>
        <p:spPr>
          <a:xfrm>
            <a:off x="822960" y="3895344"/>
            <a:ext cx="10515600" cy="685800"/>
          </a:xfrm>
          <a:prstGeom prst="rect">
            <a:avLst/>
          </a:prstGeom>
          <a:noFill/>
          <a:ln/>
        </p:spPr>
        <p:txBody>
          <a:bodyPr wrap="square" rtlCol="0" anchor="t"/>
          <a:lstStyle/>
          <a:p>
            <a:pPr indent="0" marL="0">
              <a:buNone/>
            </a:pPr>
            <a:r>
              <a:rPr lang="en-US" sz="1200" dirty="0">
                <a:solidFill>
                  <a:srgbClr val="22324A"/>
                </a:solidFill>
                <a:latin typeface="Calibri" pitchFamily="34" charset="0"/>
                <a:ea typeface="Calibri" pitchFamily="34" charset="-122"/>
                <a:cs typeface="Calibri" pitchFamily="34" charset="-120"/>
              </a:rPr>
              <a:t>Pedregosa, F., et al. (2011). Scikit-learn: Machine Learning in Python. Journal of Machine Learning Research, 12, 2825–2830.</a:t>
            </a:r>
            <a:endParaRPr lang="en-US" sz="1200" dirty="0"/>
          </a:p>
        </p:txBody>
      </p:sp>
      <p:sp>
        <p:nvSpPr>
          <p:cNvPr id="12" name="Shape 9"/>
          <p:cNvSpPr/>
          <p:nvPr/>
        </p:nvSpPr>
        <p:spPr>
          <a:xfrm>
            <a:off x="548640" y="4718304"/>
            <a:ext cx="91440" cy="91440"/>
          </a:xfrm>
          <a:prstGeom prst="ellipse">
            <a:avLst/>
          </a:prstGeom>
          <a:solidFill>
            <a:srgbClr val="2E6FCC"/>
          </a:solidFill>
          <a:ln/>
        </p:spPr>
      </p:sp>
      <p:sp>
        <p:nvSpPr>
          <p:cNvPr id="13" name="Text 10"/>
          <p:cNvSpPr/>
          <p:nvPr/>
        </p:nvSpPr>
        <p:spPr>
          <a:xfrm>
            <a:off x="822960" y="4645152"/>
            <a:ext cx="10515600" cy="685800"/>
          </a:xfrm>
          <a:prstGeom prst="rect">
            <a:avLst/>
          </a:prstGeom>
          <a:noFill/>
          <a:ln/>
        </p:spPr>
        <p:txBody>
          <a:bodyPr wrap="square" rtlCol="0" anchor="t"/>
          <a:lstStyle/>
          <a:p>
            <a:pPr indent="0" marL="0">
              <a:buNone/>
            </a:pPr>
            <a:r>
              <a:rPr lang="en-US" sz="1200" dirty="0">
                <a:solidFill>
                  <a:srgbClr val="22324A"/>
                </a:solidFill>
                <a:latin typeface="Calibri" pitchFamily="34" charset="0"/>
                <a:ea typeface="Calibri" pitchFamily="34" charset="-122"/>
                <a:cs typeface="Calibri" pitchFamily="34" charset="-120"/>
              </a:rPr>
              <a:t>Scikit-learn Documentation. Hierarchical Clustering. Diakses 2025, dari scikit-learn.org</a:t>
            </a:r>
            <a:endParaRPr lang="en-US" sz="1200" dirty="0"/>
          </a:p>
        </p:txBody>
      </p:sp>
      <p:sp>
        <p:nvSpPr>
          <p:cNvPr id="14" name="Shape 11"/>
          <p:cNvSpPr/>
          <p:nvPr/>
        </p:nvSpPr>
        <p:spPr>
          <a:xfrm>
            <a:off x="548640" y="5468112"/>
            <a:ext cx="91440" cy="91440"/>
          </a:xfrm>
          <a:prstGeom prst="ellipse">
            <a:avLst/>
          </a:prstGeom>
          <a:solidFill>
            <a:srgbClr val="2E6FCC"/>
          </a:solidFill>
          <a:ln/>
        </p:spPr>
      </p:sp>
      <p:sp>
        <p:nvSpPr>
          <p:cNvPr id="15" name="Text 12"/>
          <p:cNvSpPr/>
          <p:nvPr/>
        </p:nvSpPr>
        <p:spPr>
          <a:xfrm>
            <a:off x="822960" y="5394960"/>
            <a:ext cx="10515600" cy="685800"/>
          </a:xfrm>
          <a:prstGeom prst="rect">
            <a:avLst/>
          </a:prstGeom>
          <a:noFill/>
          <a:ln/>
        </p:spPr>
        <p:txBody>
          <a:bodyPr wrap="square" rtlCol="0" anchor="t"/>
          <a:lstStyle/>
          <a:p>
            <a:pPr indent="0" marL="0">
              <a:buNone/>
            </a:pPr>
            <a:r>
              <a:rPr lang="en-US" sz="1200" dirty="0">
                <a:solidFill>
                  <a:srgbClr val="22324A"/>
                </a:solidFill>
                <a:latin typeface="Calibri" pitchFamily="34" charset="0"/>
                <a:ea typeface="Calibri" pitchFamily="34" charset="-122"/>
                <a:cs typeface="Calibri" pitchFamily="34" charset="-120"/>
              </a:rPr>
              <a:t>SciPy Documentation. Hierarchical Clustering (scipy.cluster.hierarchy). Diakses 2025, dari docs.scipy.org</a:t>
            </a:r>
            <a:endParaRPr lang="en-US" sz="1200" dirty="0"/>
          </a:p>
        </p:txBody>
      </p:sp>
      <p:sp>
        <p:nvSpPr>
          <p:cNvPr id="16" name="Text 13"/>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5B6B7D"/>
                </a:solidFill>
              </a:rPr>
              <a:t>14</a:t>
            </a:r>
            <a:endParaRPr lang="en-US" sz="1000" dirty="0"/>
          </a:p>
        </p:txBody>
      </p:sp>
      <p:sp>
        <p:nvSpPr>
          <p:cNvPr id="17" name="Text 14"/>
          <p:cNvSpPr/>
          <p:nvPr/>
        </p:nvSpPr>
        <p:spPr>
          <a:xfrm>
            <a:off x="457200" y="6446520"/>
            <a:ext cx="3657600" cy="274320"/>
          </a:xfrm>
          <a:prstGeom prst="rect">
            <a:avLst/>
          </a:prstGeom>
          <a:noFill/>
          <a:ln/>
        </p:spPr>
        <p:txBody>
          <a:bodyPr wrap="square" rtlCol="0" anchor="ctr"/>
          <a:lstStyle/>
          <a:p>
            <a:pPr indent="0" marL="0">
              <a:buNone/>
            </a:pPr>
            <a:r>
              <a:rPr lang="en-US" sz="1000" dirty="0">
                <a:solidFill>
                  <a:srgbClr val="5B6B7D"/>
                </a:solidFill>
              </a:rPr>
              <a:t>Hierarchical Clustering</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305C"/>
        </a:solidFill>
      </p:bgPr>
    </p:bg>
    <p:spTree>
      <p:nvGrpSpPr>
        <p:cNvPr id="1" name=""/>
        <p:cNvGrpSpPr/>
        <p:nvPr/>
      </p:nvGrpSpPr>
      <p:grpSpPr>
        <a:xfrm>
          <a:off x="0" y="0"/>
          <a:ext cx="0" cy="0"/>
          <a:chOff x="0" y="0"/>
          <a:chExt cx="0" cy="0"/>
        </a:xfrm>
      </p:grpSpPr>
      <p:sp>
        <p:nvSpPr>
          <p:cNvPr id="2" name="Shape 0"/>
          <p:cNvSpPr/>
          <p:nvPr/>
        </p:nvSpPr>
        <p:spPr>
          <a:xfrm>
            <a:off x="-1371600" y="-1371600"/>
            <a:ext cx="4572000" cy="4572000"/>
          </a:xfrm>
          <a:prstGeom prst="ellipse">
            <a:avLst/>
          </a:prstGeom>
          <a:solidFill>
            <a:srgbClr val="2E6FCC">
              <a:alpha val="20000"/>
            </a:srgbClr>
          </a:solidFill>
          <a:ln/>
        </p:spPr>
      </p:sp>
      <p:sp>
        <p:nvSpPr>
          <p:cNvPr id="3" name="Shape 1"/>
          <p:cNvSpPr/>
          <p:nvPr/>
        </p:nvSpPr>
        <p:spPr>
          <a:xfrm>
            <a:off x="9445752" y="4114800"/>
            <a:ext cx="4114800" cy="4114800"/>
          </a:xfrm>
          <a:prstGeom prst="ellipse">
            <a:avLst/>
          </a:prstGeom>
          <a:solidFill>
            <a:srgbClr val="2E6FCC">
              <a:alpha val="18000"/>
            </a:srgbClr>
          </a:solidFill>
          <a:ln/>
        </p:spPr>
      </p:sp>
      <p:sp>
        <p:nvSpPr>
          <p:cNvPr id="4" name="Shape 2"/>
          <p:cNvSpPr/>
          <p:nvPr/>
        </p:nvSpPr>
        <p:spPr>
          <a:xfrm>
            <a:off x="5591556" y="2011680"/>
            <a:ext cx="1005840" cy="1005840"/>
          </a:xfrm>
          <a:prstGeom prst="ellipse">
            <a:avLst/>
          </a:prstGeom>
          <a:solidFill>
            <a:srgbClr val="1F4585"/>
          </a:solidFill>
          <a:ln/>
        </p:spPr>
      </p:sp>
      <p:pic>
        <p:nvPicPr>
          <p:cNvPr id="5" name="Image 0" descr="preencoded.png"/>
          <p:cNvPicPr>
            <a:picLocks noChangeAspect="1"/>
          </p:cNvPicPr>
          <p:nvPr/>
        </p:nvPicPr>
        <p:blipFill>
          <a:blip r:embed="rId1"/>
          <a:stretch>
            <a:fillRect/>
          </a:stretch>
        </p:blipFill>
        <p:spPr>
          <a:xfrm>
            <a:off x="5722315" y="2142439"/>
            <a:ext cx="744322" cy="744322"/>
          </a:xfrm>
          <a:prstGeom prst="rect">
            <a:avLst/>
          </a:prstGeom>
        </p:spPr>
      </p:pic>
      <p:sp>
        <p:nvSpPr>
          <p:cNvPr id="6" name="Text 3"/>
          <p:cNvSpPr/>
          <p:nvPr/>
        </p:nvSpPr>
        <p:spPr>
          <a:xfrm>
            <a:off x="0" y="3291840"/>
            <a:ext cx="12188952" cy="731520"/>
          </a:xfrm>
          <a:prstGeom prst="rect">
            <a:avLst/>
          </a:prstGeom>
          <a:noFill/>
          <a:ln/>
        </p:spPr>
        <p:txBody>
          <a:bodyPr wrap="square"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Terima Kasih</a:t>
            </a:r>
            <a:endParaRPr lang="en-US" sz="3400" dirty="0"/>
          </a:p>
        </p:txBody>
      </p:sp>
      <p:sp>
        <p:nvSpPr>
          <p:cNvPr id="7" name="Text 4"/>
          <p:cNvSpPr/>
          <p:nvPr/>
        </p:nvSpPr>
        <p:spPr>
          <a:xfrm>
            <a:off x="0" y="4023360"/>
            <a:ext cx="12188952" cy="457200"/>
          </a:xfrm>
          <a:prstGeom prst="rect">
            <a:avLst/>
          </a:prstGeom>
          <a:noFill/>
          <a:ln/>
        </p:spPr>
        <p:txBody>
          <a:bodyPr wrap="square" rtlCol="0" anchor="ctr"/>
          <a:lstStyle/>
          <a:p>
            <a:pPr algn="ctr" indent="0" marL="0">
              <a:buNone/>
            </a:pPr>
            <a:r>
              <a:rPr lang="en-US" sz="1400" dirty="0">
                <a:solidFill>
                  <a:srgbClr val="BFD3F2"/>
                </a:solidFill>
                <a:latin typeface="Calibri" pitchFamily="34" charset="0"/>
                <a:ea typeface="Calibri" pitchFamily="34" charset="-122"/>
                <a:cs typeface="Calibri" pitchFamily="34" charset="-120"/>
              </a:rPr>
              <a:t>Muhamad Fikriansyah — 24260028 — Teknik Informatika — UNUSIA</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Hierarchical Clustering (Metode Clustering Bertingkat)</dc:title>
  <dc:subject>PptxGenJS Presentation</dc:subject>
  <dc:creator>Muhamad Fikriansyah</dc:creator>
  <cp:lastModifiedBy>Muhamad Fikriansyah</cp:lastModifiedBy>
  <cp:revision>1</cp:revision>
  <dcterms:created xsi:type="dcterms:W3CDTF">2026-07-08T11:00:15Z</dcterms:created>
  <dcterms:modified xsi:type="dcterms:W3CDTF">2026-07-08T11:00:15Z</dcterms:modified>
</cp:coreProperties>
</file>